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_rels/notesSlide26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22.xml.rels" ContentType="application/vnd.openxmlformats-package.relationships+xml"/>
  <Override PartName="/ppt/notesSlides/notesSlide3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2.xml" ContentType="application/vnd.openxmlformats-officedocument.presentationml.notesSlide+xml"/>
  <Override PartName="/ppt/_rels/presentation.xml.rels" ContentType="application/vnd.openxmlformats-package.relationships+xml"/>
  <Override PartName="/ppt/media/image56.png" ContentType="image/png"/>
  <Override PartName="/ppt/media/image55.png" ContentType="image/png"/>
  <Override PartName="/ppt/media/image53.png" ContentType="image/png"/>
  <Override PartName="/ppt/media/image52.png" ContentType="image/png"/>
  <Override PartName="/ppt/media/image51.png" ContentType="image/png"/>
  <Override PartName="/ppt/media/image50.png" ContentType="image/png"/>
  <Override PartName="/ppt/media/image46.png" ContentType="image/png"/>
  <Override PartName="/ppt/media/image45.png" ContentType="image/png"/>
  <Override PartName="/ppt/media/image44.png" ContentType="image/png"/>
  <Override PartName="/ppt/media/image43.png" ContentType="image/png"/>
  <Override PartName="/ppt/media/image42.png" ContentType="image/png"/>
  <Override PartName="/ppt/media/image41.png" ContentType="image/png"/>
  <Override PartName="/ppt/media/image40.png" ContentType="image/png"/>
  <Override PartName="/ppt/media/image30.png" ContentType="image/png"/>
  <Override PartName="/ppt/media/image54.jpeg" ContentType="image/jpeg"/>
  <Override PartName="/ppt/media/image33.png" ContentType="image/png"/>
  <Override PartName="/ppt/media/image13.png" ContentType="image/png"/>
  <Override PartName="/ppt/media/image1.png" ContentType="image/png"/>
  <Override PartName="/ppt/media/image9.png" ContentType="image/png"/>
  <Override PartName="/ppt/media/image86.png" ContentType="image/png"/>
  <Override PartName="/ppt/media/image49.png" ContentType="image/png"/>
  <Override PartName="/ppt/media/image12.png" ContentType="image/png"/>
  <Override PartName="/ppt/media/image37.png" ContentType="image/png"/>
  <Override PartName="/ppt/media/image7.png" ContentType="image/png"/>
  <Override PartName="/ppt/media/image19.png" ContentType="image/png"/>
  <Override PartName="/ppt/media/image84.png" ContentType="image/png"/>
  <Override PartName="/ppt/media/image48.png" ContentType="image/png"/>
  <Override PartName="/ppt/media/image11.png" ContentType="image/png"/>
  <Override PartName="/ppt/media/image36.png" ContentType="image/png"/>
  <Override PartName="/ppt/media/image6.png" ContentType="image/png"/>
  <Override PartName="/ppt/media/image18.png" ContentType="image/png"/>
  <Override PartName="/ppt/media/image83.png" ContentType="image/png"/>
  <Override PartName="/ppt/media/image29.png" ContentType="image/png"/>
  <Override PartName="/ppt/media/image20.png" ContentType="image/png"/>
  <Override PartName="/ppt/media/image57.png" ContentType="image/png"/>
  <Override PartName="/ppt/media/image21.png" ContentType="image/png"/>
  <Override PartName="/ppt/media/image58.png" ContentType="image/png"/>
  <Override PartName="/ppt/media/image22.png" ContentType="image/png"/>
  <Override PartName="/ppt/media/image59.png" ContentType="image/png"/>
  <Override PartName="/ppt/media/image23.png" ContentType="image/png"/>
  <Override PartName="/ppt/media/image60.png" ContentType="image/png"/>
  <Override PartName="/ppt/media/image61.png" ContentType="image/png"/>
  <Override PartName="/ppt/media/image62.png" ContentType="image/png"/>
  <Override PartName="/ppt/media/image63.png" ContentType="image/png"/>
  <Override PartName="/ppt/media/image64.png" ContentType="image/png"/>
  <Override PartName="/ppt/media/image65.png" ContentType="image/png"/>
  <Override PartName="/ppt/media/image66.png" ContentType="image/png"/>
  <Override PartName="/ppt/media/image67.png" ContentType="image/png"/>
  <Override PartName="/ppt/media/image89.png" ContentType="image/png"/>
  <Override PartName="/ppt/media/image77.png" ContentType="image/png"/>
  <Override PartName="/ppt/media/image88.png" ContentType="image/png"/>
  <Override PartName="/ppt/media/image76.png" ContentType="image/png"/>
  <Override PartName="/ppt/media/image87.png" ContentType="image/png"/>
  <Override PartName="/ppt/media/image75.png" ContentType="image/png"/>
  <Override PartName="/ppt/media/image85.png" ContentType="image/png"/>
  <Override PartName="/ppt/media/image73.png" ContentType="image/png"/>
  <Override PartName="/ppt/media/image79.png" ContentType="image/png"/>
  <Override PartName="/ppt/media/image78.png" ContentType="image/png"/>
  <Override PartName="/ppt/media/image74.png" ContentType="image/png"/>
  <Override PartName="/ppt/media/image69.png" ContentType="image/png"/>
  <Override PartName="/ppt/media/image32.png" ContentType="image/png"/>
  <Override PartName="/ppt/media/image71.png" ContentType="image/png"/>
  <Override PartName="/ppt/media/image68.png" ContentType="image/png"/>
  <Override PartName="/ppt/media/image31.png" ContentType="image/png"/>
  <Override PartName="/ppt/media/image70.png" ContentType="image/png"/>
  <Override PartName="/ppt/media/image28.png" ContentType="image/png"/>
  <Override PartName="/ppt/media/image24.png" ContentType="image/png"/>
  <Override PartName="/ppt/media/image90.png" ContentType="image/png"/>
  <Override PartName="/ppt/media/image25.png" ContentType="image/png"/>
  <Override PartName="/ppt/media/image2.png" ContentType="image/png"/>
  <Override PartName="/ppt/media/image14.png" ContentType="image/png"/>
  <Override PartName="/ppt/media/image80.png" ContentType="image/png"/>
  <Override PartName="/ppt/media/image15.png" ContentType="image/png"/>
  <Override PartName="/ppt/media/image3.png" ContentType="image/png"/>
  <Override PartName="/ppt/media/image92.png" ContentType="image/png"/>
  <Override PartName="/ppt/media/image27.png" ContentType="image/png"/>
  <Override PartName="/ppt/media/image81.png" ContentType="image/png"/>
  <Override PartName="/ppt/media/image16.png" ContentType="image/png"/>
  <Override PartName="/ppt/media/image4.png" ContentType="image/png"/>
  <Override PartName="/ppt/media/image34.png" ContentType="image/png"/>
  <Override PartName="/ppt/media/image38.jpeg" ContentType="image/jpeg"/>
  <Override PartName="/ppt/media/image72.png" ContentType="image/png"/>
  <Override PartName="/ppt/media/image8.jpeg" ContentType="image/jpeg"/>
  <Override PartName="/ppt/media/image91.png" ContentType="image/png"/>
  <Override PartName="/ppt/media/image26.png" ContentType="image/png"/>
  <Override PartName="/ppt/media/image39.jpeg" ContentType="image/jpeg"/>
  <Override PartName="/ppt/media/image82.png" ContentType="image/png"/>
  <Override PartName="/ppt/media/image17.png" ContentType="image/png"/>
  <Override PartName="/ppt/media/image5.png" ContentType="image/png"/>
  <Override PartName="/ppt/media/image35.png" ContentType="image/png"/>
  <Override PartName="/ppt/media/image10.png" ContentType="image/png"/>
  <Override PartName="/ppt/media/image47.png" ContentType="image/png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6.xml" ContentType="application/vnd.openxmlformats-officedocument.presentationml.slide+xml"/>
  <Override PartName="/ppt/slides/slide45.xml" ContentType="application/vnd.openxmlformats-officedocument.presentationml.slide+xml"/>
  <Override PartName="/ppt/slides/slide39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19.xml" ContentType="application/vnd.openxmlformats-officedocument.presentationml.slide+xml"/>
  <Override PartName="/ppt/slides/slide61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24.xml" ContentType="application/vnd.openxmlformats-officedocument.presentationml.slide+xml"/>
  <Override PartName="/ppt/slides/slide74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62.xml" ContentType="application/vnd.openxmlformats-officedocument.presentationml.slide+xml"/>
  <Override PartName="/ppt/slides/slide73.xml" ContentType="application/vnd.openxmlformats-officedocument.presentationml.slide+xml"/>
  <Override PartName="/ppt/slides/slide1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6.xml" ContentType="application/vnd.openxmlformats-officedocument.presentationml.slide+xml"/>
  <Override PartName="/ppt/slides/slide65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17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3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16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22.xml.rels" ContentType="application/vnd.openxmlformats-package.relationships+xml"/>
  <Override PartName="/ppt/slides/_rels/slide33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48.xml.rels" ContentType="application/vnd.openxmlformats-package.relationships+xml"/>
  <Override PartName="/ppt/slides/_rels/slide64.xml.rels" ContentType="application/vnd.openxmlformats-package.relationships+xml"/>
  <Override PartName="/ppt/slides/_rels/slide62.xml.rels" ContentType="application/vnd.openxmlformats-package.relationships+xml"/>
  <Override PartName="/ppt/slides/_rels/slide68.xml.rels" ContentType="application/vnd.openxmlformats-package.relationships+xml"/>
  <Override PartName="/ppt/slides/_rels/slide72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28.xml.rels" ContentType="application/vnd.openxmlformats-package.relationships+xml"/>
  <Override PartName="/ppt/slides/_rels/slide44.xml.rels" ContentType="application/vnd.openxmlformats-package.relationships+xml"/>
  <Override PartName="/ppt/slides/_rels/slide9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7.xml.rels" ContentType="application/vnd.openxmlformats-package.relationships+xml"/>
  <Override PartName="/ppt/slides/_rels/slide43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36.xml.rels" ContentType="application/vnd.openxmlformats-package.relationships+xml"/>
  <Override PartName="/ppt/slides/_rels/slide42.xml.rels" ContentType="application/vnd.openxmlformats-package.relationships+xml"/>
  <Override PartName="/ppt/slides/_rels/slide7.xml.rels" ContentType="application/vnd.openxmlformats-package.relationships+xml"/>
  <Override PartName="/ppt/slides/_rels/slide35.xml.rels" ContentType="application/vnd.openxmlformats-package.relationships+xml"/>
  <Override PartName="/ppt/slides/_rels/slide51.xml.rels" ContentType="application/vnd.openxmlformats-package.relationships+xml"/>
  <Override PartName="/ppt/slides/_rels/slide55.xml.rels" ContentType="application/vnd.openxmlformats-package.relationships+xml"/>
  <Override PartName="/ppt/slides/_rels/slide54.xml.rels" ContentType="application/vnd.openxmlformats-package.relationships+xml"/>
  <Override PartName="/ppt/slides/_rels/slide63.xml.rels" ContentType="application/vnd.openxmlformats-package.relationships+xml"/>
  <Override PartName="/ppt/slides/_rels/slide70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53.xml.rels" ContentType="application/vnd.openxmlformats-package.relationships+xml"/>
  <Override PartName="/ppt/slides/_rels/slide46.xml.rels" ContentType="application/vnd.openxmlformats-package.relationships+xml"/>
  <Override PartName="/ppt/slides/_rels/slide34.xml.rels" ContentType="application/vnd.openxmlformats-package.relationships+xml"/>
  <Override PartName="/ppt/slides/_rels/slide50.xml.rels" ContentType="application/vnd.openxmlformats-package.relationships+xml"/>
  <Override PartName="/ppt/slides/_rels/slide52.xml.rels" ContentType="application/vnd.openxmlformats-package.relationships+xml"/>
  <Override PartName="/ppt/slides/_rels/slide57.xml.rels" ContentType="application/vnd.openxmlformats-package.relationships+xml"/>
  <Override PartName="/ppt/slides/_rels/slide61.xml.rels" ContentType="application/vnd.openxmlformats-package.relationships+xml"/>
  <Override PartName="/ppt/slides/_rels/slide30.xml.rels" ContentType="application/vnd.openxmlformats-package.relationships+xml"/>
  <Override PartName="/ppt/slides/_rels/slide14.xml.rels" ContentType="application/vnd.openxmlformats-package.relationships+xml"/>
  <Override PartName="/ppt/slides/_rels/slide45.xml.rels" ContentType="application/vnd.openxmlformats-package.relationships+xml"/>
  <Override PartName="/ppt/slides/_rels/slide38.xml.rels" ContentType="application/vnd.openxmlformats-package.relationships+xml"/>
  <Override PartName="/ppt/slides/_rels/slide25.xml.rels" ContentType="application/vnd.openxmlformats-package.relationships+xml"/>
  <Override PartName="/ppt/slides/_rels/slide20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2.xml.rels" ContentType="application/vnd.openxmlformats-package.relationships+xml"/>
  <Override PartName="/ppt/slides/_rels/slide26.xml.rels" ContentType="application/vnd.openxmlformats-package.relationships+xml"/>
  <Override PartName="/ppt/slides/_rels/slide21.xml.rels" ContentType="application/vnd.openxmlformats-package.relationships+xml"/>
  <Override PartName="/ppt/slides/_rels/slide17.xml.rels" ContentType="application/vnd.openxmlformats-package.relationships+xml"/>
  <Override PartName="/ppt/slides/_rels/slide11.xml.rels" ContentType="application/vnd.openxmlformats-package.relationships+xml"/>
  <Override PartName="/ppt/slides/_rels/slide10.xml.rels" ContentType="application/vnd.openxmlformats-package.relationships+xml"/>
  <Override PartName="/ppt/slides/_rels/slide59.xml.rels" ContentType="application/vnd.openxmlformats-package.relationships+xml"/>
  <Override PartName="/ppt/slides/_rels/slide56.xml.rels" ContentType="application/vnd.openxmlformats-package.relationships+xml"/>
  <Override PartName="/ppt/slides/_rels/slide60.xml.rels" ContentType="application/vnd.openxmlformats-package.relationships+xml"/>
  <Override PartName="/ppt/slides/_rels/slide66.xml.rels" ContentType="application/vnd.openxmlformats-package.relationships+xml"/>
  <Override PartName="/ppt/slides/_rels/slide23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58.xml.rels" ContentType="application/vnd.openxmlformats-package.relationships+xml"/>
  <Override PartName="/ppt/slides/_rels/slide74.xml.rels" ContentType="application/vnd.openxmlformats-package.relationships+xml"/>
  <Override PartName="/ppt/slides/_rels/slide65.xml.rels" ContentType="application/vnd.openxmlformats-package.relationships+xml"/>
  <Override PartName="/ppt/slides/_rels/slide67.xml.rels" ContentType="application/vnd.openxmlformats-package.relationships+xml"/>
  <Override PartName="/ppt/slides/_rels/slide71.xml.rels" ContentType="application/vnd.openxmlformats-package.relationships+xml"/>
  <Override PartName="/ppt/slides/_rels/slide69.xml.rels" ContentType="application/vnd.openxmlformats-package.relationships+xml"/>
  <Override PartName="/ppt/slides/_rels/slide73.xml.rels" ContentType="application/vnd.openxmlformats-package.relationships+xml"/>
  <Override PartName="/ppt/slides/slide6.xml" ContentType="application/vnd.openxmlformats-officedocument.presentationml.slide+xml"/>
  <Override PartName="/ppt/slides/slide13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E27F8D89-AEFC-4811-B60D-79CAD6B7CC55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10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0C57BDC-6290-4251-971D-28D10E1E25C3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1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21A10EB-F759-42B3-BF5A-5C394782FBED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16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79B2AE3-8A35-4EBF-856A-CCA596EC3F84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1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39B40C-D75B-46A4-86B4-B97253B2141C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host </a:t>
            </a:r>
            <a:r>
              <a:rPr b="0" lang="en-US" sz="2000" spc="-1" strike="noStrike">
                <a:solidFill>
                  <a:srgbClr val="07242d"/>
                </a:solidFill>
                <a:latin typeface="Inter"/>
              </a:rPr>
              <a:t>(no isolation between host and containers on this network, to the outside world they are on the same network)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Inter"/>
              </a:rPr>
              <a:t>none</a:t>
            </a:r>
            <a:r>
              <a:rPr b="0" lang="en-US" sz="2000" spc="-1" strike="noStrike">
                <a:solidFill>
                  <a:srgbClr val="07242d"/>
                </a:solidFill>
                <a:latin typeface="Inter"/>
              </a:rPr>
              <a:t> (attached containers run on container-specific network stack)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2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05E71B-6733-4376-BDCB-F1A18E928F39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2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14FA4DD-7716-4039-A71C-350D55F5EEC2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2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2C99863-5609-4BB8-8EE4-3953CADB438C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3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52D20B-4488-4171-AEDB-0AD74B8194CD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34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D067E6-BACF-4CF0-A58C-E0329C1D79CF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37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88D6E9-6175-4DA4-B21B-490EAB16C84E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40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5E789A3-ECCA-4780-A570-00CAE0C4D4D6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43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0B4EBCF-1614-4131-9A6D-2F7DA97556C3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46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4C2AA4B-4524-4A67-866C-B01C48A3514F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create network for domain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49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40F1091-C7F3-4054-BB11-8B43AFFBC2BB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screenshot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52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4A5428-88DB-491D-BD57-742C0EBB531A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7F46893-868C-45EF-80F2-FA3F288F22D3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87249B6-FACB-42F6-8629-F857147A76FB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1C99AF4-E0B8-40EA-BB08-BF8C2D4006CA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05B6A34-851E-4C35-83C2-878733E0B232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opensans"/>
              </a:rPr>
              <a:t>router bgp [ASN] : Enable BGP daemon and set autonomous system number (ASN); this is supplied by your ISP.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bgp router-id [A.B.C.D] : Configure the router ID.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network [A.B.C.D/M] : Announce BGP on network: A.B.C.D/M, identifies the subnet to advertise.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neighbor [A.B.C.D|A:B:C:D:E:F:G:H] remote-as [ASN] : Set neighbor as a member of remote ASN.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neighbor [A.B.C.D|A:B:C:D:E:F:G:H] ebgp-multihop : Set neighbor on another network using EBGP multi-hop.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neighbor [A.B.C.D|A:B:C:D:E:F:G:H] timers connect [time] : Set the BGP connection timer, in seconds.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218F2E-2B0C-456D-8B7F-32C6B806ED77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opensans"/>
              </a:rPr>
              <a:t>router bgp [ASN] : Enable BGP daemon and set autonomous system number (ASN); this is supplied by your ISP.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bgp router-id [A.B.C.D] : Configure the router ID.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network [A.B.C.D/M] : Announce BGP on network: A.B.C.D/M, identifies the subnet to advertise.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neighbor [A.B.C.D|A:B:C:D:E:F:G:H] remote-as [ASN] : Set neighbor as a member of remote ASN.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neighbor [A.B.C.D|A:B:C:D:E:F:G:H] ebgp-multihop : Set neighbor on another network using EBGP multi-hop.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opensans"/>
              </a:rPr>
              <a:t>neighbor [A.B.C.D|A:B:C:D:E:F:G:H] timers connect [time] : Set the BGP connection timer, in seconds.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E44DB25-CC3A-4549-8CF8-571823640EA0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83B9FE1-D9E8-4EAC-A44D-5CD851F31ADD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870BFA-A31B-4847-9B55-CF5656BBCB96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EEF06D-556F-4C12-896E-81B7606B0CCA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1C91ED-51D4-4F8C-A7E6-BE84EFE10E1D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3AFAD68-BBD8-4D79-87A6-0A1F37C8C1B9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B667DC2-EC28-4280-8BDD-770F24D39F7F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99265A3-B04D-418D-BB38-B09859DE74EC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43924A9-DDFE-4D83-8E6B-502420E18492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08B100E-15C7-4B53-A9AA-6FE7A3B3A6CF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063F875-74D7-451B-94A7-ECC871FE20CA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C4E5E0A-0436-435A-82A2-1E147E9EC9C3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2620C65-C460-41B6-9C46-BF75224140D1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6A81BA6-7598-4C54-B5AA-B890E1D6D7B8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E75E745-3FED-4AC9-83EC-A1AAA1B25714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26E3CE7-4377-4608-BEA8-5A7EF44BDA4E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56066BE-D00D-4D1B-ADFC-40BEB1F4CF36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8A7281-1237-4E35-B9C7-DFB6B63F88AD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48E5B8-42E8-4ACC-A6BA-AB32492E9278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04B3A9-9976-4A49-A3F4-C52DA26C1481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478227-8100-4521-85C0-5C13B97883CB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D9D5A3-8D44-4BCC-96A4-A916163CEA13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9555E9-706D-4B9B-BEF6-C8FEF3B6C2A8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24DFBE-00F9-4F0B-8C25-BCFECCF2C543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93900B-6781-4399-B621-D833AD3BD2E5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02B612-5B52-460F-99A4-DD22F4B6F542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140C65-9CBD-4A38-B886-8D13419C9455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847C3C9-AF46-4956-85AC-1056434C253A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45903E-EA72-4539-A58F-916CB5BAC9A8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12191400" cy="261432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f7fdff"/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" name="手繪多邊形: 圖案 11"/>
          <p:cNvSpPr/>
          <p:nvPr/>
        </p:nvSpPr>
        <p:spPr>
          <a:xfrm>
            <a:off x="415080" y="2384640"/>
            <a:ext cx="11694240" cy="229680"/>
          </a:xfrm>
          <a:custGeom>
            <a:avLst/>
            <a:gdLst/>
            <a:ahLst/>
            <a:rect l="l" t="t" r="r" b="b"/>
            <a:pathLst>
              <a:path w="11694870" h="230331">
                <a:moveTo>
                  <a:pt x="0" y="0"/>
                </a:moveTo>
                <a:lnTo>
                  <a:pt x="5783303" y="0"/>
                </a:lnTo>
                <a:cubicBezTo>
                  <a:pt x="9048171" y="0"/>
                  <a:pt x="11694870" y="103123"/>
                  <a:pt x="11694870" y="230331"/>
                </a:cubicBezTo>
                <a:lnTo>
                  <a:pt x="5783303" y="230331"/>
                </a:lnTo>
                <a:lnTo>
                  <a:pt x="0" y="230331"/>
                </a:lnTo>
                <a:close/>
              </a:path>
            </a:pathLst>
          </a:custGeom>
          <a:gradFill rotWithShape="0">
            <a:gsLst>
              <a:gs pos="0">
                <a:srgbClr val="9fe6ff"/>
              </a:gs>
              <a:gs pos="100000">
                <a:srgbClr val="ddf6ff"/>
              </a:gs>
            </a:gsLst>
            <a:lin ang="27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" name="矩形 8"/>
          <p:cNvSpPr/>
          <p:nvPr/>
        </p:nvSpPr>
        <p:spPr>
          <a:xfrm>
            <a:off x="0" y="6453360"/>
            <a:ext cx="12191400" cy="403920"/>
          </a:xfrm>
          <a:prstGeom prst="rect">
            <a:avLst/>
          </a:prstGeom>
          <a:gradFill rotWithShape="0">
            <a:gsLst>
              <a:gs pos="2000">
                <a:srgbClr val="c1efff"/>
              </a:gs>
              <a:gs pos="100000">
                <a:srgbClr val="7fcbf9"/>
              </a:gs>
            </a:gsLst>
            <a:lin ang="135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文字方塊 21"/>
          <p:cNvSpPr/>
          <p:nvPr/>
        </p:nvSpPr>
        <p:spPr>
          <a:xfrm>
            <a:off x="235440" y="6453360"/>
            <a:ext cx="13244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標楷體"/>
              </a:rPr>
              <a:t>NYCU CS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4" name="圖片 10" descr=""/>
          <p:cNvPicPr/>
          <p:nvPr/>
        </p:nvPicPr>
        <p:blipFill>
          <a:blip r:embed="rId2"/>
          <a:stretch/>
        </p:blipFill>
        <p:spPr>
          <a:xfrm>
            <a:off x="239400" y="138240"/>
            <a:ext cx="1564560" cy="2056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sldNum" idx="1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ffffff"/>
                </a:solidFill>
                <a:latin typeface="Calibri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B7ACBEB-E91A-4AF6-BB95-5AE6576F2902}" type="slidenum">
              <a:rPr b="1" lang="en-US" sz="1200" spc="-1" strike="noStrike">
                <a:solidFill>
                  <a:srgbClr val="ffffff"/>
                </a:solidFill>
                <a:latin typeface="Calibri"/>
                <a:ea typeface="新細明體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50000">
              <a:srgbClr val="ffffff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手繪多邊形: 圖案 10"/>
          <p:cNvSpPr/>
          <p:nvPr/>
        </p:nvSpPr>
        <p:spPr>
          <a:xfrm>
            <a:off x="695520" y="908640"/>
            <a:ext cx="10934280" cy="87480"/>
          </a:xfrm>
          <a:custGeom>
            <a:avLst/>
            <a:gdLst/>
            <a:ahLst/>
            <a:rect l="l" t="t" r="r" b="b"/>
            <a:pathLst>
              <a:path w="10934937" h="88227">
                <a:moveTo>
                  <a:pt x="0" y="0"/>
                </a:moveTo>
                <a:lnTo>
                  <a:pt x="5464500" y="0"/>
                </a:lnTo>
                <a:lnTo>
                  <a:pt x="5470437" y="0"/>
                </a:lnTo>
                <a:lnTo>
                  <a:pt x="5470437" y="19"/>
                </a:lnTo>
                <a:lnTo>
                  <a:pt x="7593841" y="6933"/>
                </a:lnTo>
                <a:cubicBezTo>
                  <a:pt x="9557263" y="20327"/>
                  <a:pt x="10934937" y="51683"/>
                  <a:pt x="10934937" y="88227"/>
                </a:cubicBezTo>
                <a:lnTo>
                  <a:pt x="5470437" y="88227"/>
                </a:lnTo>
                <a:lnTo>
                  <a:pt x="5464500" y="88227"/>
                </a:lnTo>
                <a:lnTo>
                  <a:pt x="0" y="88227"/>
                </a:lnTo>
                <a:close/>
              </a:path>
            </a:pathLst>
          </a:custGeom>
          <a:gradFill rotWithShape="0">
            <a:gsLst>
              <a:gs pos="0">
                <a:srgbClr val="9fe6ff"/>
              </a:gs>
              <a:gs pos="100000">
                <a:srgbClr val="ddf6ff"/>
              </a:gs>
            </a:gsLst>
            <a:lin ang="27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矩形 18"/>
          <p:cNvSpPr/>
          <p:nvPr/>
        </p:nvSpPr>
        <p:spPr>
          <a:xfrm>
            <a:off x="0" y="6453360"/>
            <a:ext cx="12191400" cy="403920"/>
          </a:xfrm>
          <a:prstGeom prst="rect">
            <a:avLst/>
          </a:prstGeom>
          <a:gradFill rotWithShape="0">
            <a:gsLst>
              <a:gs pos="2000">
                <a:srgbClr val="c1efff"/>
              </a:gs>
              <a:gs pos="100000">
                <a:srgbClr val="7fcbf9"/>
              </a:gs>
            </a:gsLst>
            <a:lin ang="135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文字方塊 19"/>
          <p:cNvSpPr/>
          <p:nvPr/>
        </p:nvSpPr>
        <p:spPr>
          <a:xfrm>
            <a:off x="235440" y="6453360"/>
            <a:ext cx="13244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標楷體"/>
              </a:rPr>
              <a:t>NYCU CS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47" name="圖片 7" descr=""/>
          <p:cNvPicPr/>
          <p:nvPr/>
        </p:nvPicPr>
        <p:blipFill>
          <a:blip r:embed="rId2"/>
          <a:stretch/>
        </p:blipFill>
        <p:spPr>
          <a:xfrm>
            <a:off x="235440" y="90360"/>
            <a:ext cx="747360" cy="982080"/>
          </a:xfrm>
          <a:prstGeom prst="rect">
            <a:avLst/>
          </a:prstGeom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sldNum" idx="2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3897fc"/>
                </a:solidFill>
                <a:latin typeface="Calibri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688C03-1476-4243-A0B6-B97B3F211923}" type="slidenum">
              <a:rPr b="1" lang="en-US" sz="1200" spc="-1" strike="noStrike">
                <a:solidFill>
                  <a:srgbClr val="3897fc"/>
                </a:solidFill>
                <a:latin typeface="Calibri"/>
                <a:ea typeface="新細明體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sdnta@win.cs.nycu.edu.tw" TargetMode="External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hyperlink" Target="https://hub.docker.com/r/frrouting/frr-debian" TargetMode="External"/><Relationship Id="rId2" Type="http://schemas.openxmlformats.org/officeDocument/2006/relationships/hyperlink" Target="https://hub.docker.com/r/frrouting/frr-debian" TargetMode="External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8.jpeg"/><Relationship Id="rId2" Type="http://schemas.openxmlformats.org/officeDocument/2006/relationships/image" Target="../media/image39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image" Target="../media/image50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5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slideLayout" Target="../slideLayouts/slideLayout1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slideLayout" Target="../slideLayouts/slideLayout1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image" Target="../media/image58.png"/><Relationship Id="rId3" Type="http://schemas.openxmlformats.org/officeDocument/2006/relationships/slideLayout" Target="../slideLayouts/slideLayout1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60.png"/><Relationship Id="rId3" Type="http://schemas.openxmlformats.org/officeDocument/2006/relationships/slideLayout" Target="../slideLayouts/slideLayout1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slideLayout" Target="../slideLayouts/slideLayout1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64.png"/><Relationship Id="rId2" Type="http://schemas.openxmlformats.org/officeDocument/2006/relationships/slideLayout" Target="../slideLayouts/slideLayout1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65.png"/><Relationship Id="rId2" Type="http://schemas.openxmlformats.org/officeDocument/2006/relationships/image" Target="../media/image66.png"/><Relationship Id="rId3" Type="http://schemas.openxmlformats.org/officeDocument/2006/relationships/slideLayout" Target="../slideLayouts/slideLayout13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slideLayout" Target="../slideLayouts/slideLayout1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73.png"/><Relationship Id="rId2" Type="http://schemas.openxmlformats.org/officeDocument/2006/relationships/slideLayout" Target="../slideLayouts/slideLayout1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slideLayout" Target="../slideLayouts/slideLayout13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image" Target="../media/image76.png"/><Relationship Id="rId3" Type="http://schemas.openxmlformats.org/officeDocument/2006/relationships/slideLayout" Target="../slideLayouts/slideLayout1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77.png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slideLayout" Target="../slideLayouts/slideLayout13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81.png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slideLayout" Target="../slideLayouts/slideLayout13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85.png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slideLayout" Target="../slideLayouts/slideLayout1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89.png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slideLayout" Target="../slideLayouts/slideLayout13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hyperlink" Target="https://docs.google.com/spreadsheets/d/18jBtdl7BgK_GIqJtgEI210icpPq_Et1tVk8eLnFe6Kk/edit?usp=sharing" TargetMode="External"/><Relationship Id="rId2" Type="http://schemas.openxmlformats.org/officeDocument/2006/relationships/slideLayout" Target="../slideLayouts/slideLayout13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hyperlink" Target="https://github.com/FRRouting/frr/tree/master/docker" TargetMode="External"/><Relationship Id="rId2" Type="http://schemas.openxmlformats.org/officeDocument/2006/relationships/hyperlink" Target="https://github.com/FRRouting/frr/tree/master/docker" TargetMode="External"/><Relationship Id="rId3" Type="http://schemas.openxmlformats.org/officeDocument/2006/relationships/hyperlink" Target="https://github.com/FRRouting/frr/tree/master/docker" TargetMode="External"/><Relationship Id="rId4" Type="http://schemas.openxmlformats.org/officeDocument/2006/relationships/hyperlink" Target="https://github.com/FRRouting/frr/tree/master/docker" TargetMode="External"/><Relationship Id="rId5" Type="http://schemas.openxmlformats.org/officeDocument/2006/relationships/hyperlink" Target="https://github.com/FRRouting/frr/tree/master/docker" TargetMode="External"/><Relationship Id="rId6" Type="http://schemas.openxmlformats.org/officeDocument/2006/relationships/image" Target="../media/image92.png"/><Relationship Id="rId7" Type="http://schemas.openxmlformats.org/officeDocument/2006/relationships/slideLayout" Target="../slideLayouts/slideLayout13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hyperlink" Target="https://man7.org/linux/man-pages/man8/ovs-vsctl.8.html" TargetMode="External"/><Relationship Id="rId2" Type="http://schemas.openxmlformats.org/officeDocument/2006/relationships/hyperlink" Target="https://linux.die.net/man/8/ip" TargetMode="External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1879560" y="2938680"/>
            <a:ext cx="8970840" cy="2573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i="1" lang="en-US" sz="3200" spc="-1" strike="noStrike">
                <a:solidFill>
                  <a:srgbClr val="3297fc"/>
                </a:solidFill>
                <a:latin typeface="Calibri"/>
                <a:ea typeface="標楷體"/>
              </a:rPr>
              <a:t>Network Functions</a:t>
            </a:r>
            <a:endParaRPr b="0" lang="en-US" sz="32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zh-TW" sz="1800" spc="-1" strike="noStrike">
                <a:solidFill>
                  <a:srgbClr val="3297fc"/>
                </a:solidFill>
                <a:latin typeface="Calibri"/>
                <a:ea typeface="標楷體"/>
              </a:rPr>
              <a:t>助教：蔣汶儒</a:t>
            </a:r>
            <a:endParaRPr b="0" lang="en-US" sz="18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1"/>
              </a:rPr>
              <a:t>sdnta@win.cs.nycu.edu.tw</a:t>
            </a:r>
            <a:endParaRPr b="0" lang="en-US" sz="18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0000"/>
                </a:solidFill>
                <a:latin typeface="Calibri"/>
                <a:ea typeface="標楷體"/>
              </a:rPr>
              <a:t>Deadline: 2025/11/25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title"/>
          </p:nvPr>
        </p:nvSpPr>
        <p:spPr>
          <a:xfrm>
            <a:off x="2219760" y="404640"/>
            <a:ext cx="8312400" cy="1986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3297fc"/>
                </a:solidFill>
                <a:latin typeface="Calibri"/>
                <a:ea typeface="標楷體"/>
              </a:rPr>
              <a:t>SDNFV Lab 6</a:t>
            </a:r>
            <a:endParaRPr b="0" lang="en-US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Virtual 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Project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Goal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Intra-domain host communication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Handled by Bridge APP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Inter-domain host communication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SDN domain &lt;-&gt; Other domain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Transit host communication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Other domain &lt;-&gt; SDN domain &lt;-&gt; Other domain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vRouter Specification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Intra AS packet forwarding and packet-in request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Lab3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Arp Reply for devices in AS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Lab3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Automatic IP Allocation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Lab4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IPv6 Capability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Lab5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Routing table maintenance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Lab6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ONOS Route Service Usage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Update dependencies in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pom.xml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file.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Import methods.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107" name="圖片 3" descr=""/>
          <p:cNvPicPr/>
          <p:nvPr/>
        </p:nvPicPr>
        <p:blipFill>
          <a:blip r:embed="rId1"/>
          <a:stretch/>
        </p:blipFill>
        <p:spPr>
          <a:xfrm>
            <a:off x="1528200" y="4311000"/>
            <a:ext cx="9279000" cy="658440"/>
          </a:xfrm>
          <a:prstGeom prst="rect">
            <a:avLst/>
          </a:prstGeom>
          <a:ln w="0">
            <a:noFill/>
          </a:ln>
        </p:spPr>
      </p:pic>
      <p:pic>
        <p:nvPicPr>
          <p:cNvPr id="108" name="圖片 7" descr=""/>
          <p:cNvPicPr/>
          <p:nvPr/>
        </p:nvPicPr>
        <p:blipFill>
          <a:blip r:embed="rId2"/>
          <a:stretch/>
        </p:blipFill>
        <p:spPr>
          <a:xfrm>
            <a:off x="3081600" y="1505520"/>
            <a:ext cx="6285960" cy="1544040"/>
          </a:xfrm>
          <a:prstGeom prst="rect">
            <a:avLst/>
          </a:prstGeom>
          <a:ln w="0">
            <a:noFill/>
          </a:ln>
        </p:spPr>
      </p:pic>
      <p:pic>
        <p:nvPicPr>
          <p:cNvPr id="109" name="圖片 8" descr=""/>
          <p:cNvPicPr/>
          <p:nvPr/>
        </p:nvPicPr>
        <p:blipFill>
          <a:blip r:embed="rId3"/>
          <a:stretch/>
        </p:blipFill>
        <p:spPr>
          <a:xfrm>
            <a:off x="2084040" y="3722760"/>
            <a:ext cx="5521680" cy="35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How to Read The Friendly Manual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53946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Steps to build and view onos docs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Goto ONOS_HOME (often ~/onos)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Open docs/BUILD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Modify SOURCES add `//apps/route-service/api:onos-apps-route-service-api-sources`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112" name="圖片 9" descr=""/>
          <p:cNvPicPr/>
          <p:nvPr/>
        </p:nvPicPr>
        <p:blipFill>
          <a:blip r:embed="rId1"/>
          <a:stretch/>
        </p:blipFill>
        <p:spPr>
          <a:xfrm>
            <a:off x="6360480" y="1395360"/>
            <a:ext cx="5201640" cy="4654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How to Read The Friendly Manual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Steps to build and view onos docs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Goto ONOS_HOME (often ~/onos)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Open docs/BUILD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Modify SOURCES, add `//apps/route-service/api:onos-apps-route-service-api-sources`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Modify EXTERNAL_GROUPS, add `org.onosproject.routeservice`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115" name="圖片 4" descr=""/>
          <p:cNvPicPr/>
          <p:nvPr/>
        </p:nvPicPr>
        <p:blipFill>
          <a:blip r:embed="rId1"/>
          <a:stretch/>
        </p:blipFill>
        <p:spPr>
          <a:xfrm>
            <a:off x="2447640" y="3510000"/>
            <a:ext cx="7439760" cy="2832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How to Read The Friendly Manual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Steps to build and view onos docs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Goto ONOS_HOME (often ~/onos)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Open docs/BUILD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Modify SOURCES, add `//apps/route-service/api:onos-apps-route-service-api-sources`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Modify EXTERNAL_GROUPS, add `org.onosproject.routeservice`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Run `bazel build //docs:external`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Run `unzip bazel-bin/docs/external.jar`</a:t>
            </a:r>
            <a:endParaRPr b="0" lang="en-US" sz="2400" spc="-1" strike="noStrike">
              <a:latin typeface="Arial"/>
            </a:endParaRPr>
          </a:p>
          <a:p>
            <a:pPr lvl="2" marL="792000" indent="-2160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shall find `apidocs` directory been generated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Goto `apidocs` and run `python3 -m http.server`</a:t>
            </a:r>
            <a:endParaRPr b="0" lang="en-US" sz="2400" spc="-1" strike="noStrike">
              <a:latin typeface="Arial"/>
            </a:endParaRPr>
          </a:p>
          <a:p>
            <a:pPr lvl="1" marL="745200" indent="-4572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will find the documentation been serve at localhost:8000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Introduction to Docker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355680" indent="-343080">
              <a:lnSpc>
                <a:spcPct val="100000"/>
              </a:lnSpc>
              <a:spcBef>
                <a:spcPts val="74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  <a:tab algn="l" pos="8356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Docker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is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a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software</a:t>
            </a:r>
            <a:r>
              <a:rPr b="0" lang="en-US" sz="2400" spc="9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platform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that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allows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you</a:t>
            </a:r>
            <a:r>
              <a:rPr b="0" lang="en-US" sz="2400" spc="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to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build,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test,</a:t>
            </a:r>
            <a:r>
              <a:rPr b="0" lang="en-US" sz="2400" spc="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deploy</a:t>
            </a:r>
            <a:r>
              <a:rPr b="0" lang="en-US" sz="2400" spc="-5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applications </a:t>
            </a:r>
            <a:r>
              <a:rPr b="0" lang="en-US" sz="2400" spc="-52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quickly in packages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called containers</a:t>
            </a:r>
            <a:endParaRPr b="0" lang="en-US" sz="2400" spc="-1" strike="noStrike">
              <a:latin typeface="Arial"/>
            </a:endParaRPr>
          </a:p>
          <a:p>
            <a:pPr marL="355680" indent="-343080">
              <a:lnSpc>
                <a:spcPct val="100000"/>
              </a:lnSpc>
              <a:spcBef>
                <a:spcPts val="408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Typical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steps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for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creating Docker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containers:</a:t>
            </a:r>
            <a:endParaRPr b="0" lang="en-US" sz="2400" spc="-1" strike="noStrike">
              <a:latin typeface="Arial"/>
            </a:endParaRPr>
          </a:p>
          <a:p>
            <a:pPr lvl="1" marL="849600" indent="-457200">
              <a:lnSpc>
                <a:spcPct val="100000"/>
              </a:lnSpc>
              <a:spcBef>
                <a:spcPts val="431"/>
              </a:spcBef>
              <a:buClr>
                <a:srgbClr val="0088ee"/>
              </a:buClr>
              <a:buFont typeface="Calibri"/>
              <a:buAutoNum type="arabicPeriod"/>
              <a:tabLst>
                <a:tab algn="l" pos="848880"/>
                <a:tab algn="l" pos="849600"/>
              </a:tabLst>
            </a:pP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Build</a:t>
            </a:r>
            <a:r>
              <a:rPr b="1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Docker images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of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the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desired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OS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distribution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and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applications</a:t>
            </a:r>
            <a:endParaRPr b="0" lang="en-US" sz="2400" spc="-1" strike="noStrike">
              <a:latin typeface="Arial"/>
            </a:endParaRPr>
          </a:p>
          <a:p>
            <a:pPr lvl="1" marL="849600" indent="-457200">
              <a:lnSpc>
                <a:spcPct val="100000"/>
              </a:lnSpc>
              <a:spcBef>
                <a:spcPts val="408"/>
              </a:spcBef>
              <a:buClr>
                <a:srgbClr val="0088ee"/>
              </a:buClr>
              <a:buFont typeface="Calibri"/>
              <a:buAutoNum type="arabicPeriod"/>
              <a:tabLst>
                <a:tab algn="l" pos="848880"/>
                <a:tab algn="l" pos="84960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Store the images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in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Docker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Registry</a:t>
            </a:r>
            <a:endParaRPr b="0" lang="en-US" sz="2400" spc="-1" strike="noStrike">
              <a:latin typeface="Arial"/>
            </a:endParaRPr>
          </a:p>
          <a:p>
            <a:pPr lvl="2" marL="1211760" indent="-457200">
              <a:lnSpc>
                <a:spcPct val="100000"/>
              </a:lnSpc>
              <a:spcBef>
                <a:spcPts val="309"/>
              </a:spcBef>
              <a:buClr>
                <a:srgbClr val="3889f6"/>
              </a:buClr>
              <a:buFont typeface="Wingdings" charset="2"/>
              <a:buChar char=""/>
              <a:tabLst>
                <a:tab algn="l" pos="1211040"/>
                <a:tab algn="l" pos="121176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Public</a:t>
            </a:r>
            <a:r>
              <a:rPr b="0" lang="en-US" sz="2400" spc="-3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(Docker</a:t>
            </a:r>
            <a:r>
              <a:rPr b="0" lang="en-US" sz="2400" spc="-3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Hub)</a:t>
            </a:r>
            <a:endParaRPr b="0" lang="en-US" sz="2400" spc="-1" strike="noStrike">
              <a:latin typeface="Arial"/>
            </a:endParaRPr>
          </a:p>
          <a:p>
            <a:pPr lvl="2" marL="1211760" indent="-457200">
              <a:lnSpc>
                <a:spcPct val="100000"/>
              </a:lnSpc>
              <a:spcBef>
                <a:spcPts val="431"/>
              </a:spcBef>
              <a:buClr>
                <a:srgbClr val="3889f6"/>
              </a:buClr>
              <a:buFont typeface="Wingdings" charset="2"/>
              <a:buChar char=""/>
              <a:tabLst>
                <a:tab algn="l" pos="1211040"/>
                <a:tab algn="l" pos="121176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Private</a:t>
            </a:r>
            <a:endParaRPr b="0" lang="en-US" sz="2400" spc="-1" strike="noStrike">
              <a:latin typeface="Arial"/>
            </a:endParaRPr>
          </a:p>
          <a:p>
            <a:pPr lvl="1" marL="849600" indent="-457200">
              <a:lnSpc>
                <a:spcPct val="100000"/>
              </a:lnSpc>
              <a:spcBef>
                <a:spcPts val="408"/>
              </a:spcBef>
              <a:buClr>
                <a:srgbClr val="0088ee"/>
              </a:buClr>
              <a:buFont typeface="Calibri"/>
              <a:buAutoNum type="arabicPeriod"/>
              <a:tabLst>
                <a:tab algn="l" pos="848880"/>
                <a:tab algn="l" pos="849600"/>
              </a:tabLst>
            </a:pP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Run Docker to</a:t>
            </a:r>
            <a:r>
              <a:rPr b="1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build containers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of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images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6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71578097-49DE-4C7B-9786-2EF635AEF8FE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pic>
        <p:nvPicPr>
          <p:cNvPr id="123" name="object 5" descr=""/>
          <p:cNvPicPr/>
          <p:nvPr/>
        </p:nvPicPr>
        <p:blipFill>
          <a:blip r:embed="rId1"/>
          <a:stretch/>
        </p:blipFill>
        <p:spPr>
          <a:xfrm>
            <a:off x="7282440" y="2690640"/>
            <a:ext cx="4196880" cy="379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Pull Image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Usage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E.g., Pull</a:t>
            </a:r>
            <a:r>
              <a:rPr b="0" lang="en-US" sz="2800" spc="-12" strike="noStrike">
                <a:solidFill>
                  <a:srgbClr val="3297fc"/>
                </a:solidFill>
                <a:latin typeface="Calibri"/>
                <a:ea typeface="標楷體"/>
              </a:rPr>
              <a:t> ubuntu:22.04 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image</a:t>
            </a:r>
            <a:r>
              <a:rPr b="0" lang="en-US" sz="28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from Docker h</a:t>
            </a: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ub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 registry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List</a:t>
            </a:r>
            <a:r>
              <a:rPr b="0" lang="en-US" sz="2800" spc="-60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12" strike="noStrike">
                <a:solidFill>
                  <a:srgbClr val="3297fc"/>
                </a:solidFill>
                <a:latin typeface="Calibri"/>
                <a:ea typeface="標楷體"/>
              </a:rPr>
              <a:t>images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sldNum" idx="7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6A16776-63A9-4313-A9E4-1E599E6D1787}" type="slidenum">
              <a: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27" name="object 7"/>
          <p:cNvSpPr/>
          <p:nvPr/>
        </p:nvSpPr>
        <p:spPr>
          <a:xfrm>
            <a:off x="1152360" y="1496160"/>
            <a:ext cx="7961040" cy="41508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9680" bIns="0" anchor="t">
            <a:spAutoFit/>
          </a:bodyPr>
          <a:p>
            <a:pPr marL="214560">
              <a:lnSpc>
                <a:spcPct val="100000"/>
              </a:lnSpc>
              <a:spcBef>
                <a:spcPts val="391"/>
              </a:spcBef>
              <a:buNone/>
              <a:tabLst>
                <a:tab algn="l" pos="1214640"/>
                <a:tab algn="l" pos="2028240"/>
                <a:tab algn="l" pos="3129120"/>
                <a:tab algn="l" pos="3871080"/>
              </a:tabLst>
            </a:pPr>
            <a:r>
              <a:rPr b="0" lang="en-US" sz="2400" spc="-1" strike="noStrike">
                <a:solidFill>
                  <a:srgbClr val="a6a6a6"/>
                </a:solidFill>
                <a:latin typeface="Arial MT"/>
                <a:ea typeface="標楷體"/>
              </a:rPr>
              <a:t>$ </a:t>
            </a:r>
            <a:r>
              <a:rPr b="0" lang="en-US" sz="2400" spc="66" strike="noStrike">
                <a:solidFill>
                  <a:srgbClr val="0d0d0d"/>
                </a:solidFill>
                <a:latin typeface="Arial MT"/>
                <a:ea typeface="標楷體"/>
              </a:rPr>
              <a:t>docker </a:t>
            </a:r>
            <a:r>
              <a:rPr b="0" lang="en-US" sz="2400" spc="211" strike="noStrike">
                <a:solidFill>
                  <a:srgbClr val="0d0d0d"/>
                </a:solidFill>
                <a:latin typeface="Arial MT"/>
                <a:ea typeface="標楷體"/>
              </a:rPr>
              <a:t>pull &lt;name&gt;:&lt;tag&gt;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8" name="object 8"/>
          <p:cNvSpPr/>
          <p:nvPr/>
        </p:nvSpPr>
        <p:spPr>
          <a:xfrm>
            <a:off x="1150560" y="2519640"/>
            <a:ext cx="796104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040">
              <a:lnSpc>
                <a:spcPct val="100000"/>
              </a:lnSpc>
              <a:spcBef>
                <a:spcPts val="366"/>
              </a:spcBef>
              <a:buNone/>
              <a:tabLst>
                <a:tab algn="l" pos="374508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49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69" strike="noStrike">
                <a:solidFill>
                  <a:srgbClr val="0d0d0d"/>
                </a:solidFill>
                <a:latin typeface="Arial MT"/>
                <a:ea typeface="標楷體"/>
              </a:rPr>
              <a:t>docker</a:t>
            </a:r>
            <a:r>
              <a:rPr b="0" lang="en-US" sz="2400" spc="197" strike="noStrike">
                <a:solidFill>
                  <a:srgbClr val="0d0d0d"/>
                </a:solidFill>
                <a:latin typeface="Arial MT"/>
                <a:ea typeface="標楷體"/>
              </a:rPr>
              <a:t> pull </a:t>
            </a:r>
            <a:r>
              <a:rPr b="0" lang="en-US" sz="2400" spc="114" strike="noStrike">
                <a:solidFill>
                  <a:srgbClr val="0d0d0d"/>
                </a:solidFill>
                <a:latin typeface="Arial MT"/>
                <a:ea typeface="標楷體"/>
              </a:rPr>
              <a:t>ubuntu:22.04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9" name="object 9"/>
          <p:cNvSpPr/>
          <p:nvPr/>
        </p:nvSpPr>
        <p:spPr>
          <a:xfrm>
            <a:off x="1148040" y="3472200"/>
            <a:ext cx="7961040" cy="4136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240" bIns="0" anchor="t">
            <a:spAutoFit/>
          </a:bodyPr>
          <a:p>
            <a:pPr marL="230040">
              <a:lnSpc>
                <a:spcPct val="100000"/>
              </a:lnSpc>
              <a:spcBef>
                <a:spcPts val="380"/>
              </a:spcBef>
              <a:buNone/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29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69" strike="noStrike">
                <a:solidFill>
                  <a:srgbClr val="0d0d0d"/>
                </a:solidFill>
                <a:latin typeface="Arial MT"/>
                <a:ea typeface="標楷體"/>
              </a:rPr>
              <a:t>docker</a:t>
            </a:r>
            <a:r>
              <a:rPr b="0" lang="en-US" sz="2400" spc="171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7" strike="noStrike">
                <a:solidFill>
                  <a:srgbClr val="0d0d0d"/>
                </a:solidFill>
                <a:latin typeface="Arial MT"/>
                <a:ea typeface="標楷體"/>
              </a:rPr>
              <a:t>images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30" name="Picture 10" descr=""/>
          <p:cNvPicPr/>
          <p:nvPr/>
        </p:nvPicPr>
        <p:blipFill>
          <a:blip r:embed="rId1"/>
          <a:stretch/>
        </p:blipFill>
        <p:spPr>
          <a:xfrm>
            <a:off x="1271520" y="4355640"/>
            <a:ext cx="8622720" cy="872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7" strike="noStrike">
                <a:solidFill>
                  <a:srgbClr val="3297fc"/>
                </a:solidFill>
                <a:latin typeface="Calibri"/>
                <a:ea typeface="標楷體"/>
              </a:rPr>
              <a:t>Docker</a:t>
            </a:r>
            <a:r>
              <a:rPr b="1" lang="en-US" sz="3600" spc="-4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3600" spc="-7" strike="noStrike">
                <a:solidFill>
                  <a:srgbClr val="3297fc"/>
                </a:solidFill>
                <a:latin typeface="Calibri"/>
                <a:ea typeface="標楷體"/>
              </a:rPr>
              <a:t>run</a:t>
            </a:r>
            <a:r>
              <a:rPr b="1" lang="en-US" sz="3600" spc="-3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(1/2)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355680" indent="-343080">
              <a:lnSpc>
                <a:spcPct val="100000"/>
              </a:lnSpc>
              <a:spcBef>
                <a:spcPts val="505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Run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command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new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  <a:p>
            <a:pPr marL="124200">
              <a:lnSpc>
                <a:spcPct val="100000"/>
              </a:lnSpc>
              <a:spcBef>
                <a:spcPts val="408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  ‒</a:t>
            </a:r>
            <a:r>
              <a:rPr b="0" lang="en-US" sz="2400" spc="151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Create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run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  <a:p>
            <a:pPr marL="124200">
              <a:lnSpc>
                <a:spcPct val="100000"/>
              </a:lnSpc>
              <a:spcBef>
                <a:spcPts val="43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  </a:t>
            </a:r>
            <a:r>
              <a:rPr b="0" lang="en-US" sz="2400" spc="-1" strike="noStrike">
                <a:solidFill>
                  <a:srgbClr val="a6a6a6"/>
                </a:solidFill>
                <a:latin typeface="Calibri"/>
                <a:ea typeface="標楷體"/>
              </a:rPr>
              <a:t>‒</a:t>
            </a:r>
            <a:r>
              <a:rPr b="0" lang="en-US" sz="2400" spc="151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a6a6a6"/>
                </a:solidFill>
                <a:latin typeface="Calibri"/>
                <a:ea typeface="標楷體"/>
              </a:rPr>
              <a:t>Execute</a:t>
            </a:r>
            <a:r>
              <a:rPr b="0" lang="en-US" sz="2400" spc="-15" strike="noStrike">
                <a:solidFill>
                  <a:srgbClr val="a6a6a6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a6a6a6"/>
                </a:solidFill>
                <a:latin typeface="Calibri"/>
                <a:ea typeface="標楷體"/>
              </a:rPr>
              <a:t>a</a:t>
            </a:r>
            <a:r>
              <a:rPr b="0" lang="en-US" sz="2400" spc="-12" strike="noStrike">
                <a:solidFill>
                  <a:srgbClr val="a6a6a6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a6a6a6"/>
                </a:solidFill>
                <a:latin typeface="Calibri"/>
                <a:ea typeface="標楷體"/>
              </a:rPr>
              <a:t>command</a:t>
            </a:r>
            <a:r>
              <a:rPr b="0" lang="en-US" sz="2400" spc="-12" strike="noStrike">
                <a:solidFill>
                  <a:srgbClr val="a6a6a6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a6a6a6"/>
                </a:solidFill>
                <a:latin typeface="Calibri"/>
                <a:ea typeface="標楷體"/>
              </a:rPr>
              <a:t>in</a:t>
            </a:r>
            <a:r>
              <a:rPr b="0" lang="en-US" sz="2400" spc="-15" strike="noStrike">
                <a:solidFill>
                  <a:srgbClr val="a6a6a6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a6a6a6"/>
                </a:solidFill>
                <a:latin typeface="Calibri"/>
                <a:ea typeface="標楷體"/>
              </a:rPr>
              <a:t>the </a:t>
            </a:r>
            <a:r>
              <a:rPr b="0" lang="en-US" sz="2400" spc="-7" strike="noStrike">
                <a:solidFill>
                  <a:srgbClr val="a6a6a6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  <a:p>
            <a:pPr marL="355680" indent="-343080">
              <a:lnSpc>
                <a:spcPct val="100000"/>
              </a:lnSpc>
              <a:spcBef>
                <a:spcPts val="408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Usage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8"/>
              </a:spcBef>
              <a:buNone/>
              <a:tabLst>
                <a:tab algn="l" pos="354960"/>
                <a:tab algn="l" pos="35568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8"/>
              </a:spcBef>
              <a:buNone/>
              <a:tabLst>
                <a:tab algn="l" pos="354960"/>
                <a:tab algn="l" pos="35568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8"/>
              </a:spcBef>
              <a:buNone/>
              <a:tabLst>
                <a:tab algn="l" pos="354960"/>
                <a:tab algn="l" pos="355680"/>
              </a:tabLst>
            </a:pPr>
            <a:endParaRPr b="0" lang="en-US" sz="2400" spc="-1" strike="noStrike">
              <a:latin typeface="Arial"/>
            </a:endParaRPr>
          </a:p>
          <a:p>
            <a:pPr marL="355680" indent="-343080">
              <a:lnSpc>
                <a:spcPct val="100000"/>
              </a:lnSpc>
              <a:spcBef>
                <a:spcPts val="408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E.g., Create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Run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container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“test”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8"/>
              </a:spcBef>
              <a:buNone/>
              <a:tabLst>
                <a:tab algn="l" pos="354960"/>
                <a:tab algn="l" pos="355680"/>
              </a:tabLst>
            </a:pPr>
            <a:endParaRPr b="0" lang="en-US" sz="2400" spc="-1" strike="noStrike">
              <a:latin typeface="Arial"/>
            </a:endParaRPr>
          </a:p>
          <a:p>
            <a:pPr lvl="1" marL="593640" indent="-307800">
              <a:lnSpc>
                <a:spcPct val="100000"/>
              </a:lnSpc>
              <a:spcBef>
                <a:spcPts val="459"/>
              </a:spcBef>
              <a:buClr>
                <a:srgbClr val="0088ee"/>
              </a:buClr>
              <a:buFont typeface="Wingdings" charset="2"/>
              <a:buChar char=""/>
              <a:tabLst>
                <a:tab algn="l" pos="32076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-d: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Detached</a:t>
            </a:r>
            <a:r>
              <a:rPr b="0" lang="en-US" sz="24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(like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daemon</a:t>
            </a:r>
            <a:r>
              <a:rPr b="0" lang="en-US" sz="24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in</a:t>
            </a:r>
            <a:r>
              <a:rPr b="0" lang="en-US" sz="2400" spc="14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background)</a:t>
            </a:r>
            <a:endParaRPr b="0" lang="en-US" sz="2400" spc="-1" strike="noStrike">
              <a:latin typeface="Arial"/>
            </a:endParaRPr>
          </a:p>
          <a:p>
            <a:pPr lvl="1" marL="593640" indent="-307800">
              <a:lnSpc>
                <a:spcPct val="100000"/>
              </a:lnSpc>
              <a:spcBef>
                <a:spcPts val="360"/>
              </a:spcBef>
              <a:buClr>
                <a:srgbClr val="0088ee"/>
              </a:buClr>
              <a:buFont typeface="Wingdings" charset="2"/>
              <a:buChar char=""/>
              <a:tabLst>
                <a:tab algn="l" pos="320760"/>
              </a:tabLst>
            </a:pPr>
            <a:r>
              <a:rPr b="0" lang="en-US" sz="2400" spc="-7" strike="noStrike">
                <a:solidFill>
                  <a:srgbClr val="3897fc"/>
                </a:solidFill>
                <a:latin typeface="Calibri"/>
                <a:ea typeface="標楷體"/>
              </a:rPr>
              <a:t>-it: </a:t>
            </a:r>
            <a:r>
              <a:rPr b="0" lang="en-US" sz="2400" spc="-12" strike="noStrike">
                <a:solidFill>
                  <a:srgbClr val="3897fc"/>
                </a:solidFill>
                <a:latin typeface="Calibri"/>
                <a:ea typeface="標楷體"/>
              </a:rPr>
              <a:t>Interactive</a:t>
            </a:r>
            <a:r>
              <a:rPr b="0" lang="en-US" sz="2400" spc="-7" strike="noStrike">
                <a:solidFill>
                  <a:srgbClr val="3897fc"/>
                </a:solidFill>
                <a:latin typeface="Calibri"/>
                <a:ea typeface="標楷體"/>
              </a:rPr>
              <a:t> </a:t>
            </a:r>
            <a:r>
              <a:rPr b="0" lang="en-US" sz="2400" spc="-15" strike="noStrike">
                <a:solidFill>
                  <a:srgbClr val="3897fc"/>
                </a:solidFill>
                <a:latin typeface="Calibri"/>
                <a:ea typeface="標楷體"/>
              </a:rPr>
              <a:t>processes</a:t>
            </a:r>
            <a:r>
              <a:rPr b="0" lang="en-US" sz="2400" spc="-21" strike="noStrike">
                <a:solidFill>
                  <a:srgbClr val="38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897fc"/>
                </a:solidFill>
                <a:latin typeface="Calibri"/>
                <a:ea typeface="標楷體"/>
              </a:rPr>
              <a:t>(like</a:t>
            </a:r>
            <a:r>
              <a:rPr b="0" lang="en-US" sz="2400" spc="-7" strike="noStrike">
                <a:solidFill>
                  <a:srgbClr val="38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897fc"/>
                </a:solidFill>
                <a:latin typeface="Calibri"/>
                <a:ea typeface="標楷體"/>
              </a:rPr>
              <a:t>a</a:t>
            </a:r>
            <a:r>
              <a:rPr b="0" lang="en-US" sz="2400" spc="165" strike="noStrike">
                <a:solidFill>
                  <a:srgbClr val="3897fc"/>
                </a:solidFill>
                <a:latin typeface="Calibri"/>
                <a:ea typeface="標楷體"/>
              </a:rPr>
              <a:t> </a:t>
            </a:r>
            <a:r>
              <a:rPr b="0" lang="en-US" sz="2400" spc="-15" strike="noStrike">
                <a:solidFill>
                  <a:srgbClr val="3897fc"/>
                </a:solidFill>
                <a:latin typeface="Calibri"/>
                <a:ea typeface="標楷體"/>
              </a:rPr>
              <a:t>shell)</a:t>
            </a:r>
            <a:endParaRPr b="0" lang="en-US" sz="2400" spc="-1" strike="noStrike">
              <a:latin typeface="Arial"/>
            </a:endParaRPr>
          </a:p>
          <a:p>
            <a:pPr lvl="1" marL="592560" indent="-306720">
              <a:lnSpc>
                <a:spcPct val="100000"/>
              </a:lnSpc>
              <a:spcBef>
                <a:spcPts val="456"/>
              </a:spcBef>
              <a:buClr>
                <a:srgbClr val="0088ee"/>
              </a:buClr>
              <a:buFont typeface="Wingdings" charset="2"/>
              <a:buChar char=""/>
              <a:tabLst>
                <a:tab algn="l" pos="319320"/>
              </a:tabLst>
            </a:pP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--name:</a:t>
            </a:r>
            <a:r>
              <a:rPr b="0" lang="en-US" sz="24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Assign</a:t>
            </a:r>
            <a:r>
              <a:rPr b="0" lang="en-US" sz="2400" spc="-3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name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to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the</a:t>
            </a:r>
            <a:r>
              <a:rPr b="0" lang="en-US" sz="2400" spc="1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8"/>
              </a:spcBef>
              <a:buNone/>
              <a:tabLst>
                <a:tab algn="l" pos="354960"/>
                <a:tab algn="l" pos="35568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8"/>
              </a:spcBef>
              <a:buNone/>
              <a:tabLst>
                <a:tab algn="l" pos="354960"/>
                <a:tab algn="l" pos="35568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354960"/>
                <a:tab algn="l" pos="355680"/>
              </a:tabLst>
            </a:pPr>
            <a:endParaRPr b="0" lang="en-US" sz="2400" spc="-1" strike="noStrike"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8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B903EF8-53FF-4FD4-A1EE-B70914C86B68}" type="slidenum">
              <a: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34" name="object 6"/>
          <p:cNvSpPr/>
          <p:nvPr/>
        </p:nvSpPr>
        <p:spPr>
          <a:xfrm>
            <a:off x="1016640" y="2682360"/>
            <a:ext cx="10153080" cy="4136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240" bIns="0" anchor="t">
            <a:spAutoFit/>
          </a:bodyPr>
          <a:p>
            <a:pPr marL="214560">
              <a:lnSpc>
                <a:spcPct val="100000"/>
              </a:lnSpc>
              <a:spcBef>
                <a:spcPts val="380"/>
              </a:spcBef>
              <a:buNone/>
              <a:tabLst>
                <a:tab algn="l" pos="1214640"/>
                <a:tab algn="l" pos="2028960"/>
                <a:tab algn="l" pos="3155400"/>
              </a:tabLst>
            </a:pPr>
            <a:r>
              <a:rPr b="0" lang="en-US" sz="2400" spc="-1" strike="noStrike">
                <a:solidFill>
                  <a:srgbClr val="a6a6a6"/>
                </a:solidFill>
                <a:latin typeface="Arial MT"/>
                <a:ea typeface="標楷體"/>
              </a:rPr>
              <a:t>$ </a:t>
            </a:r>
            <a:r>
              <a:rPr b="0" lang="en-US" sz="2400" spc="80" strike="noStrike">
                <a:solidFill>
                  <a:srgbClr val="0d0d0d"/>
                </a:solidFill>
                <a:latin typeface="Arial MT"/>
                <a:ea typeface="標楷體"/>
              </a:rPr>
              <a:t>docke</a:t>
            </a:r>
            <a:r>
              <a:rPr b="0" lang="en-US" sz="2400" spc="-1" strike="noStrike">
                <a:solidFill>
                  <a:srgbClr val="0d0d0d"/>
                </a:solidFill>
                <a:latin typeface="Arial MT"/>
                <a:ea typeface="標楷體"/>
              </a:rPr>
              <a:t>r </a:t>
            </a:r>
            <a:r>
              <a:rPr b="0" lang="en-US" sz="2400" spc="106" strike="noStrike">
                <a:solidFill>
                  <a:srgbClr val="0d0d0d"/>
                </a:solidFill>
                <a:latin typeface="Arial MT"/>
                <a:ea typeface="標楷體"/>
              </a:rPr>
              <a:t>r</a:t>
            </a:r>
            <a:r>
              <a:rPr b="0" lang="en-US" sz="2400" spc="109" strike="noStrike">
                <a:solidFill>
                  <a:srgbClr val="0d0d0d"/>
                </a:solidFill>
                <a:latin typeface="Arial MT"/>
                <a:ea typeface="標楷體"/>
              </a:rPr>
              <a:t>u</a:t>
            </a:r>
            <a:r>
              <a:rPr b="0" lang="en-US" sz="2400" spc="-1" strike="noStrike">
                <a:solidFill>
                  <a:srgbClr val="0d0d0d"/>
                </a:solidFill>
                <a:latin typeface="Arial MT"/>
                <a:ea typeface="標楷體"/>
              </a:rPr>
              <a:t>n</a:t>
            </a:r>
            <a:r>
              <a:rPr b="0" lang="en-US" sz="2400" spc="219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-32" strike="noStrike">
                <a:solidFill>
                  <a:srgbClr val="0d0d0d"/>
                </a:solidFill>
                <a:latin typeface="Arial MT"/>
                <a:ea typeface="標楷體"/>
              </a:rPr>
              <a:t>&lt;options</a:t>
            </a:r>
            <a:r>
              <a:rPr b="0" lang="en-US" sz="2400" spc="-26" strike="noStrike">
                <a:solidFill>
                  <a:srgbClr val="0d0d0d"/>
                </a:solidFill>
                <a:latin typeface="Arial MT"/>
                <a:ea typeface="標楷體"/>
              </a:rPr>
              <a:t>&gt;</a:t>
            </a:r>
            <a:r>
              <a:rPr b="0" lang="en-US" sz="2400" spc="-66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-21" strike="noStrike">
                <a:solidFill>
                  <a:srgbClr val="0d0d0d"/>
                </a:solidFill>
                <a:latin typeface="Arial MT"/>
                <a:ea typeface="標楷體"/>
              </a:rPr>
              <a:t>&lt;image&gt;:&lt;tag</a:t>
            </a:r>
            <a:r>
              <a:rPr b="0" lang="en-US" sz="2400" spc="-202" strike="noStrike">
                <a:solidFill>
                  <a:srgbClr val="0d0d0d"/>
                </a:solidFill>
                <a:latin typeface="Arial MT"/>
                <a:ea typeface="標楷體"/>
              </a:rPr>
              <a:t>&gt;</a:t>
            </a:r>
            <a:r>
              <a:rPr b="0" lang="en-US" sz="2400" spc="-46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-185" strike="noStrike">
                <a:solidFill>
                  <a:srgbClr val="a6a6a6"/>
                </a:solidFill>
                <a:latin typeface="Arial MT"/>
                <a:ea typeface="標楷體"/>
              </a:rPr>
              <a:t>&lt;command</a:t>
            </a:r>
            <a:r>
              <a:rPr b="0" lang="en-US" sz="2400" spc="-177" strike="noStrike">
                <a:solidFill>
                  <a:srgbClr val="a6a6a6"/>
                </a:solidFill>
                <a:latin typeface="Arial MT"/>
                <a:ea typeface="標楷體"/>
              </a:rPr>
              <a:t>&gt;</a:t>
            </a:r>
            <a:r>
              <a:rPr b="0" lang="en-US" sz="2400" spc="-341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34" strike="noStrike">
                <a:solidFill>
                  <a:srgbClr val="a6a6a6"/>
                </a:solidFill>
                <a:latin typeface="Arial MT"/>
                <a:ea typeface="標楷體"/>
              </a:rPr>
              <a:t>&lt;</a:t>
            </a:r>
            <a:r>
              <a:rPr b="0" lang="en-US" sz="2400" spc="140" strike="noStrike">
                <a:solidFill>
                  <a:srgbClr val="a6a6a6"/>
                </a:solidFill>
                <a:latin typeface="Arial MT"/>
                <a:ea typeface="標楷體"/>
              </a:rPr>
              <a:t>arg</a:t>
            </a:r>
            <a:r>
              <a:rPr b="0" lang="en-US" sz="2400" spc="134" strike="noStrike">
                <a:solidFill>
                  <a:srgbClr val="a6a6a6"/>
                </a:solidFill>
                <a:latin typeface="Arial MT"/>
                <a:ea typeface="標楷體"/>
              </a:rPr>
              <a:t>..&gt;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135" name="object 7"/>
          <p:cNvGrpSpPr/>
          <p:nvPr/>
        </p:nvGrpSpPr>
        <p:grpSpPr>
          <a:xfrm>
            <a:off x="3143520" y="3145320"/>
            <a:ext cx="6050880" cy="337680"/>
            <a:chOff x="3143520" y="3145320"/>
            <a:chExt cx="6050880" cy="337680"/>
          </a:xfrm>
        </p:grpSpPr>
        <p:sp>
          <p:nvSpPr>
            <p:cNvPr id="136" name="object 8"/>
            <p:cNvSpPr/>
            <p:nvPr/>
          </p:nvSpPr>
          <p:spPr>
            <a:xfrm>
              <a:off x="3143520" y="3145320"/>
              <a:ext cx="3404520" cy="52560"/>
            </a:xfrm>
            <a:custGeom>
              <a:avLst/>
              <a:gdLst/>
              <a:ahLst/>
              <a:rect l="l" t="t" r="r" b="b"/>
              <a:pathLst>
                <a:path w="4585970" h="0">
                  <a:moveTo>
                    <a:pt x="0" y="0"/>
                  </a:moveTo>
                  <a:lnTo>
                    <a:pt x="4585462" y="0"/>
                  </a:lnTo>
                </a:path>
              </a:pathLst>
            </a:custGeom>
            <a:noFill/>
            <a:ln w="39624">
              <a:solidFill>
                <a:srgbClr val="00cc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7" name="object 9" descr=""/>
            <p:cNvPicPr/>
            <p:nvPr/>
          </p:nvPicPr>
          <p:blipFill>
            <a:blip r:embed="rId1"/>
            <a:stretch/>
          </p:blipFill>
          <p:spPr>
            <a:xfrm>
              <a:off x="4267800" y="3145320"/>
              <a:ext cx="153360" cy="337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8" name="object 10"/>
            <p:cNvSpPr/>
            <p:nvPr/>
          </p:nvSpPr>
          <p:spPr>
            <a:xfrm>
              <a:off x="6674760" y="3152160"/>
              <a:ext cx="2519640" cy="45720"/>
            </a:xfrm>
            <a:custGeom>
              <a:avLst/>
              <a:gdLst/>
              <a:ahLst/>
              <a:rect l="l" t="t" r="r" b="b"/>
              <a:pathLst>
                <a:path w="2057400" h="0">
                  <a:moveTo>
                    <a:pt x="0" y="0"/>
                  </a:moveTo>
                  <a:lnTo>
                    <a:pt x="2057399" y="0"/>
                  </a:lnTo>
                </a:path>
              </a:pathLst>
            </a:custGeom>
            <a:noFill/>
            <a:ln w="39624">
              <a:solidFill>
                <a:srgbClr val="f46a0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9" name="object 11" descr=""/>
            <p:cNvPicPr/>
            <p:nvPr/>
          </p:nvPicPr>
          <p:blipFill>
            <a:blip r:embed="rId2"/>
            <a:stretch/>
          </p:blipFill>
          <p:spPr>
            <a:xfrm>
              <a:off x="7734600" y="3149640"/>
              <a:ext cx="196560" cy="2545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40" name="文字方塊 10"/>
          <p:cNvSpPr/>
          <p:nvPr/>
        </p:nvSpPr>
        <p:spPr>
          <a:xfrm>
            <a:off x="2537280" y="3445920"/>
            <a:ext cx="38876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21" strike="noStrike">
                <a:solidFill>
                  <a:srgbClr val="3297fc"/>
                </a:solidFill>
                <a:latin typeface="Calibri"/>
                <a:ea typeface="標楷體"/>
              </a:rPr>
              <a:t>Create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Run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a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41" name="文字方塊 12"/>
          <p:cNvSpPr/>
          <p:nvPr/>
        </p:nvSpPr>
        <p:spPr>
          <a:xfrm>
            <a:off x="6105240" y="3428640"/>
            <a:ext cx="5160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21" strike="noStrike">
                <a:solidFill>
                  <a:srgbClr val="a6a6a6"/>
                </a:solidFill>
                <a:latin typeface="Calibri"/>
                <a:ea typeface="標楷體"/>
              </a:rPr>
              <a:t>Execute a command in the container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42" name="object 13"/>
          <p:cNvSpPr/>
          <p:nvPr/>
        </p:nvSpPr>
        <p:spPr>
          <a:xfrm>
            <a:off x="1022040" y="4311360"/>
            <a:ext cx="10147320" cy="41256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7160" bIns="0" anchor="t">
            <a:spAutoFit/>
          </a:bodyPr>
          <a:p>
            <a:pPr marL="216360">
              <a:lnSpc>
                <a:spcPct val="100000"/>
              </a:lnSpc>
              <a:spcBef>
                <a:spcPts val="371"/>
              </a:spcBef>
              <a:buNone/>
              <a:tabLst>
                <a:tab algn="l" pos="1216080"/>
                <a:tab algn="l" pos="2026800"/>
                <a:tab algn="l" pos="3152880"/>
                <a:tab algn="l" pos="4166280"/>
                <a:tab algn="l" pos="4698360"/>
                <a:tab algn="l" pos="5838120"/>
                <a:tab algn="l" pos="6577920"/>
              </a:tabLst>
            </a:pPr>
            <a:r>
              <a:rPr b="0" lang="en-US" sz="2400" spc="-1" strike="noStrike">
                <a:solidFill>
                  <a:srgbClr val="a6a6a6"/>
                </a:solidFill>
                <a:latin typeface="Arial MT"/>
                <a:ea typeface="標楷體"/>
              </a:rPr>
              <a:t>$ </a:t>
            </a:r>
            <a:r>
              <a:rPr b="0" lang="en-US" sz="2400" spc="66" strike="noStrike">
                <a:solidFill>
                  <a:srgbClr val="0d0d0d"/>
                </a:solidFill>
                <a:latin typeface="Arial MT"/>
                <a:ea typeface="標楷體"/>
              </a:rPr>
              <a:t>docker </a:t>
            </a:r>
            <a:r>
              <a:rPr b="0" lang="en-US" sz="2400" spc="69" strike="noStrike">
                <a:solidFill>
                  <a:srgbClr val="0d0d0d"/>
                </a:solidFill>
                <a:latin typeface="Arial MT"/>
                <a:ea typeface="標楷體"/>
              </a:rPr>
              <a:t>run</a:t>
            </a:r>
            <a:r>
              <a:rPr b="0" lang="en-US" sz="2400" spc="219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92" strike="noStrike">
                <a:solidFill>
                  <a:srgbClr val="0d0d0d"/>
                </a:solidFill>
                <a:latin typeface="Arial MT"/>
                <a:ea typeface="標楷體"/>
              </a:rPr>
              <a:t>-d </a:t>
            </a:r>
            <a:r>
              <a:rPr b="0" lang="en-US" sz="2400" spc="-1" strike="noStrike">
                <a:solidFill>
                  <a:srgbClr val="0d0d0d"/>
                </a:solidFill>
                <a:latin typeface="Arial MT"/>
                <a:ea typeface="標楷體"/>
              </a:rPr>
              <a:t>-it </a:t>
            </a:r>
            <a:r>
              <a:rPr b="0" lang="en-US" sz="2400" spc="21" strike="noStrike">
                <a:solidFill>
                  <a:srgbClr val="0d0d0d"/>
                </a:solidFill>
                <a:latin typeface="Arial MT"/>
                <a:ea typeface="標楷體"/>
              </a:rPr>
              <a:t>--name </a:t>
            </a:r>
            <a:r>
              <a:rPr b="0" lang="en-US" sz="2400" spc="185" strike="noStrike">
                <a:solidFill>
                  <a:srgbClr val="0d0d0d"/>
                </a:solidFill>
                <a:latin typeface="Arial MT"/>
                <a:ea typeface="標楷體"/>
              </a:rPr>
              <a:t>test </a:t>
            </a:r>
            <a:r>
              <a:rPr b="0" lang="en-US" sz="2400" spc="100" strike="noStrike">
                <a:solidFill>
                  <a:srgbClr val="0d0d0d"/>
                </a:solidFill>
                <a:latin typeface="Arial MT"/>
                <a:ea typeface="標楷體"/>
              </a:rPr>
              <a:t>ubuntu:22.04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7" strike="noStrike">
                <a:solidFill>
                  <a:srgbClr val="3297fc"/>
                </a:solidFill>
                <a:latin typeface="Calibri"/>
                <a:ea typeface="標楷體"/>
              </a:rPr>
              <a:t>Docker</a:t>
            </a:r>
            <a:r>
              <a:rPr b="1" lang="en-US" sz="3600" spc="-4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3600" spc="-7" strike="noStrike">
                <a:solidFill>
                  <a:srgbClr val="3297fc"/>
                </a:solidFill>
                <a:latin typeface="Calibri"/>
                <a:ea typeface="標楷體"/>
              </a:rPr>
              <a:t>run</a:t>
            </a:r>
            <a:r>
              <a:rPr b="1" lang="en-US" sz="3600" spc="-3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(2/2)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List</a:t>
            </a:r>
            <a:r>
              <a:rPr b="0" lang="en-US" sz="2400" spc="-7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containers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lvl="1" marL="530280" indent="-244440">
              <a:lnSpc>
                <a:spcPct val="100000"/>
              </a:lnSpc>
              <a:spcBef>
                <a:spcPts val="99"/>
              </a:spcBef>
              <a:buClr>
                <a:srgbClr val="0088ee"/>
              </a:buClr>
              <a:buFont typeface="Wingdings" charset="2"/>
              <a:buChar char=""/>
              <a:tabLst>
                <a:tab algn="l" pos="257040"/>
              </a:tabLst>
            </a:pP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“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--all”,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“-a”:</a:t>
            </a:r>
            <a:r>
              <a:rPr b="0" lang="en-US" sz="24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Show</a:t>
            </a:r>
            <a:r>
              <a:rPr b="0" lang="en-US" sz="2400" spc="-2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all</a:t>
            </a:r>
            <a:r>
              <a:rPr b="0" lang="en-US" sz="2400" spc="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containers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257040"/>
              </a:tabLst>
            </a:pPr>
            <a:endParaRPr b="0" lang="en-US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897fc"/>
                </a:solidFill>
                <a:latin typeface="Calibri"/>
                <a:ea typeface="標楷體"/>
              </a:rPr>
              <a:t>Container is connected to docker0 bridge by default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897fc"/>
                </a:solidFill>
                <a:latin typeface="Calibri"/>
                <a:ea typeface="標楷體"/>
              </a:rPr>
              <a:t>Default IP for docker0 bridge is 172.17.0.1/16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Docker will assign an IP for the container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9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8E5978E-3EA3-45DA-8F7A-57E740B1C4BF}" type="slidenum">
              <a: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46" name="object 6"/>
          <p:cNvSpPr/>
          <p:nvPr/>
        </p:nvSpPr>
        <p:spPr>
          <a:xfrm>
            <a:off x="983520" y="1412640"/>
            <a:ext cx="7961040" cy="41292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7520" bIns="0" anchor="t">
            <a:spAutoFit/>
          </a:bodyPr>
          <a:p>
            <a:pPr marL="214560">
              <a:lnSpc>
                <a:spcPct val="100000"/>
              </a:lnSpc>
              <a:spcBef>
                <a:spcPts val="374"/>
              </a:spcBef>
              <a:buNone/>
            </a:pPr>
            <a:r>
              <a:rPr b="0" lang="en-US" sz="2400" spc="-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-21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66" strike="noStrike">
                <a:solidFill>
                  <a:srgbClr val="0d0d0d"/>
                </a:solidFill>
                <a:latin typeface="Arial MT"/>
                <a:ea typeface="標楷體"/>
              </a:rPr>
              <a:t>docker</a:t>
            </a:r>
            <a:r>
              <a:rPr b="0" lang="en-US" sz="2400" spc="145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9" strike="noStrike">
                <a:solidFill>
                  <a:srgbClr val="0d0d0d"/>
                </a:solidFill>
                <a:latin typeface="Arial MT"/>
                <a:ea typeface="標楷體"/>
              </a:rPr>
              <a:t>ps</a:t>
            </a:r>
            <a:r>
              <a:rPr b="0" lang="en-US" sz="2400" spc="205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92" strike="noStrike">
                <a:solidFill>
                  <a:srgbClr val="0d0d0d"/>
                </a:solidFill>
                <a:latin typeface="Arial MT"/>
                <a:ea typeface="標楷體"/>
              </a:rPr>
              <a:t>-a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47" name="文字方塊 8"/>
          <p:cNvSpPr/>
          <p:nvPr/>
        </p:nvSpPr>
        <p:spPr>
          <a:xfrm>
            <a:off x="8930520" y="5348160"/>
            <a:ext cx="1278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test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48" name="矩形 9"/>
          <p:cNvSpPr/>
          <p:nvPr/>
        </p:nvSpPr>
        <p:spPr>
          <a:xfrm>
            <a:off x="8029440" y="3806280"/>
            <a:ext cx="12787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docker0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49" name="矩形 10"/>
          <p:cNvSpPr/>
          <p:nvPr/>
        </p:nvSpPr>
        <p:spPr>
          <a:xfrm>
            <a:off x="8029440" y="5311800"/>
            <a:ext cx="3080520" cy="821160"/>
          </a:xfrm>
          <a:prstGeom prst="rect">
            <a:avLst/>
          </a:prstGeom>
          <a:noFill/>
          <a:ln w="38100">
            <a:solidFill>
              <a:srgbClr val="7030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矩形 11"/>
          <p:cNvSpPr/>
          <p:nvPr/>
        </p:nvSpPr>
        <p:spPr>
          <a:xfrm>
            <a:off x="8251920" y="5080680"/>
            <a:ext cx="8521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eth0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51" name="文字方塊 12"/>
          <p:cNvSpPr/>
          <p:nvPr/>
        </p:nvSpPr>
        <p:spPr>
          <a:xfrm>
            <a:off x="9694440" y="5692680"/>
            <a:ext cx="14821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52" name="直線接點 13"/>
          <p:cNvSpPr/>
          <p:nvPr/>
        </p:nvSpPr>
        <p:spPr>
          <a:xfrm>
            <a:off x="8669160" y="4268160"/>
            <a:ext cx="9000" cy="812160"/>
          </a:xfrm>
          <a:prstGeom prst="line">
            <a:avLst/>
          </a:prstGeom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文字方塊 14"/>
          <p:cNvSpPr/>
          <p:nvPr/>
        </p:nvSpPr>
        <p:spPr>
          <a:xfrm>
            <a:off x="10471680" y="3741480"/>
            <a:ext cx="890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Host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54" name="矩形 15"/>
          <p:cNvSpPr/>
          <p:nvPr/>
        </p:nvSpPr>
        <p:spPr>
          <a:xfrm>
            <a:off x="7680240" y="3682440"/>
            <a:ext cx="3681720" cy="2580120"/>
          </a:xfrm>
          <a:prstGeom prst="rect">
            <a:avLst/>
          </a:prstGeom>
          <a:noFill/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文字方塊 8"/>
          <p:cNvSpPr/>
          <p:nvPr/>
        </p:nvSpPr>
        <p:spPr>
          <a:xfrm>
            <a:off x="8597880" y="4227840"/>
            <a:ext cx="134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標楷體"/>
              </a:rPr>
              <a:t>172.17.0.1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6" name="文字方塊 8"/>
          <p:cNvSpPr/>
          <p:nvPr/>
        </p:nvSpPr>
        <p:spPr>
          <a:xfrm>
            <a:off x="8597880" y="4799880"/>
            <a:ext cx="1421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標楷體"/>
              </a:rPr>
              <a:t>172.17.X.X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157" name="Picture 18" descr=""/>
          <p:cNvPicPr/>
          <p:nvPr/>
        </p:nvPicPr>
        <p:blipFill>
          <a:blip r:embed="rId1"/>
          <a:stretch/>
        </p:blipFill>
        <p:spPr>
          <a:xfrm>
            <a:off x="746640" y="2405160"/>
            <a:ext cx="10652040" cy="685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Docker exec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355680" indent="-343080">
              <a:lnSpc>
                <a:spcPct val="100000"/>
              </a:lnSpc>
              <a:spcBef>
                <a:spcPts val="505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Execute</a:t>
            </a: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 a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 command in </a:t>
            </a: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 running</a:t>
            </a:r>
            <a:r>
              <a:rPr b="0" lang="en-US" sz="28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container</a:t>
            </a:r>
            <a:endParaRPr b="0" lang="en-US" sz="2800" spc="-1" strike="noStrike">
              <a:latin typeface="Arial"/>
            </a:endParaRPr>
          </a:p>
          <a:p>
            <a:pPr marL="355680" indent="-343080">
              <a:lnSpc>
                <a:spcPct val="100000"/>
              </a:lnSpc>
              <a:spcBef>
                <a:spcPts val="408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Usage</a:t>
            </a:r>
            <a:endParaRPr b="0" lang="en-US" sz="28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408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890f0"/>
                </a:solidFill>
                <a:latin typeface="Calibri"/>
                <a:ea typeface="標楷體"/>
              </a:rPr>
              <a:t>E.g., 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Exec</a:t>
            </a:r>
            <a:r>
              <a:rPr b="0" lang="en-US" sz="28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i="1" lang="en-US" sz="2800" spc="-12" strike="noStrike">
                <a:solidFill>
                  <a:srgbClr val="3297fc"/>
                </a:solidFill>
                <a:latin typeface="Calibri"/>
                <a:ea typeface="標楷體"/>
              </a:rPr>
              <a:t>bash</a:t>
            </a:r>
            <a:r>
              <a:rPr b="0" i="1" lang="en-US" sz="2800" spc="-3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12" strike="noStrike">
                <a:solidFill>
                  <a:srgbClr val="3297fc"/>
                </a:solidFill>
                <a:latin typeface="Calibri"/>
                <a:ea typeface="標楷體"/>
              </a:rPr>
              <a:t>command</a:t>
            </a:r>
            <a:r>
              <a:rPr b="0" lang="en-US" sz="2800" spc="-2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in</a:t>
            </a:r>
            <a:r>
              <a:rPr b="0" lang="en-US" sz="28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8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running</a:t>
            </a:r>
            <a:r>
              <a:rPr b="1" lang="en-US" sz="28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container</a:t>
            </a:r>
            <a:r>
              <a:rPr b="0" lang="en-US" sz="2800" spc="-9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“test”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0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5715E0F-E9B3-4C93-87FD-5B6FBEF14751}" type="slidenum">
              <a: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61" name="object 6"/>
          <p:cNvSpPr/>
          <p:nvPr/>
        </p:nvSpPr>
        <p:spPr>
          <a:xfrm>
            <a:off x="1118880" y="1989000"/>
            <a:ext cx="9050040" cy="41508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9680" bIns="0" anchor="t">
            <a:spAutoFit/>
          </a:bodyPr>
          <a:p>
            <a:pPr marL="230400">
              <a:lnSpc>
                <a:spcPct val="100000"/>
              </a:lnSpc>
              <a:spcBef>
                <a:spcPts val="391"/>
              </a:spcBef>
              <a:buNone/>
            </a:pPr>
            <a:r>
              <a:rPr b="0" lang="en-US" sz="2400" spc="-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46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69" strike="noStrike">
                <a:solidFill>
                  <a:srgbClr val="0d0d0d"/>
                </a:solidFill>
                <a:latin typeface="Arial MT"/>
                <a:ea typeface="標楷體"/>
              </a:rPr>
              <a:t>docker</a:t>
            </a:r>
            <a:r>
              <a:rPr b="0" lang="en-US" sz="2400" spc="165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15" strike="noStrike">
                <a:solidFill>
                  <a:srgbClr val="0d0d0d"/>
                </a:solidFill>
                <a:latin typeface="Arial MT"/>
                <a:ea typeface="標楷體"/>
              </a:rPr>
              <a:t>exec</a:t>
            </a:r>
            <a:r>
              <a:rPr b="0" lang="en-US" sz="2400" spc="49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-32" strike="noStrike">
                <a:solidFill>
                  <a:srgbClr val="0d0d0d"/>
                </a:solidFill>
                <a:latin typeface="Arial MT"/>
                <a:ea typeface="標楷體"/>
              </a:rPr>
              <a:t>&lt;options&gt;</a:t>
            </a:r>
            <a:r>
              <a:rPr b="0" lang="en-US" sz="2400" spc="-80" strike="noStrike">
                <a:solidFill>
                  <a:srgbClr val="0d0d0d"/>
                </a:solidFill>
                <a:latin typeface="Arial MT"/>
                <a:ea typeface="標楷體"/>
              </a:rPr>
              <a:t> &lt;contai</a:t>
            </a:r>
            <a:r>
              <a:rPr b="0" lang="en-US" sz="2400" spc="-52" strike="noStrike">
                <a:solidFill>
                  <a:srgbClr val="0d0d0d"/>
                </a:solidFill>
                <a:latin typeface="Arial MT"/>
                <a:ea typeface="標楷體"/>
              </a:rPr>
              <a:t>ner&gt;</a:t>
            </a:r>
            <a:r>
              <a:rPr b="0" lang="en-US" sz="2400" spc="-66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-35" strike="noStrike">
                <a:solidFill>
                  <a:srgbClr val="0d0d0d"/>
                </a:solidFill>
                <a:latin typeface="Arial MT"/>
                <a:ea typeface="標楷體"/>
              </a:rPr>
              <a:t>&lt;command&gt;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62" name="object 7"/>
          <p:cNvSpPr/>
          <p:nvPr/>
        </p:nvSpPr>
        <p:spPr>
          <a:xfrm>
            <a:off x="1118520" y="2979360"/>
            <a:ext cx="9050040" cy="4136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240" bIns="0" anchor="t">
            <a:spAutoFit/>
          </a:bodyPr>
          <a:p>
            <a:pPr marL="231120">
              <a:lnSpc>
                <a:spcPct val="100000"/>
              </a:lnSpc>
              <a:spcBef>
                <a:spcPts val="380"/>
              </a:spcBef>
              <a:buNone/>
              <a:tabLst>
                <a:tab algn="l" pos="4340160"/>
                <a:tab algn="l" pos="5095800"/>
              </a:tabLst>
            </a:pPr>
            <a:r>
              <a:rPr b="0" lang="en-US" sz="2400" spc="-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7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69" strike="noStrike">
                <a:solidFill>
                  <a:srgbClr val="0d0d0d"/>
                </a:solidFill>
                <a:latin typeface="Arial MT"/>
                <a:ea typeface="標楷體"/>
              </a:rPr>
              <a:t>docker</a:t>
            </a:r>
            <a:r>
              <a:rPr b="0" lang="en-US" sz="2400" spc="180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15" strike="noStrike">
                <a:solidFill>
                  <a:srgbClr val="0d0d0d"/>
                </a:solidFill>
                <a:latin typeface="Arial MT"/>
                <a:ea typeface="標楷體"/>
              </a:rPr>
              <a:t>exec</a:t>
            </a:r>
            <a:r>
              <a:rPr b="0" lang="en-US" sz="2400" spc="55" strike="noStrike">
                <a:solidFill>
                  <a:srgbClr val="0d0d0d"/>
                </a:solidFill>
                <a:latin typeface="Arial MT"/>
                <a:ea typeface="標楷體"/>
              </a:rPr>
              <a:t> -it</a:t>
            </a:r>
            <a:r>
              <a:rPr b="0" lang="en-US" sz="2400" spc="-120" strike="noStrike">
                <a:solidFill>
                  <a:srgbClr val="0d0d0d"/>
                </a:solidFill>
                <a:latin typeface="Arial MT"/>
                <a:ea typeface="標楷體"/>
              </a:rPr>
              <a:t> </a:t>
            </a:r>
            <a:r>
              <a:rPr b="0" lang="en-US" sz="2400" spc="205" strike="noStrike">
                <a:solidFill>
                  <a:srgbClr val="0d0d0d"/>
                </a:solidFill>
                <a:latin typeface="Arial MT"/>
                <a:ea typeface="標楷體"/>
              </a:rPr>
              <a:t>test </a:t>
            </a:r>
            <a:r>
              <a:rPr b="0" lang="en-US" sz="2400" spc="1" strike="noStrike">
                <a:solidFill>
                  <a:srgbClr val="0d0d0d"/>
                </a:solidFill>
                <a:latin typeface="Arial MT"/>
                <a:ea typeface="標楷體"/>
              </a:rPr>
              <a:t>bash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63" name="Picture 6" descr=""/>
          <p:cNvPicPr/>
          <p:nvPr/>
        </p:nvPicPr>
        <p:blipFill>
          <a:blip r:embed="rId1"/>
          <a:stretch/>
        </p:blipFill>
        <p:spPr>
          <a:xfrm>
            <a:off x="1118520" y="3759120"/>
            <a:ext cx="6602400" cy="64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Docker network - Create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a bridge network</a:t>
            </a: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Usage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E.g., Create a network bridge “testbr</a:t>
            </a:r>
            <a:r>
              <a:rPr b="0" lang="en-US" sz="2800" spc="-7" strike="noStrike">
                <a:solidFill>
                  <a:srgbClr val="3297fc"/>
                </a:solidFill>
                <a:latin typeface="Calibri"/>
                <a:ea typeface="標楷體"/>
              </a:rPr>
              <a:t>”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600" spc="-7" strike="noStrike">
                <a:solidFill>
                  <a:srgbClr val="3297fc"/>
                </a:solidFill>
                <a:latin typeface="Calibri"/>
                <a:ea typeface="標楷體"/>
              </a:rPr>
              <a:t>List networks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11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1A1C2859-DE32-4A33-8A9F-1887E1DEA30D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67" name="object 7"/>
          <p:cNvSpPr/>
          <p:nvPr/>
        </p:nvSpPr>
        <p:spPr>
          <a:xfrm>
            <a:off x="983520" y="2919240"/>
            <a:ext cx="900036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create testbr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68" name="文字方塊 7"/>
          <p:cNvSpPr/>
          <p:nvPr/>
        </p:nvSpPr>
        <p:spPr>
          <a:xfrm>
            <a:off x="8642160" y="5276160"/>
            <a:ext cx="1278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test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69" name="矩形 8"/>
          <p:cNvSpPr/>
          <p:nvPr/>
        </p:nvSpPr>
        <p:spPr>
          <a:xfrm>
            <a:off x="7392240" y="4005000"/>
            <a:ext cx="3681720" cy="2185560"/>
          </a:xfrm>
          <a:prstGeom prst="rect">
            <a:avLst/>
          </a:prstGeom>
          <a:noFill/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矩形 9"/>
          <p:cNvSpPr/>
          <p:nvPr/>
        </p:nvSpPr>
        <p:spPr>
          <a:xfrm>
            <a:off x="7743600" y="4187880"/>
            <a:ext cx="12787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docker0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71" name="矩形 10"/>
          <p:cNvSpPr/>
          <p:nvPr/>
        </p:nvSpPr>
        <p:spPr>
          <a:xfrm>
            <a:off x="9503640" y="4200480"/>
            <a:ext cx="1278720" cy="46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testbr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72" name="矩形 12"/>
          <p:cNvSpPr/>
          <p:nvPr/>
        </p:nvSpPr>
        <p:spPr>
          <a:xfrm>
            <a:off x="7741440" y="5239800"/>
            <a:ext cx="3080520" cy="821160"/>
          </a:xfrm>
          <a:prstGeom prst="rect">
            <a:avLst/>
          </a:prstGeom>
          <a:noFill/>
          <a:ln w="38100">
            <a:solidFill>
              <a:srgbClr val="7030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矩形 13"/>
          <p:cNvSpPr/>
          <p:nvPr/>
        </p:nvSpPr>
        <p:spPr>
          <a:xfrm>
            <a:off x="7963920" y="5008680"/>
            <a:ext cx="8521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eth0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74" name="文字方塊 15"/>
          <p:cNvSpPr/>
          <p:nvPr/>
        </p:nvSpPr>
        <p:spPr>
          <a:xfrm>
            <a:off x="9406440" y="5620680"/>
            <a:ext cx="14821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75" name="直線接點 18"/>
          <p:cNvSpPr/>
          <p:nvPr/>
        </p:nvSpPr>
        <p:spPr>
          <a:xfrm>
            <a:off x="8383320" y="4650120"/>
            <a:ext cx="360" cy="349560"/>
          </a:xfrm>
          <a:prstGeom prst="line">
            <a:avLst/>
          </a:prstGeom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文字方塊 25"/>
          <p:cNvSpPr/>
          <p:nvPr/>
        </p:nvSpPr>
        <p:spPr>
          <a:xfrm>
            <a:off x="8836560" y="3562560"/>
            <a:ext cx="890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Host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77" name="object 7"/>
          <p:cNvSpPr/>
          <p:nvPr/>
        </p:nvSpPr>
        <p:spPr>
          <a:xfrm>
            <a:off x="983520" y="1985760"/>
            <a:ext cx="900036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create &lt;bridge&gt;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78" name="object 7"/>
          <p:cNvSpPr/>
          <p:nvPr/>
        </p:nvSpPr>
        <p:spPr>
          <a:xfrm>
            <a:off x="983520" y="3852360"/>
            <a:ext cx="576828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ls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79" name="圖片 6" descr=""/>
          <p:cNvPicPr/>
          <p:nvPr/>
        </p:nvPicPr>
        <p:blipFill>
          <a:blip r:embed="rId1"/>
          <a:stretch/>
        </p:blipFill>
        <p:spPr>
          <a:xfrm>
            <a:off x="983520" y="4453920"/>
            <a:ext cx="5768280" cy="1841040"/>
          </a:xfrm>
          <a:prstGeom prst="rect">
            <a:avLst/>
          </a:prstGeom>
          <a:ln w="0">
            <a:noFill/>
          </a:ln>
        </p:spPr>
      </p:pic>
      <p:sp>
        <p:nvSpPr>
          <p:cNvPr id="180" name="矩形 14"/>
          <p:cNvSpPr/>
          <p:nvPr/>
        </p:nvSpPr>
        <p:spPr>
          <a:xfrm>
            <a:off x="983520" y="6005520"/>
            <a:ext cx="5768280" cy="2898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Network Environment after testbr Creation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12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75D91115-D8AA-41A9-BBAC-6BDAA4284589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84" name="object 15"/>
          <p:cNvSpPr/>
          <p:nvPr/>
        </p:nvSpPr>
        <p:spPr>
          <a:xfrm>
            <a:off x="5043600" y="1140120"/>
            <a:ext cx="2104200" cy="1108080"/>
          </a:xfrm>
          <a:custGeom>
            <a:avLst/>
            <a:gdLst/>
            <a:ahLst/>
            <a:rect l="l" t="t" r="r" b="b"/>
            <a:pathLst>
              <a:path w="2105025" h="1108710">
                <a:moveTo>
                  <a:pt x="191537" y="365040"/>
                </a:moveTo>
                <a:lnTo>
                  <a:pt x="188615" y="326734"/>
                </a:lnTo>
                <a:lnTo>
                  <a:pt x="207525" y="254144"/>
                </a:lnTo>
                <a:lnTo>
                  <a:pt x="228200" y="220953"/>
                </a:lnTo>
                <a:lnTo>
                  <a:pt x="255583" y="190558"/>
                </a:lnTo>
                <a:lnTo>
                  <a:pt x="289093" y="163508"/>
                </a:lnTo>
                <a:lnTo>
                  <a:pt x="328153" y="140348"/>
                </a:lnTo>
                <a:lnTo>
                  <a:pt x="372183" y="121625"/>
                </a:lnTo>
                <a:lnTo>
                  <a:pt x="420603" y="107884"/>
                </a:lnTo>
                <a:lnTo>
                  <a:pt x="472835" y="99673"/>
                </a:lnTo>
                <a:lnTo>
                  <a:pt x="527526" y="97639"/>
                </a:lnTo>
                <a:lnTo>
                  <a:pt x="581563" y="102099"/>
                </a:lnTo>
                <a:lnTo>
                  <a:pt x="633834" y="112893"/>
                </a:lnTo>
                <a:lnTo>
                  <a:pt x="683228" y="129862"/>
                </a:lnTo>
                <a:lnTo>
                  <a:pt x="712416" y="98460"/>
                </a:lnTo>
                <a:lnTo>
                  <a:pt x="748619" y="72652"/>
                </a:lnTo>
                <a:lnTo>
                  <a:pt x="790426" y="52750"/>
                </a:lnTo>
                <a:lnTo>
                  <a:pt x="836425" y="39064"/>
                </a:lnTo>
                <a:lnTo>
                  <a:pt x="885205" y="31903"/>
                </a:lnTo>
                <a:lnTo>
                  <a:pt x="935356" y="31579"/>
                </a:lnTo>
                <a:lnTo>
                  <a:pt x="985465" y="38401"/>
                </a:lnTo>
                <a:lnTo>
                  <a:pt x="1034124" y="52680"/>
                </a:lnTo>
                <a:lnTo>
                  <a:pt x="1080582" y="75353"/>
                </a:lnTo>
                <a:lnTo>
                  <a:pt x="1094427" y="84458"/>
                </a:lnTo>
                <a:lnTo>
                  <a:pt x="1121184" y="54966"/>
                </a:lnTo>
                <a:lnTo>
                  <a:pt x="1155438" y="31363"/>
                </a:lnTo>
                <a:lnTo>
                  <a:pt x="1195476" y="14061"/>
                </a:lnTo>
                <a:lnTo>
                  <a:pt x="1239591" y="3469"/>
                </a:lnTo>
                <a:lnTo>
                  <a:pt x="1286071" y="0"/>
                </a:lnTo>
                <a:lnTo>
                  <a:pt x="1333207" y="4062"/>
                </a:lnTo>
                <a:lnTo>
                  <a:pt x="1379290" y="16066"/>
                </a:lnTo>
                <a:lnTo>
                  <a:pt x="1419842" y="35013"/>
                </a:lnTo>
                <a:lnTo>
                  <a:pt x="1453371" y="60057"/>
                </a:lnTo>
                <a:lnTo>
                  <a:pt x="1493170" y="33356"/>
                </a:lnTo>
                <a:lnTo>
                  <a:pt x="1538896" y="14421"/>
                </a:lnTo>
                <a:lnTo>
                  <a:pt x="1588550" y="3373"/>
                </a:lnTo>
                <a:lnTo>
                  <a:pt x="1640133" y="327"/>
                </a:lnTo>
                <a:lnTo>
                  <a:pt x="1691645" y="5404"/>
                </a:lnTo>
                <a:lnTo>
                  <a:pt x="1741087" y="18719"/>
                </a:lnTo>
                <a:lnTo>
                  <a:pt x="1786460" y="40393"/>
                </a:lnTo>
                <a:lnTo>
                  <a:pt x="1838393" y="84953"/>
                </a:lnTo>
                <a:lnTo>
                  <a:pt x="1866237" y="139454"/>
                </a:lnTo>
                <a:lnTo>
                  <a:pt x="1921845" y="155448"/>
                </a:lnTo>
                <a:lnTo>
                  <a:pt x="1969416" y="179307"/>
                </a:lnTo>
                <a:lnTo>
                  <a:pt x="2007856" y="209658"/>
                </a:lnTo>
                <a:lnTo>
                  <a:pt x="2036072" y="245127"/>
                </a:lnTo>
                <a:lnTo>
                  <a:pt x="2052970" y="284337"/>
                </a:lnTo>
                <a:lnTo>
                  <a:pt x="2057456" y="325915"/>
                </a:lnTo>
                <a:lnTo>
                  <a:pt x="2048438" y="368485"/>
                </a:lnTo>
                <a:lnTo>
                  <a:pt x="2045913" y="374721"/>
                </a:lnTo>
                <a:lnTo>
                  <a:pt x="2043088" y="380888"/>
                </a:lnTo>
                <a:lnTo>
                  <a:pt x="2039967" y="386981"/>
                </a:lnTo>
                <a:lnTo>
                  <a:pt x="2036553" y="392994"/>
                </a:lnTo>
                <a:lnTo>
                  <a:pt x="2068435" y="429031"/>
                </a:lnTo>
                <a:lnTo>
                  <a:pt x="2090263" y="467457"/>
                </a:lnTo>
                <a:lnTo>
                  <a:pt x="2102207" y="507335"/>
                </a:lnTo>
                <a:lnTo>
                  <a:pt x="2104439" y="547727"/>
                </a:lnTo>
                <a:lnTo>
                  <a:pt x="2097131" y="587698"/>
                </a:lnTo>
                <a:lnTo>
                  <a:pt x="2080453" y="626311"/>
                </a:lnTo>
                <a:lnTo>
                  <a:pt x="2054577" y="662628"/>
                </a:lnTo>
                <a:lnTo>
                  <a:pt x="2019673" y="695715"/>
                </a:lnTo>
                <a:lnTo>
                  <a:pt x="1975915" y="724633"/>
                </a:lnTo>
                <a:lnTo>
                  <a:pt x="1940758" y="741548"/>
                </a:lnTo>
                <a:lnTo>
                  <a:pt x="1903029" y="755043"/>
                </a:lnTo>
                <a:lnTo>
                  <a:pt x="1863208" y="764973"/>
                </a:lnTo>
                <a:lnTo>
                  <a:pt x="1821776" y="771193"/>
                </a:lnTo>
                <a:lnTo>
                  <a:pt x="1815602" y="811830"/>
                </a:lnTo>
                <a:lnTo>
                  <a:pt x="1798777" y="849615"/>
                </a:lnTo>
                <a:lnTo>
                  <a:pt x="1772442" y="883744"/>
                </a:lnTo>
                <a:lnTo>
                  <a:pt x="1737738" y="913413"/>
                </a:lnTo>
                <a:lnTo>
                  <a:pt x="1695804" y="937814"/>
                </a:lnTo>
                <a:lnTo>
                  <a:pt x="1647784" y="956145"/>
                </a:lnTo>
                <a:lnTo>
                  <a:pt x="1594816" y="967600"/>
                </a:lnTo>
                <a:lnTo>
                  <a:pt x="1538044" y="971373"/>
                </a:lnTo>
                <a:lnTo>
                  <a:pt x="1499390" y="969237"/>
                </a:lnTo>
                <a:lnTo>
                  <a:pt x="1461686" y="963350"/>
                </a:lnTo>
                <a:lnTo>
                  <a:pt x="1425460" y="953821"/>
                </a:lnTo>
                <a:lnTo>
                  <a:pt x="1391238" y="940760"/>
                </a:lnTo>
                <a:lnTo>
                  <a:pt x="1371679" y="976561"/>
                </a:lnTo>
                <a:lnTo>
                  <a:pt x="1345115" y="1008778"/>
                </a:lnTo>
                <a:lnTo>
                  <a:pt x="1312388" y="1037086"/>
                </a:lnTo>
                <a:lnTo>
                  <a:pt x="1274342" y="1061159"/>
                </a:lnTo>
                <a:lnTo>
                  <a:pt x="1231821" y="1080674"/>
                </a:lnTo>
                <a:lnTo>
                  <a:pt x="1185666" y="1095306"/>
                </a:lnTo>
                <a:lnTo>
                  <a:pt x="1136723" y="1104729"/>
                </a:lnTo>
                <a:lnTo>
                  <a:pt x="1085835" y="1108619"/>
                </a:lnTo>
                <a:lnTo>
                  <a:pt x="1033844" y="1106652"/>
                </a:lnTo>
                <a:lnTo>
                  <a:pt x="981594" y="1098502"/>
                </a:lnTo>
                <a:lnTo>
                  <a:pt x="929033" y="1083386"/>
                </a:lnTo>
                <a:lnTo>
                  <a:pt x="881188" y="1062178"/>
                </a:lnTo>
                <a:lnTo>
                  <a:pt x="839066" y="1035414"/>
                </a:lnTo>
                <a:lnTo>
                  <a:pt x="803672" y="1003631"/>
                </a:lnTo>
                <a:lnTo>
                  <a:pt x="758219" y="1020422"/>
                </a:lnTo>
                <a:lnTo>
                  <a:pt x="711173" y="1032392"/>
                </a:lnTo>
                <a:lnTo>
                  <a:pt x="663147" y="1039651"/>
                </a:lnTo>
                <a:lnTo>
                  <a:pt x="614757" y="1042310"/>
                </a:lnTo>
                <a:lnTo>
                  <a:pt x="566616" y="1040478"/>
                </a:lnTo>
                <a:lnTo>
                  <a:pt x="519338" y="1034266"/>
                </a:lnTo>
                <a:lnTo>
                  <a:pt x="473538" y="1023783"/>
                </a:lnTo>
                <a:lnTo>
                  <a:pt x="429830" y="1009140"/>
                </a:lnTo>
                <a:lnTo>
                  <a:pt x="388827" y="990448"/>
                </a:lnTo>
                <a:lnTo>
                  <a:pt x="351145" y="967816"/>
                </a:lnTo>
                <a:lnTo>
                  <a:pt x="317397" y="941354"/>
                </a:lnTo>
                <a:lnTo>
                  <a:pt x="288197" y="911172"/>
                </a:lnTo>
                <a:lnTo>
                  <a:pt x="284227" y="906302"/>
                </a:lnTo>
                <a:lnTo>
                  <a:pt x="227331" y="905621"/>
                </a:lnTo>
                <a:lnTo>
                  <a:pt x="174506" y="894649"/>
                </a:lnTo>
                <a:lnTo>
                  <a:pt x="127996" y="874655"/>
                </a:lnTo>
                <a:lnTo>
                  <a:pt x="90045" y="846907"/>
                </a:lnTo>
                <a:lnTo>
                  <a:pt x="62897" y="812674"/>
                </a:lnTo>
                <a:lnTo>
                  <a:pt x="48796" y="773224"/>
                </a:lnTo>
                <a:lnTo>
                  <a:pt x="48445" y="740113"/>
                </a:lnTo>
                <a:lnTo>
                  <a:pt x="57970" y="708096"/>
                </a:lnTo>
                <a:lnTo>
                  <a:pt x="76863" y="678284"/>
                </a:lnTo>
                <a:lnTo>
                  <a:pt x="104612" y="651787"/>
                </a:lnTo>
                <a:lnTo>
                  <a:pt x="59930" y="626599"/>
                </a:lnTo>
                <a:lnTo>
                  <a:pt x="27120" y="594923"/>
                </a:lnTo>
                <a:lnTo>
                  <a:pt x="6903" y="558749"/>
                </a:lnTo>
                <a:lnTo>
                  <a:pt x="0" y="520065"/>
                </a:lnTo>
                <a:lnTo>
                  <a:pt x="7130" y="480860"/>
                </a:lnTo>
                <a:lnTo>
                  <a:pt x="29015" y="443123"/>
                </a:lnTo>
                <a:lnTo>
                  <a:pt x="59071" y="414474"/>
                </a:lnTo>
                <a:lnTo>
                  <a:pt x="97029" y="391953"/>
                </a:lnTo>
                <a:lnTo>
                  <a:pt x="141167" y="376359"/>
                </a:lnTo>
                <a:lnTo>
                  <a:pt x="189766" y="368491"/>
                </a:lnTo>
                <a:lnTo>
                  <a:pt x="191537" y="365040"/>
                </a:lnTo>
                <a:close/>
              </a:path>
              <a:path w="2105025" h="1108710">
                <a:moveTo>
                  <a:pt x="230122" y="667916"/>
                </a:moveTo>
                <a:lnTo>
                  <a:pt x="197952" y="667952"/>
                </a:lnTo>
                <a:lnTo>
                  <a:pt x="166326" y="664497"/>
                </a:lnTo>
                <a:lnTo>
                  <a:pt x="135784" y="657640"/>
                </a:lnTo>
                <a:lnTo>
                  <a:pt x="106867" y="647471"/>
                </a:lnTo>
              </a:path>
              <a:path w="2105025" h="1108710">
                <a:moveTo>
                  <a:pt x="338872" y="891654"/>
                </a:moveTo>
                <a:lnTo>
                  <a:pt x="325750" y="895050"/>
                </a:lnTo>
                <a:lnTo>
                  <a:pt x="312359" y="897817"/>
                </a:lnTo>
                <a:lnTo>
                  <a:pt x="298743" y="899950"/>
                </a:lnTo>
                <a:lnTo>
                  <a:pt x="284945" y="901439"/>
                </a:lnTo>
              </a:path>
              <a:path w="2105025" h="1108710">
                <a:moveTo>
                  <a:pt x="803552" y="999163"/>
                </a:moveTo>
                <a:lnTo>
                  <a:pt x="794194" y="988484"/>
                </a:lnTo>
                <a:lnTo>
                  <a:pt x="785647" y="977470"/>
                </a:lnTo>
                <a:lnTo>
                  <a:pt x="777930" y="966143"/>
                </a:lnTo>
                <a:lnTo>
                  <a:pt x="771059" y="954527"/>
                </a:lnTo>
              </a:path>
              <a:path w="2105025" h="1108710">
                <a:moveTo>
                  <a:pt x="1404424" y="887858"/>
                </a:moveTo>
                <a:lnTo>
                  <a:pt x="1402533" y="900274"/>
                </a:lnTo>
                <a:lnTo>
                  <a:pt x="1399736" y="912593"/>
                </a:lnTo>
                <a:lnTo>
                  <a:pt x="1396039" y="924789"/>
                </a:lnTo>
                <a:lnTo>
                  <a:pt x="1391450" y="936835"/>
                </a:lnTo>
              </a:path>
              <a:path w="2105025" h="1108710">
                <a:moveTo>
                  <a:pt x="1662406" y="585239"/>
                </a:moveTo>
                <a:lnTo>
                  <a:pt x="1716394" y="609888"/>
                </a:lnTo>
                <a:lnTo>
                  <a:pt x="1760477" y="641986"/>
                </a:lnTo>
                <a:lnTo>
                  <a:pt x="1793388" y="680063"/>
                </a:lnTo>
                <a:lnTo>
                  <a:pt x="1813855" y="722651"/>
                </a:lnTo>
                <a:lnTo>
                  <a:pt x="1820612" y="768283"/>
                </a:lnTo>
              </a:path>
              <a:path w="2105025" h="1108710">
                <a:moveTo>
                  <a:pt x="2035561" y="390282"/>
                </a:moveTo>
                <a:lnTo>
                  <a:pt x="2022185" y="409555"/>
                </a:lnTo>
                <a:lnTo>
                  <a:pt x="2005867" y="427534"/>
                </a:lnTo>
                <a:lnTo>
                  <a:pt x="1986785" y="444046"/>
                </a:lnTo>
                <a:lnTo>
                  <a:pt x="1965116" y="458919"/>
                </a:lnTo>
              </a:path>
              <a:path w="2105025" h="1108710">
                <a:moveTo>
                  <a:pt x="1866525" y="135607"/>
                </a:moveTo>
                <a:lnTo>
                  <a:pt x="1868271" y="143655"/>
                </a:lnTo>
                <a:lnTo>
                  <a:pt x="1869475" y="151750"/>
                </a:lnTo>
                <a:lnTo>
                  <a:pt x="1870132" y="159877"/>
                </a:lnTo>
                <a:lnTo>
                  <a:pt x="1870244" y="168022"/>
                </a:lnTo>
              </a:path>
              <a:path w="2105025" h="1108710">
                <a:moveTo>
                  <a:pt x="1416637" y="97795"/>
                </a:moveTo>
                <a:lnTo>
                  <a:pt x="1424072" y="86779"/>
                </a:lnTo>
                <a:lnTo>
                  <a:pt x="1432590" y="76190"/>
                </a:lnTo>
                <a:lnTo>
                  <a:pt x="1442152" y="66068"/>
                </a:lnTo>
                <a:lnTo>
                  <a:pt x="1452725" y="56455"/>
                </a:lnTo>
              </a:path>
              <a:path w="2105025" h="1108710">
                <a:moveTo>
                  <a:pt x="1079100" y="117496"/>
                </a:moveTo>
                <a:lnTo>
                  <a:pt x="1082304" y="108303"/>
                </a:lnTo>
                <a:lnTo>
                  <a:pt x="1086294" y="99279"/>
                </a:lnTo>
                <a:lnTo>
                  <a:pt x="1091057" y="90451"/>
                </a:lnTo>
                <a:lnTo>
                  <a:pt x="1096579" y="81843"/>
                </a:lnTo>
              </a:path>
              <a:path w="2105025" h="1108710">
                <a:moveTo>
                  <a:pt x="682978" y="129604"/>
                </a:moveTo>
                <a:lnTo>
                  <a:pt x="699866" y="137206"/>
                </a:lnTo>
                <a:lnTo>
                  <a:pt x="716066" y="145521"/>
                </a:lnTo>
                <a:lnTo>
                  <a:pt x="731534" y="154524"/>
                </a:lnTo>
                <a:lnTo>
                  <a:pt x="746227" y="164193"/>
                </a:lnTo>
              </a:path>
              <a:path w="2105025" h="1108710">
                <a:moveTo>
                  <a:pt x="202582" y="401440"/>
                </a:moveTo>
                <a:lnTo>
                  <a:pt x="199072" y="392465"/>
                </a:lnTo>
                <a:lnTo>
                  <a:pt x="196060" y="383401"/>
                </a:lnTo>
                <a:lnTo>
                  <a:pt x="193550" y="374259"/>
                </a:lnTo>
                <a:lnTo>
                  <a:pt x="191544" y="365049"/>
                </a:lnTo>
              </a:path>
            </a:pathLst>
          </a:custGeom>
          <a:noFill/>
          <a:ln w="38100">
            <a:solidFill>
              <a:srgbClr val="3297f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object 16"/>
          <p:cNvSpPr/>
          <p:nvPr/>
        </p:nvSpPr>
        <p:spPr>
          <a:xfrm>
            <a:off x="5581080" y="1426320"/>
            <a:ext cx="102924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</a:t>
            </a:r>
            <a:r>
              <a:rPr b="0" lang="en-US" sz="2400" spc="-26" strike="noStrike">
                <a:solidFill>
                  <a:srgbClr val="3297fc"/>
                </a:solidFill>
                <a:latin typeface="Calibri"/>
                <a:ea typeface="標楷體"/>
              </a:rPr>
              <a:t>n</a:t>
            </a:r>
            <a:r>
              <a:rPr b="0" lang="en-US" sz="2400" spc="-32" strike="noStrike">
                <a:solidFill>
                  <a:srgbClr val="3297fc"/>
                </a:solidFill>
                <a:latin typeface="Calibri"/>
                <a:ea typeface="標楷體"/>
              </a:rPr>
              <a:t>t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e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rn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e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86" name="文字方塊 48"/>
          <p:cNvSpPr/>
          <p:nvPr/>
        </p:nvSpPr>
        <p:spPr>
          <a:xfrm>
            <a:off x="5528160" y="4858920"/>
            <a:ext cx="1278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test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87" name="矩形 49"/>
          <p:cNvSpPr/>
          <p:nvPr/>
        </p:nvSpPr>
        <p:spPr>
          <a:xfrm>
            <a:off x="4280040" y="2842200"/>
            <a:ext cx="3783960" cy="3094920"/>
          </a:xfrm>
          <a:prstGeom prst="rect">
            <a:avLst/>
          </a:prstGeom>
          <a:noFill/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矩形 27"/>
          <p:cNvSpPr/>
          <p:nvPr/>
        </p:nvSpPr>
        <p:spPr>
          <a:xfrm>
            <a:off x="5528160" y="2598840"/>
            <a:ext cx="12787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eth0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89" name="矩形 50"/>
          <p:cNvSpPr/>
          <p:nvPr/>
        </p:nvSpPr>
        <p:spPr>
          <a:xfrm>
            <a:off x="4631760" y="3334680"/>
            <a:ext cx="12787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docker0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0" name="矩形 51"/>
          <p:cNvSpPr/>
          <p:nvPr/>
        </p:nvSpPr>
        <p:spPr>
          <a:xfrm>
            <a:off x="6433560" y="3334680"/>
            <a:ext cx="12787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testbr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1" name="直線接點 53"/>
          <p:cNvSpPr/>
          <p:nvPr/>
        </p:nvSpPr>
        <p:spPr>
          <a:xfrm>
            <a:off x="5663880" y="3060720"/>
            <a:ext cx="360" cy="273600"/>
          </a:xfrm>
          <a:prstGeom prst="line">
            <a:avLst/>
          </a:prstGeom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矩形 57"/>
          <p:cNvSpPr/>
          <p:nvPr/>
        </p:nvSpPr>
        <p:spPr>
          <a:xfrm>
            <a:off x="5255640" y="4649760"/>
            <a:ext cx="1720800" cy="722880"/>
          </a:xfrm>
          <a:prstGeom prst="rect">
            <a:avLst/>
          </a:prstGeom>
          <a:noFill/>
          <a:ln w="38100">
            <a:solidFill>
              <a:srgbClr val="7030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矩形 58"/>
          <p:cNvSpPr/>
          <p:nvPr/>
        </p:nvSpPr>
        <p:spPr>
          <a:xfrm>
            <a:off x="5707440" y="4389840"/>
            <a:ext cx="8521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eth0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4" name="文字方塊 59"/>
          <p:cNvSpPr/>
          <p:nvPr/>
        </p:nvSpPr>
        <p:spPr>
          <a:xfrm>
            <a:off x="5528160" y="5989320"/>
            <a:ext cx="1278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Host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5" name="文字方塊 60"/>
          <p:cNvSpPr/>
          <p:nvPr/>
        </p:nvSpPr>
        <p:spPr>
          <a:xfrm>
            <a:off x="5178240" y="5389560"/>
            <a:ext cx="1986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6" name="肘形接點 62"/>
          <p:cNvSpPr/>
          <p:nvPr/>
        </p:nvSpPr>
        <p:spPr>
          <a:xfrm flipH="1" rot="16200000">
            <a:off x="5406120" y="3661920"/>
            <a:ext cx="592200" cy="861840"/>
          </a:xfrm>
          <a:prstGeom prst="bentConnector3">
            <a:avLst>
              <a:gd name="adj1" fmla="val 50000"/>
            </a:avLst>
          </a:prstGeom>
          <a:noFill/>
          <a:ln w="38100">
            <a:solidFill>
              <a:srgbClr val="3197f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97" name="直線接點 63"/>
          <p:cNvSpPr/>
          <p:nvPr/>
        </p:nvSpPr>
        <p:spPr>
          <a:xfrm>
            <a:off x="6167880" y="2248560"/>
            <a:ext cx="360" cy="350280"/>
          </a:xfrm>
          <a:prstGeom prst="line">
            <a:avLst/>
          </a:prstGeom>
          <a:ln w="38100">
            <a:solidFill>
              <a:srgbClr val="3197fd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Docker network - Connect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Connect to a bridge network</a:t>
            </a: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Usage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E.g., Connect container “test” to bridge “testbr”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8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Docker will add an interface on the container and assign an IP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3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A3FD0391-9F6D-4701-9F5B-B5BEB7E4674E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01" name="object 7"/>
          <p:cNvSpPr/>
          <p:nvPr/>
        </p:nvSpPr>
        <p:spPr>
          <a:xfrm>
            <a:off x="983520" y="2023200"/>
            <a:ext cx="9000360" cy="7776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connect &lt;network&gt; &lt;container&gt;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02" name="文字方塊 7"/>
          <p:cNvSpPr/>
          <p:nvPr/>
        </p:nvSpPr>
        <p:spPr>
          <a:xfrm>
            <a:off x="8642160" y="5455080"/>
            <a:ext cx="1278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test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03" name="矩形 8"/>
          <p:cNvSpPr/>
          <p:nvPr/>
        </p:nvSpPr>
        <p:spPr>
          <a:xfrm>
            <a:off x="7392240" y="4183920"/>
            <a:ext cx="3681720" cy="2185560"/>
          </a:xfrm>
          <a:prstGeom prst="rect">
            <a:avLst/>
          </a:prstGeom>
          <a:noFill/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矩形 9"/>
          <p:cNvSpPr/>
          <p:nvPr/>
        </p:nvSpPr>
        <p:spPr>
          <a:xfrm>
            <a:off x="7743600" y="4366800"/>
            <a:ext cx="12787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docker0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05" name="矩形 10"/>
          <p:cNvSpPr/>
          <p:nvPr/>
        </p:nvSpPr>
        <p:spPr>
          <a:xfrm>
            <a:off x="9503640" y="4379760"/>
            <a:ext cx="12787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testbr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06" name="矩形 12"/>
          <p:cNvSpPr/>
          <p:nvPr/>
        </p:nvSpPr>
        <p:spPr>
          <a:xfrm>
            <a:off x="7741440" y="5418720"/>
            <a:ext cx="3080520" cy="821160"/>
          </a:xfrm>
          <a:prstGeom prst="rect">
            <a:avLst/>
          </a:prstGeom>
          <a:noFill/>
          <a:ln w="38100">
            <a:solidFill>
              <a:srgbClr val="7030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矩形 13"/>
          <p:cNvSpPr/>
          <p:nvPr/>
        </p:nvSpPr>
        <p:spPr>
          <a:xfrm>
            <a:off x="7963920" y="5187600"/>
            <a:ext cx="852120" cy="4615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eth0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08" name="文字方塊 15"/>
          <p:cNvSpPr/>
          <p:nvPr/>
        </p:nvSpPr>
        <p:spPr>
          <a:xfrm>
            <a:off x="9406440" y="5799600"/>
            <a:ext cx="14821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Container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09" name="矩形 17"/>
          <p:cNvSpPr/>
          <p:nvPr/>
        </p:nvSpPr>
        <p:spPr>
          <a:xfrm>
            <a:off x="9717120" y="5178960"/>
            <a:ext cx="852120" cy="46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eth1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10" name="直線接點 18"/>
          <p:cNvSpPr/>
          <p:nvPr/>
        </p:nvSpPr>
        <p:spPr>
          <a:xfrm>
            <a:off x="8383320" y="4829040"/>
            <a:ext cx="360" cy="349560"/>
          </a:xfrm>
          <a:prstGeom prst="line">
            <a:avLst/>
          </a:prstGeom>
          <a:ln w="38100">
            <a:solidFill>
              <a:srgbClr val="3197f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直線接點 21"/>
          <p:cNvSpPr/>
          <p:nvPr/>
        </p:nvSpPr>
        <p:spPr>
          <a:xfrm>
            <a:off x="10143360" y="4841640"/>
            <a:ext cx="360" cy="336960"/>
          </a:xfrm>
          <a:prstGeom prst="line">
            <a:avLst/>
          </a:prstGeom>
          <a:ln w="3810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文字方塊 25"/>
          <p:cNvSpPr/>
          <p:nvPr/>
        </p:nvSpPr>
        <p:spPr>
          <a:xfrm>
            <a:off x="6557760" y="4033080"/>
            <a:ext cx="890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bfbfbf"/>
                </a:solidFill>
                <a:latin typeface="Calibri"/>
                <a:ea typeface="標楷體"/>
              </a:rPr>
              <a:t>Host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13" name="object 7"/>
          <p:cNvSpPr/>
          <p:nvPr/>
        </p:nvSpPr>
        <p:spPr>
          <a:xfrm>
            <a:off x="983520" y="2947320"/>
            <a:ext cx="900036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connect testbr test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Steps to Setup Example Scenario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20560" y="996840"/>
            <a:ext cx="11036160" cy="548856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514440" indent="-51444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AutoNum type="arabicPeriod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Prepare Docker images</a:t>
            </a:r>
            <a:endParaRPr b="0" lang="en-US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AutoNum type="arabicPeriod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containers</a:t>
            </a:r>
            <a:endParaRPr b="0" lang="en-US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AutoNum type="arabicPeriod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Setup container networks</a:t>
            </a:r>
            <a:endParaRPr b="0" lang="en-US" sz="2800" spc="-1" strike="noStrike">
              <a:latin typeface="Arial"/>
            </a:endParaRPr>
          </a:p>
          <a:p>
            <a:pPr lvl="1" marL="787320" indent="-51444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Setup network for domains</a:t>
            </a:r>
            <a:endParaRPr b="0" lang="en-US" sz="2600" spc="-1" strike="noStrike">
              <a:latin typeface="Arial"/>
            </a:endParaRPr>
          </a:p>
          <a:p>
            <a:pPr lvl="1" marL="787320" indent="-51444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Connect domains</a:t>
            </a:r>
            <a:endParaRPr b="0" lang="en-US" sz="26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AutoNum type="arabicPeriod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Configure host gateways</a:t>
            </a:r>
            <a:endParaRPr b="0" lang="en-US" sz="2800" spc="-1" strike="noStrike">
              <a:latin typeface="Arial"/>
            </a:endParaRPr>
          </a:p>
          <a:p>
            <a:pPr lvl="1" marL="787320" indent="-51444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Gateway of h1 = R1</a:t>
            </a:r>
            <a:endParaRPr b="0" lang="en-US" sz="2600" spc="-1" strike="noStrike">
              <a:latin typeface="Arial"/>
            </a:endParaRPr>
          </a:p>
          <a:p>
            <a:pPr lvl="1" marL="787320" indent="-51444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Gateway of h2 = R2</a:t>
            </a:r>
            <a:endParaRPr b="0" lang="en-US" sz="26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AutoNum type="arabicPeriod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Setup routers</a:t>
            </a:r>
            <a:endParaRPr b="0" lang="en-US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AutoNum type="arabicPeriod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Check routes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14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5691F5F-27E3-4FD3-8758-188B04F4865C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grpSp>
        <p:nvGrpSpPr>
          <p:cNvPr id="217" name="Group 6"/>
          <p:cNvGrpSpPr/>
          <p:nvPr/>
        </p:nvGrpSpPr>
        <p:grpSpPr>
          <a:xfrm>
            <a:off x="4644720" y="3741480"/>
            <a:ext cx="6912000" cy="2639160"/>
            <a:chOff x="4644720" y="3741480"/>
            <a:chExt cx="6912000" cy="2639160"/>
          </a:xfrm>
        </p:grpSpPr>
        <p:sp>
          <p:nvSpPr>
            <p:cNvPr id="218" name="圓角矩形 5"/>
            <p:cNvSpPr/>
            <p:nvPr/>
          </p:nvSpPr>
          <p:spPr>
            <a:xfrm>
              <a:off x="4644720" y="3741480"/>
              <a:ext cx="6912000" cy="263916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9" name="圓角矩形 16"/>
            <p:cNvSpPr/>
            <p:nvPr/>
          </p:nvSpPr>
          <p:spPr>
            <a:xfrm>
              <a:off x="4860720" y="4145760"/>
              <a:ext cx="6552000" cy="208656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0" name="文字方塊 34"/>
            <p:cNvSpPr/>
            <p:nvPr/>
          </p:nvSpPr>
          <p:spPr>
            <a:xfrm>
              <a:off x="4835160" y="4145760"/>
              <a:ext cx="128304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3197fe"/>
                  </a:solidFill>
                  <a:latin typeface="Calibri"/>
                  <a:ea typeface="標楷體"/>
                </a:rPr>
                <a:t>Docker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221" name="直線接點 36"/>
            <p:cNvSpPr/>
            <p:nvPr/>
          </p:nvSpPr>
          <p:spPr>
            <a:xfrm>
              <a:off x="6358680" y="5487480"/>
              <a:ext cx="293760" cy="360"/>
            </a:xfrm>
            <a:prstGeom prst="line">
              <a:avLst/>
            </a:prstGeom>
            <a:ln w="19050">
              <a:solidFill>
                <a:srgbClr val="000000"/>
              </a:solidFill>
              <a:round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/>
          </p:style>
        </p:sp>
        <p:sp>
          <p:nvSpPr>
            <p:cNvPr id="222" name="直線接點 37"/>
            <p:cNvSpPr/>
            <p:nvPr/>
          </p:nvSpPr>
          <p:spPr>
            <a:xfrm>
              <a:off x="7851240" y="5487480"/>
              <a:ext cx="657000" cy="360"/>
            </a:xfrm>
            <a:prstGeom prst="line">
              <a:avLst/>
            </a:prstGeom>
            <a:ln w="19050">
              <a:solidFill>
                <a:srgbClr val="000000"/>
              </a:solidFill>
              <a:round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/>
          </p:style>
        </p:sp>
        <p:sp>
          <p:nvSpPr>
            <p:cNvPr id="223" name="文字方塊 47"/>
            <p:cNvSpPr/>
            <p:nvPr/>
          </p:nvSpPr>
          <p:spPr>
            <a:xfrm>
              <a:off x="4930920" y="3741480"/>
              <a:ext cx="184716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3197fe"/>
                  </a:solidFill>
                  <a:latin typeface="Calibri"/>
                  <a:ea typeface="標楷體"/>
                </a:rPr>
                <a:t>Virtual</a:t>
              </a:r>
              <a:r>
                <a:rPr b="0" lang="en-US" sz="2000" spc="-1" strike="noStrike">
                  <a:solidFill>
                    <a:srgbClr val="a6a6a6"/>
                  </a:solidFill>
                  <a:latin typeface="Calibri"/>
                  <a:ea typeface="標楷體"/>
                </a:rPr>
                <a:t> </a:t>
              </a:r>
              <a:r>
                <a:rPr b="0" lang="en-US" sz="2000" spc="-1" strike="noStrike">
                  <a:solidFill>
                    <a:srgbClr val="3197fe"/>
                  </a:solidFill>
                  <a:latin typeface="Calibri"/>
                  <a:ea typeface="標楷體"/>
                </a:rPr>
                <a:t>Machine</a:t>
              </a:r>
              <a:endParaRPr b="0" lang="en-US" sz="2000" spc="-1" strike="noStrike">
                <a:latin typeface="Arial"/>
              </a:endParaRPr>
            </a:p>
          </p:txBody>
        </p:sp>
        <p:grpSp>
          <p:nvGrpSpPr>
            <p:cNvPr id="224" name="Group 30"/>
            <p:cNvGrpSpPr/>
            <p:nvPr/>
          </p:nvGrpSpPr>
          <p:grpSpPr>
            <a:xfrm>
              <a:off x="4959720" y="4586760"/>
              <a:ext cx="3020040" cy="1515960"/>
              <a:chOff x="4959720" y="4586760"/>
              <a:chExt cx="3020040" cy="1515960"/>
            </a:xfrm>
          </p:grpSpPr>
          <p:grpSp>
            <p:nvGrpSpPr>
              <p:cNvPr id="225" name="群組 17"/>
              <p:cNvGrpSpPr/>
              <p:nvPr/>
            </p:nvGrpSpPr>
            <p:grpSpPr>
              <a:xfrm>
                <a:off x="6612120" y="4964040"/>
                <a:ext cx="1278720" cy="1072440"/>
                <a:chOff x="6612120" y="4964040"/>
                <a:chExt cx="1278720" cy="1072440"/>
              </a:xfrm>
            </p:grpSpPr>
            <p:pic>
              <p:nvPicPr>
                <p:cNvPr id="226" name="圖形 18" descr=""/>
                <p:cNvPicPr/>
                <p:nvPr/>
              </p:nvPicPr>
              <p:blipFill>
                <a:blip r:embed="rId1"/>
                <a:stretch/>
              </p:blipFill>
              <p:spPr>
                <a:xfrm>
                  <a:off x="6896880" y="5176800"/>
                  <a:ext cx="709200" cy="47268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227" name="圓角矩形 19"/>
                <p:cNvSpPr/>
                <p:nvPr/>
              </p:nvSpPr>
              <p:spPr>
                <a:xfrm>
                  <a:off x="6652800" y="4964040"/>
                  <a:ext cx="1198080" cy="104724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000000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228" name="文字方塊 20"/>
                <p:cNvSpPr/>
                <p:nvPr/>
              </p:nvSpPr>
              <p:spPr>
                <a:xfrm>
                  <a:off x="6612120" y="5641920"/>
                  <a:ext cx="127872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R1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grpSp>
            <p:nvGrpSpPr>
              <p:cNvPr id="229" name="群組 21"/>
              <p:cNvGrpSpPr/>
              <p:nvPr/>
            </p:nvGrpSpPr>
            <p:grpSpPr>
              <a:xfrm>
                <a:off x="5146200" y="4964040"/>
                <a:ext cx="1278720" cy="1080720"/>
                <a:chOff x="5146200" y="4964040"/>
                <a:chExt cx="1278720" cy="1080720"/>
              </a:xfrm>
            </p:grpSpPr>
            <p:pic>
              <p:nvPicPr>
                <p:cNvPr id="230" name="圖形 22" descr=""/>
                <p:cNvPicPr/>
                <p:nvPr/>
              </p:nvPicPr>
              <p:blipFill>
                <a:blip r:embed="rId2"/>
                <a:stretch/>
              </p:blipFill>
              <p:spPr>
                <a:xfrm>
                  <a:off x="5452560" y="5096160"/>
                  <a:ext cx="665640" cy="59004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231" name="圓角矩形 23"/>
                <p:cNvSpPr/>
                <p:nvPr/>
              </p:nvSpPr>
              <p:spPr>
                <a:xfrm>
                  <a:off x="5160240" y="4964040"/>
                  <a:ext cx="1198080" cy="104724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000000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232" name="文字方塊 24"/>
                <p:cNvSpPr/>
                <p:nvPr/>
              </p:nvSpPr>
              <p:spPr>
                <a:xfrm>
                  <a:off x="5146200" y="5650200"/>
                  <a:ext cx="127872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h1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sp>
            <p:nvSpPr>
              <p:cNvPr id="233" name="圓角矩形 16"/>
              <p:cNvSpPr/>
              <p:nvPr/>
            </p:nvSpPr>
            <p:spPr>
              <a:xfrm>
                <a:off x="5007240" y="4615920"/>
                <a:ext cx="2972520" cy="148680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文字方塊 34"/>
              <p:cNvSpPr/>
              <p:nvPr/>
            </p:nvSpPr>
            <p:spPr>
              <a:xfrm>
                <a:off x="4959720" y="4586760"/>
                <a:ext cx="145152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e"/>
                    </a:solidFill>
                    <a:latin typeface="Calibri"/>
                    <a:ea typeface="標楷體"/>
                  </a:rPr>
                  <a:t>Domain 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grpSp>
          <p:nvGrpSpPr>
            <p:cNvPr id="235" name="Group 59"/>
            <p:cNvGrpSpPr/>
            <p:nvPr/>
          </p:nvGrpSpPr>
          <p:grpSpPr>
            <a:xfrm>
              <a:off x="8299080" y="4575600"/>
              <a:ext cx="3020040" cy="1515600"/>
              <a:chOff x="8299080" y="4575600"/>
              <a:chExt cx="3020040" cy="1515600"/>
            </a:xfrm>
          </p:grpSpPr>
          <p:sp>
            <p:nvSpPr>
              <p:cNvPr id="236" name="直線接點 41"/>
              <p:cNvSpPr/>
              <p:nvPr/>
            </p:nvSpPr>
            <p:spPr>
              <a:xfrm flipH="1">
                <a:off x="9707040" y="5487480"/>
                <a:ext cx="285480" cy="360"/>
              </a:xfrm>
              <a:prstGeom prst="line">
                <a:avLst/>
              </a:prstGeom>
              <a:ln w="19050">
                <a:solidFill>
                  <a:srgbClr val="000000"/>
                </a:solidFill>
                <a:round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/>
            </p:style>
          </p:sp>
          <p:grpSp>
            <p:nvGrpSpPr>
              <p:cNvPr id="237" name="群組 25"/>
              <p:cNvGrpSpPr/>
              <p:nvPr/>
            </p:nvGrpSpPr>
            <p:grpSpPr>
              <a:xfrm>
                <a:off x="8468280" y="4964040"/>
                <a:ext cx="1278720" cy="1050120"/>
                <a:chOff x="8468280" y="4964040"/>
                <a:chExt cx="1278720" cy="1050120"/>
              </a:xfrm>
            </p:grpSpPr>
            <p:sp>
              <p:nvSpPr>
                <p:cNvPr id="238" name="圓角矩形 27"/>
                <p:cNvSpPr/>
                <p:nvPr/>
              </p:nvSpPr>
              <p:spPr>
                <a:xfrm>
                  <a:off x="8508600" y="4964040"/>
                  <a:ext cx="1198080" cy="104724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000000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pic>
              <p:nvPicPr>
                <p:cNvPr id="239" name="圖形 26" descr=""/>
                <p:cNvPicPr/>
                <p:nvPr/>
              </p:nvPicPr>
              <p:blipFill>
                <a:blip r:embed="rId3"/>
                <a:stretch/>
              </p:blipFill>
              <p:spPr>
                <a:xfrm>
                  <a:off x="8753040" y="5154480"/>
                  <a:ext cx="709200" cy="47268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240" name="文字方塊 28"/>
                <p:cNvSpPr/>
                <p:nvPr/>
              </p:nvSpPr>
              <p:spPr>
                <a:xfrm>
                  <a:off x="8468280" y="5619600"/>
                  <a:ext cx="127872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R2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grpSp>
            <p:nvGrpSpPr>
              <p:cNvPr id="241" name="Group 7"/>
              <p:cNvGrpSpPr/>
              <p:nvPr/>
            </p:nvGrpSpPr>
            <p:grpSpPr>
              <a:xfrm>
                <a:off x="8299080" y="4575600"/>
                <a:ext cx="3020040" cy="1515600"/>
                <a:chOff x="8299080" y="4575600"/>
                <a:chExt cx="3020040" cy="1515600"/>
              </a:xfrm>
            </p:grpSpPr>
            <p:sp>
              <p:nvSpPr>
                <p:cNvPr id="242" name="圓角矩形 16"/>
                <p:cNvSpPr/>
                <p:nvPr/>
              </p:nvSpPr>
              <p:spPr>
                <a:xfrm>
                  <a:off x="8346600" y="4604400"/>
                  <a:ext cx="2972520" cy="148680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000000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243" name="文字方塊 34"/>
                <p:cNvSpPr/>
                <p:nvPr/>
              </p:nvSpPr>
              <p:spPr>
                <a:xfrm>
                  <a:off x="8299080" y="4575600"/>
                  <a:ext cx="145152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e"/>
                      </a:solidFill>
                      <a:latin typeface="Calibri"/>
                      <a:ea typeface="標楷體"/>
                    </a:rPr>
                    <a:t>Domain 2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grpSp>
            <p:nvGrpSpPr>
              <p:cNvPr id="244" name="群組 15"/>
              <p:cNvGrpSpPr/>
              <p:nvPr/>
            </p:nvGrpSpPr>
            <p:grpSpPr>
              <a:xfrm>
                <a:off x="9978840" y="4964040"/>
                <a:ext cx="1278720" cy="1058040"/>
                <a:chOff x="9978840" y="4964040"/>
                <a:chExt cx="1278720" cy="1058040"/>
              </a:xfrm>
            </p:grpSpPr>
            <p:pic>
              <p:nvPicPr>
                <p:cNvPr id="245" name="圖形 6" descr=""/>
                <p:cNvPicPr/>
                <p:nvPr/>
              </p:nvPicPr>
              <p:blipFill>
                <a:blip r:embed="rId4"/>
                <a:stretch/>
              </p:blipFill>
              <p:spPr>
                <a:xfrm>
                  <a:off x="10285200" y="5073480"/>
                  <a:ext cx="665640" cy="59004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246" name="圓角矩形 8"/>
                <p:cNvSpPr/>
                <p:nvPr/>
              </p:nvSpPr>
              <p:spPr>
                <a:xfrm>
                  <a:off x="9992520" y="4964040"/>
                  <a:ext cx="1198080" cy="104724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000000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247" name="文字方塊 9"/>
                <p:cNvSpPr/>
                <p:nvPr/>
              </p:nvSpPr>
              <p:spPr>
                <a:xfrm>
                  <a:off x="9978840" y="5627520"/>
                  <a:ext cx="127872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h2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1 – Prepare Docker images (1/3)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Prepare docker image “host” </a:t>
            </a: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Write Dockerfile</a:t>
            </a: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8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Create configuration file </a:t>
            </a:r>
            <a:r>
              <a:rPr b="1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host.Dockerfile</a:t>
            </a: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15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8ADFEEFD-1246-467F-B186-0C0D76EEC289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51" name="object 7"/>
          <p:cNvSpPr/>
          <p:nvPr/>
        </p:nvSpPr>
        <p:spPr>
          <a:xfrm>
            <a:off x="854280" y="2458080"/>
            <a:ext cx="648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vi host.Dockerfile 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252" name="群組 7"/>
          <p:cNvGrpSpPr/>
          <p:nvPr/>
        </p:nvGrpSpPr>
        <p:grpSpPr>
          <a:xfrm>
            <a:off x="914400" y="3024000"/>
            <a:ext cx="7429320" cy="2919240"/>
            <a:chOff x="914400" y="3024000"/>
            <a:chExt cx="7429320" cy="2919240"/>
          </a:xfrm>
        </p:grpSpPr>
        <p:sp>
          <p:nvSpPr>
            <p:cNvPr id="253" name="圓角矩形 5"/>
            <p:cNvSpPr/>
            <p:nvPr/>
          </p:nvSpPr>
          <p:spPr>
            <a:xfrm>
              <a:off x="914400" y="3024000"/>
              <a:ext cx="7429320" cy="291924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4" name="文字方塊 6"/>
            <p:cNvSpPr/>
            <p:nvPr/>
          </p:nvSpPr>
          <p:spPr>
            <a:xfrm>
              <a:off x="1346400" y="3081600"/>
              <a:ext cx="6843240" cy="283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Menlo"/>
                  <a:ea typeface="標楷體"/>
                </a:rPr>
                <a:t>FROM ubuntu:22.04</a:t>
              </a:r>
              <a:endParaRPr b="0" lang="en-US" sz="20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br>
                <a:rPr sz="2000"/>
              </a:br>
              <a:r>
                <a:rPr b="0" lang="en-US" sz="2000" spc="-1" strike="noStrike">
                  <a:solidFill>
                    <a:srgbClr val="000000"/>
                  </a:solidFill>
                  <a:latin typeface="Menlo"/>
                  <a:ea typeface="標楷體"/>
                </a:rPr>
                <a:t>RUN apt-get update -y \</a:t>
              </a:r>
              <a:endParaRPr b="0" lang="en-US" sz="20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Menlo"/>
                  <a:ea typeface="標楷體"/>
                </a:rPr>
                <a:t>&amp;&amp; apt-get install -y traceroute \</a:t>
              </a:r>
              <a:endParaRPr b="0" lang="en-US" sz="20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Menlo"/>
                  <a:ea typeface="標楷體"/>
                </a:rPr>
                <a:t>&amp;&amp; apt-get install -y net-tools \</a:t>
              </a:r>
              <a:endParaRPr b="0" lang="en-US" sz="20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Menlo"/>
                  <a:ea typeface="標楷體"/>
                </a:rPr>
                <a:t>&amp;&amp; apt-get install -y iproute2 \</a:t>
              </a:r>
              <a:endParaRPr b="0" lang="en-US" sz="20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Menlo"/>
                  <a:ea typeface="標楷體"/>
                </a:rPr>
                <a:t>&amp;&amp; apt-get install -y iputils-ping</a:t>
              </a:r>
              <a:endParaRPr b="0" lang="en-US" sz="20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br>
                <a:rPr sz="2000"/>
              </a:br>
              <a:r>
                <a:rPr b="0" lang="en-US" sz="2000" spc="-1" strike="noStrike">
                  <a:solidFill>
                    <a:srgbClr val="000000"/>
                  </a:solidFill>
                  <a:latin typeface="Menlo"/>
                  <a:ea typeface="標楷體"/>
                </a:rPr>
                <a:t>CMD ["sleep","infinity"]</a:t>
              </a:r>
              <a:endParaRPr b="0" lang="en-US" sz="20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1 – Prepare Docker images (2/3)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Build docker image with Dockerfile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6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-t: Name and optionally a tag in the “name:tag” format</a:t>
            </a:r>
            <a:endParaRPr b="0" lang="en-US" sz="26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-f: Name of the Dockerfile (Default is 'PATH/Dockerfile')</a:t>
            </a:r>
            <a:endParaRPr b="0" lang="en-US" sz="26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List image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16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56D04B8-E0D6-40FF-AE3C-6DFAB70651FF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58" name="object 7"/>
          <p:cNvSpPr/>
          <p:nvPr/>
        </p:nvSpPr>
        <p:spPr>
          <a:xfrm>
            <a:off x="767520" y="1484640"/>
            <a:ext cx="798228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build -t host -f host.Dockerfile .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59" name="object 7"/>
          <p:cNvSpPr/>
          <p:nvPr/>
        </p:nvSpPr>
        <p:spPr>
          <a:xfrm>
            <a:off x="753840" y="3325680"/>
            <a:ext cx="798228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images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60" name="Picture 7" descr=""/>
          <p:cNvPicPr/>
          <p:nvPr/>
        </p:nvPicPr>
        <p:blipFill>
          <a:blip r:embed="rId1"/>
          <a:stretch/>
        </p:blipFill>
        <p:spPr>
          <a:xfrm>
            <a:off x="765360" y="4150800"/>
            <a:ext cx="9766800" cy="881280"/>
          </a:xfrm>
          <a:prstGeom prst="rect">
            <a:avLst/>
          </a:prstGeom>
          <a:ln w="0">
            <a:noFill/>
          </a:ln>
        </p:spPr>
      </p:pic>
      <p:sp>
        <p:nvSpPr>
          <p:cNvPr id="261" name="矩形 8"/>
          <p:cNvSpPr/>
          <p:nvPr/>
        </p:nvSpPr>
        <p:spPr>
          <a:xfrm>
            <a:off x="765360" y="4437000"/>
            <a:ext cx="9766800" cy="2898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1 – Prepare Docker images (3/3)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Prepare Docker image frrouting</a:t>
            </a: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Pull image </a:t>
            </a:r>
            <a:r>
              <a:rPr b="0" lang="en-US" sz="28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1"/>
              </a:rPr>
              <a:t>frrouting/</a:t>
            </a:r>
            <a:r>
              <a:rPr b="0" lang="en-US" sz="28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2"/>
              </a:rPr>
              <a:t>frr-debian</a:t>
            </a: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 from docker hub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List image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7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BD19BBF5-AFA5-4CAA-ADCF-5223284F0FC5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65" name="object 7"/>
          <p:cNvSpPr/>
          <p:nvPr/>
        </p:nvSpPr>
        <p:spPr>
          <a:xfrm>
            <a:off x="905760" y="2072520"/>
            <a:ext cx="760788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pull frrouting/frr-debian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66" name="object 7"/>
          <p:cNvSpPr/>
          <p:nvPr/>
        </p:nvSpPr>
        <p:spPr>
          <a:xfrm>
            <a:off x="911520" y="2930760"/>
            <a:ext cx="760788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images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67" name="圖片 10" descr=""/>
          <p:cNvPicPr/>
          <p:nvPr/>
        </p:nvPicPr>
        <p:blipFill>
          <a:blip r:embed="rId3"/>
          <a:stretch/>
        </p:blipFill>
        <p:spPr>
          <a:xfrm>
            <a:off x="905760" y="3622320"/>
            <a:ext cx="7477560" cy="1885320"/>
          </a:xfrm>
          <a:prstGeom prst="rect">
            <a:avLst/>
          </a:prstGeom>
          <a:ln w="0">
            <a:noFill/>
          </a:ln>
        </p:spPr>
      </p:pic>
      <p:sp>
        <p:nvSpPr>
          <p:cNvPr id="268" name="矩形 8"/>
          <p:cNvSpPr/>
          <p:nvPr/>
        </p:nvSpPr>
        <p:spPr>
          <a:xfrm>
            <a:off x="866160" y="5179320"/>
            <a:ext cx="7687080" cy="179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文字方塊 12"/>
          <p:cNvSpPr/>
          <p:nvPr/>
        </p:nvSpPr>
        <p:spPr>
          <a:xfrm>
            <a:off x="905760" y="5583960"/>
            <a:ext cx="10644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Note: Do not use </a:t>
            </a:r>
            <a:r>
              <a:rPr b="0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frrouting/frr </a:t>
            </a: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image as it doesn’t have the necessary component built for this lab.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2 – Create Containers (1/2)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a container with prepared image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600" spc="-12" strike="noStrike">
                <a:solidFill>
                  <a:srgbClr val="3297fc"/>
                </a:solidFill>
                <a:latin typeface="Calibri"/>
                <a:ea typeface="標楷體"/>
              </a:rPr>
              <a:t>--privileged:</a:t>
            </a:r>
            <a:r>
              <a:rPr b="0" lang="en-US" sz="26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600" spc="-12" strike="noStrike">
                <a:solidFill>
                  <a:srgbClr val="3297fc"/>
                </a:solidFill>
                <a:latin typeface="Calibri"/>
                <a:ea typeface="標楷體"/>
              </a:rPr>
              <a:t>Give</a:t>
            </a:r>
            <a:r>
              <a:rPr b="0" lang="en-US" sz="26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600" spc="-12" strike="noStrike">
                <a:solidFill>
                  <a:srgbClr val="3297fc"/>
                </a:solidFill>
                <a:latin typeface="Calibri"/>
                <a:ea typeface="標楷體"/>
              </a:rPr>
              <a:t>extended </a:t>
            </a:r>
            <a:r>
              <a:rPr b="0" lang="en-US" sz="2600" spc="-15" strike="noStrike">
                <a:solidFill>
                  <a:srgbClr val="3297fc"/>
                </a:solidFill>
                <a:latin typeface="Calibri"/>
                <a:ea typeface="標楷體"/>
              </a:rPr>
              <a:t>privileges</a:t>
            </a:r>
            <a:r>
              <a:rPr b="0" lang="en-US" sz="2600" spc="-7" strike="noStrike">
                <a:solidFill>
                  <a:srgbClr val="3297fc"/>
                </a:solidFill>
                <a:latin typeface="Calibri"/>
                <a:ea typeface="標楷體"/>
              </a:rPr>
              <a:t> to</a:t>
            </a:r>
            <a:r>
              <a:rPr b="0" lang="en-US" sz="2600" spc="-12" strike="noStrike">
                <a:solidFill>
                  <a:srgbClr val="3297fc"/>
                </a:solidFill>
                <a:latin typeface="Calibri"/>
                <a:ea typeface="標楷體"/>
              </a:rPr>
              <a:t> this container</a:t>
            </a:r>
            <a:endParaRPr b="0" lang="en-US" sz="26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600" spc="-7" strike="noStrike">
                <a:solidFill>
                  <a:srgbClr val="3297fc"/>
                </a:solidFill>
                <a:latin typeface="Calibri"/>
                <a:ea typeface="標楷體"/>
              </a:rPr>
              <a:t>--cap-add:</a:t>
            </a:r>
            <a:r>
              <a:rPr b="0" lang="en-US" sz="26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600" spc="-7" strike="noStrike">
                <a:solidFill>
                  <a:srgbClr val="3297fc"/>
                </a:solidFill>
                <a:latin typeface="Calibri"/>
                <a:ea typeface="標楷體"/>
              </a:rPr>
              <a:t>Add</a:t>
            </a:r>
            <a:r>
              <a:rPr b="0" lang="en-US" sz="2600" spc="-2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600" spc="-12" strike="noStrike">
                <a:solidFill>
                  <a:srgbClr val="3297fc"/>
                </a:solidFill>
                <a:latin typeface="Calibri"/>
                <a:ea typeface="標楷體"/>
              </a:rPr>
              <a:t>Linux</a:t>
            </a:r>
            <a:r>
              <a:rPr b="0" lang="en-US" sz="26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600" spc="-12" strike="noStrike">
                <a:solidFill>
                  <a:srgbClr val="3297fc"/>
                </a:solidFill>
                <a:latin typeface="Calibri"/>
                <a:ea typeface="標楷體"/>
              </a:rPr>
              <a:t>capabilities</a:t>
            </a:r>
            <a:endParaRPr b="0" lang="en-US" sz="26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NET_ADMIN: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Enable</a:t>
            </a:r>
            <a:r>
              <a:rPr b="0" lang="en-US" sz="2400" spc="-2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network administration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operations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NET_BROADCAST: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Make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socket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able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to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broadcasts,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and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listen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to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multicasts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18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A9DB2BB-625D-43AE-9BF0-79D2BFC7FD69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73" name="object 7"/>
          <p:cNvSpPr/>
          <p:nvPr/>
        </p:nvSpPr>
        <p:spPr>
          <a:xfrm>
            <a:off x="983520" y="1556640"/>
            <a:ext cx="9000360" cy="12362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run --privileged --cap-add NET_ADMIN \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--cap-add NET_BROADCAST -d -it \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--name &lt;container name&gt; &lt;image&gt; 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2 – Create Containers (2/2)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container for a host h1 (h2)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container for a virtual router R1 (R2)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9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39DECE32-9488-4BA6-93DA-32A17FF5CE70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77" name="object 7"/>
          <p:cNvSpPr/>
          <p:nvPr/>
        </p:nvSpPr>
        <p:spPr>
          <a:xfrm>
            <a:off x="983520" y="1544760"/>
            <a:ext cx="9000360" cy="12362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run --privileged --cap-add NET_ADMIN \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--cap-add NET_BROADCAST -d -it \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--name </a:t>
            </a:r>
            <a:r>
              <a:rPr b="0" lang="en-US" sz="2400" spc="165" strike="noStrike">
                <a:solidFill>
                  <a:srgbClr val="ff0000"/>
                </a:solidFill>
                <a:latin typeface="Arial MT"/>
                <a:ea typeface="標楷體"/>
              </a:rPr>
              <a:t>h1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host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78" name="object 7"/>
          <p:cNvSpPr/>
          <p:nvPr/>
        </p:nvSpPr>
        <p:spPr>
          <a:xfrm>
            <a:off x="983520" y="3432960"/>
            <a:ext cx="9000360" cy="12362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run --privileged --cap-add NET_ADMIN \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--cap-add NET_BROADCAST -d -it \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--name </a:t>
            </a:r>
            <a:r>
              <a:rPr b="0" lang="en-US" sz="2400" spc="165" strike="noStrike">
                <a:solidFill>
                  <a:srgbClr val="ff0000"/>
                </a:solidFill>
                <a:latin typeface="Arial MT"/>
                <a:ea typeface="標楷體"/>
              </a:rPr>
              <a:t>R1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 frrouting/frr-debian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279" name="群組 7"/>
          <p:cNvGrpSpPr/>
          <p:nvPr/>
        </p:nvGrpSpPr>
        <p:grpSpPr>
          <a:xfrm>
            <a:off x="7484400" y="5236920"/>
            <a:ext cx="1278720" cy="1066680"/>
            <a:chOff x="7484400" y="5236920"/>
            <a:chExt cx="1278720" cy="1066680"/>
          </a:xfrm>
        </p:grpSpPr>
        <p:pic>
          <p:nvPicPr>
            <p:cNvPr id="280" name="圖形 8" descr=""/>
            <p:cNvPicPr/>
            <p:nvPr/>
          </p:nvPicPr>
          <p:blipFill>
            <a:blip r:embed="rId1"/>
            <a:stretch/>
          </p:blipFill>
          <p:spPr>
            <a:xfrm>
              <a:off x="7791120" y="5355000"/>
              <a:ext cx="665640" cy="590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81" name="圓角矩形 9"/>
            <p:cNvSpPr/>
            <p:nvPr/>
          </p:nvSpPr>
          <p:spPr>
            <a:xfrm>
              <a:off x="7498440" y="5236920"/>
              <a:ext cx="1198080" cy="104724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2" name="文字方塊 10"/>
            <p:cNvSpPr/>
            <p:nvPr/>
          </p:nvSpPr>
          <p:spPr>
            <a:xfrm>
              <a:off x="7484400" y="5909040"/>
              <a:ext cx="127872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h2</a:t>
              </a:r>
              <a:endParaRPr b="0" lang="en-US" sz="2000" spc="-1" strike="noStrike">
                <a:latin typeface="Arial"/>
              </a:endParaRPr>
            </a:p>
          </p:txBody>
        </p:sp>
      </p:grpSp>
      <p:sp>
        <p:nvSpPr>
          <p:cNvPr id="283" name="圓角矩形 11"/>
          <p:cNvSpPr/>
          <p:nvPr/>
        </p:nvSpPr>
        <p:spPr>
          <a:xfrm>
            <a:off x="3090600" y="4848840"/>
            <a:ext cx="5832000" cy="157212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284" name="群組 12"/>
          <p:cNvGrpSpPr/>
          <p:nvPr/>
        </p:nvGrpSpPr>
        <p:grpSpPr>
          <a:xfrm>
            <a:off x="4691160" y="5244840"/>
            <a:ext cx="1278720" cy="1058760"/>
            <a:chOff x="4691160" y="5244840"/>
            <a:chExt cx="1278720" cy="1058760"/>
          </a:xfrm>
        </p:grpSpPr>
        <p:pic>
          <p:nvPicPr>
            <p:cNvPr id="285" name="圖形 13" descr=""/>
            <p:cNvPicPr/>
            <p:nvPr/>
          </p:nvPicPr>
          <p:blipFill>
            <a:blip r:embed="rId2"/>
            <a:stretch/>
          </p:blipFill>
          <p:spPr>
            <a:xfrm>
              <a:off x="4976280" y="5443920"/>
              <a:ext cx="709200" cy="472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86" name="圓角矩形 14"/>
            <p:cNvSpPr/>
            <p:nvPr/>
          </p:nvSpPr>
          <p:spPr>
            <a:xfrm>
              <a:off x="4731840" y="5244840"/>
              <a:ext cx="1198080" cy="104724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7" name="文字方塊 15"/>
            <p:cNvSpPr/>
            <p:nvPr/>
          </p:nvSpPr>
          <p:spPr>
            <a:xfrm>
              <a:off x="4691160" y="5909040"/>
              <a:ext cx="127872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R1</a:t>
              </a:r>
              <a:endParaRPr b="0" lang="en-US" sz="2000" spc="-1" strike="noStrike">
                <a:latin typeface="Arial"/>
              </a:endParaRPr>
            </a:p>
          </p:txBody>
        </p:sp>
      </p:grpSp>
      <p:grpSp>
        <p:nvGrpSpPr>
          <p:cNvPr id="288" name="群組 16"/>
          <p:cNvGrpSpPr/>
          <p:nvPr/>
        </p:nvGrpSpPr>
        <p:grpSpPr>
          <a:xfrm>
            <a:off x="3328920" y="5236920"/>
            <a:ext cx="1278720" cy="1066680"/>
            <a:chOff x="3328920" y="5236920"/>
            <a:chExt cx="1278720" cy="1066680"/>
          </a:xfrm>
        </p:grpSpPr>
        <p:pic>
          <p:nvPicPr>
            <p:cNvPr id="289" name="圖形 17" descr=""/>
            <p:cNvPicPr/>
            <p:nvPr/>
          </p:nvPicPr>
          <p:blipFill>
            <a:blip r:embed="rId3"/>
            <a:stretch/>
          </p:blipFill>
          <p:spPr>
            <a:xfrm>
              <a:off x="3635280" y="5355000"/>
              <a:ext cx="665640" cy="590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90" name="圓角矩形 18"/>
            <p:cNvSpPr/>
            <p:nvPr/>
          </p:nvSpPr>
          <p:spPr>
            <a:xfrm>
              <a:off x="3342600" y="5236920"/>
              <a:ext cx="1198080" cy="104724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1" name="文字方塊 19"/>
            <p:cNvSpPr/>
            <p:nvPr/>
          </p:nvSpPr>
          <p:spPr>
            <a:xfrm>
              <a:off x="3328920" y="5909040"/>
              <a:ext cx="127872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h1</a:t>
              </a:r>
              <a:endParaRPr b="0" lang="en-US" sz="2000" spc="-1" strike="noStrike">
                <a:latin typeface="Arial"/>
              </a:endParaRPr>
            </a:p>
          </p:txBody>
        </p:sp>
      </p:grpSp>
      <p:grpSp>
        <p:nvGrpSpPr>
          <p:cNvPr id="292" name="群組 20"/>
          <p:cNvGrpSpPr/>
          <p:nvPr/>
        </p:nvGrpSpPr>
        <p:grpSpPr>
          <a:xfrm>
            <a:off x="6095880" y="5244840"/>
            <a:ext cx="1278720" cy="1058760"/>
            <a:chOff x="6095880" y="5244840"/>
            <a:chExt cx="1278720" cy="1058760"/>
          </a:xfrm>
        </p:grpSpPr>
        <p:pic>
          <p:nvPicPr>
            <p:cNvPr id="293" name="圖形 21" descr=""/>
            <p:cNvPicPr/>
            <p:nvPr/>
          </p:nvPicPr>
          <p:blipFill>
            <a:blip r:embed="rId4"/>
            <a:stretch/>
          </p:blipFill>
          <p:spPr>
            <a:xfrm>
              <a:off x="6380640" y="5443920"/>
              <a:ext cx="709200" cy="472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94" name="圓角矩形 22"/>
            <p:cNvSpPr/>
            <p:nvPr/>
          </p:nvSpPr>
          <p:spPr>
            <a:xfrm>
              <a:off x="6136560" y="5244840"/>
              <a:ext cx="1198080" cy="104724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字方塊 23"/>
            <p:cNvSpPr/>
            <p:nvPr/>
          </p:nvSpPr>
          <p:spPr>
            <a:xfrm>
              <a:off x="6095880" y="5909040"/>
              <a:ext cx="127872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R2</a:t>
              </a:r>
              <a:endParaRPr b="0" lang="en-US" sz="2000" spc="-1" strike="noStrike">
                <a:latin typeface="Arial"/>
              </a:endParaRPr>
            </a:p>
          </p:txBody>
        </p:sp>
      </p:grpSp>
      <p:sp>
        <p:nvSpPr>
          <p:cNvPr id="296" name="文字方塊 30"/>
          <p:cNvSpPr/>
          <p:nvPr/>
        </p:nvSpPr>
        <p:spPr>
          <a:xfrm>
            <a:off x="3151080" y="4844520"/>
            <a:ext cx="10735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a6a6a6"/>
                </a:solidFill>
                <a:latin typeface="Calibri"/>
                <a:ea typeface="標楷體"/>
              </a:rPr>
              <a:t>Docker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3 – Setup Container Networks (1/3)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Setup network for domains</a:t>
            </a: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a bridge network R1h1br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8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R1h1br: Bridge name</a:t>
            </a:r>
            <a:endParaRPr b="0" lang="en-US" sz="26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Connect containers h1 and R1 to bridge R1h1br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8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Docker will assign IP to interfaces automatically</a:t>
            </a: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20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B5B9F82F-C5AF-4766-A762-3BBF1FA7C8F5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00" name="object 7"/>
          <p:cNvSpPr/>
          <p:nvPr/>
        </p:nvSpPr>
        <p:spPr>
          <a:xfrm>
            <a:off x="983520" y="2008800"/>
            <a:ext cx="900036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create R1h1br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301" name="object 7"/>
          <p:cNvSpPr/>
          <p:nvPr/>
        </p:nvSpPr>
        <p:spPr>
          <a:xfrm>
            <a:off x="983520" y="3438000"/>
            <a:ext cx="9000360" cy="8240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connect R1h1br R1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connect R1h1br h1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302" name="Group 6"/>
          <p:cNvGrpSpPr/>
          <p:nvPr/>
        </p:nvGrpSpPr>
        <p:grpSpPr>
          <a:xfrm>
            <a:off x="2999520" y="4808520"/>
            <a:ext cx="5770440" cy="2336760"/>
            <a:chOff x="2999520" y="4808520"/>
            <a:chExt cx="5770440" cy="2336760"/>
          </a:xfrm>
        </p:grpSpPr>
        <p:grpSp>
          <p:nvGrpSpPr>
            <p:cNvPr id="303" name="群組 12"/>
            <p:cNvGrpSpPr/>
            <p:nvPr/>
          </p:nvGrpSpPr>
          <p:grpSpPr>
            <a:xfrm>
              <a:off x="7491240" y="5059080"/>
              <a:ext cx="1278720" cy="1058760"/>
              <a:chOff x="7491240" y="5059080"/>
              <a:chExt cx="1278720" cy="1058760"/>
            </a:xfrm>
          </p:grpSpPr>
          <p:pic>
            <p:nvPicPr>
              <p:cNvPr id="304" name="圖形 13" descr=""/>
              <p:cNvPicPr/>
              <p:nvPr/>
            </p:nvPicPr>
            <p:blipFill>
              <a:blip r:embed="rId1"/>
              <a:stretch/>
            </p:blipFill>
            <p:spPr>
              <a:xfrm>
                <a:off x="7776360" y="5258160"/>
                <a:ext cx="709200" cy="47268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05" name="圓角矩形 14"/>
              <p:cNvSpPr/>
              <p:nvPr/>
            </p:nvSpPr>
            <p:spPr>
              <a:xfrm>
                <a:off x="7531920" y="5059080"/>
                <a:ext cx="1198080" cy="104724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6" name="文字方塊 15"/>
              <p:cNvSpPr/>
              <p:nvPr/>
            </p:nvSpPr>
            <p:spPr>
              <a:xfrm>
                <a:off x="7491240" y="5723280"/>
                <a:ext cx="127872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R1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grpSp>
          <p:nvGrpSpPr>
            <p:cNvPr id="307" name="群組 16"/>
            <p:cNvGrpSpPr/>
            <p:nvPr/>
          </p:nvGrpSpPr>
          <p:grpSpPr>
            <a:xfrm>
              <a:off x="3043800" y="5051160"/>
              <a:ext cx="1278720" cy="1066680"/>
              <a:chOff x="3043800" y="5051160"/>
              <a:chExt cx="1278720" cy="1066680"/>
            </a:xfrm>
          </p:grpSpPr>
          <p:pic>
            <p:nvPicPr>
              <p:cNvPr id="308" name="圖形 17" descr=""/>
              <p:cNvPicPr/>
              <p:nvPr/>
            </p:nvPicPr>
            <p:blipFill>
              <a:blip r:embed="rId2"/>
              <a:stretch/>
            </p:blipFill>
            <p:spPr>
              <a:xfrm>
                <a:off x="3350520" y="5169240"/>
                <a:ext cx="665640" cy="59004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09" name="圓角矩形 18"/>
              <p:cNvSpPr/>
              <p:nvPr/>
            </p:nvSpPr>
            <p:spPr>
              <a:xfrm>
                <a:off x="3057840" y="5051160"/>
                <a:ext cx="1198080" cy="104724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0" name="文字方塊 19"/>
              <p:cNvSpPr/>
              <p:nvPr/>
            </p:nvSpPr>
            <p:spPr>
              <a:xfrm>
                <a:off x="3043800" y="5723280"/>
                <a:ext cx="127872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h1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sp>
          <p:nvSpPr>
            <p:cNvPr id="311" name="剪去同側角落矩形 24"/>
            <p:cNvSpPr/>
            <p:nvPr/>
          </p:nvSpPr>
          <p:spPr>
            <a:xfrm>
              <a:off x="5344920" y="5232960"/>
              <a:ext cx="1079280" cy="438120"/>
            </a:xfrm>
            <a:prstGeom prst="snip2SameRect">
              <a:avLst>
                <a:gd name="adj1" fmla="val 19853"/>
                <a:gd name="adj2" fmla="val 0"/>
              </a:avLst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字方塊 25"/>
            <p:cNvSpPr/>
            <p:nvPr/>
          </p:nvSpPr>
          <p:spPr>
            <a:xfrm>
              <a:off x="5010840" y="4808520"/>
              <a:ext cx="174744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a6a6a6"/>
                  </a:solidFill>
                  <a:latin typeface="Calibri"/>
                  <a:ea typeface="標楷體"/>
                </a:rPr>
                <a:t>Docker bridge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313" name="直線接點 27"/>
            <p:cNvSpPr/>
            <p:nvPr/>
          </p:nvSpPr>
          <p:spPr>
            <a:xfrm flipV="1">
              <a:off x="4256280" y="5452200"/>
              <a:ext cx="1088640" cy="122400"/>
            </a:xfrm>
            <a:prstGeom prst="line">
              <a:avLst/>
            </a:prstGeom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4" name="直線接點 28"/>
            <p:cNvSpPr/>
            <p:nvPr/>
          </p:nvSpPr>
          <p:spPr>
            <a:xfrm>
              <a:off x="6424920" y="5452200"/>
              <a:ext cx="1106640" cy="130680"/>
            </a:xfrm>
            <a:prstGeom prst="line">
              <a:avLst/>
            </a:prstGeom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5" name="直線箭頭接點 33"/>
            <p:cNvSpPr/>
            <p:nvPr/>
          </p:nvSpPr>
          <p:spPr>
            <a:xfrm flipH="1" flipV="1">
              <a:off x="5884200" y="5671080"/>
              <a:ext cx="69480" cy="4510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ff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16" name="直線箭頭接點 35"/>
            <p:cNvSpPr/>
            <p:nvPr/>
          </p:nvSpPr>
          <p:spPr>
            <a:xfrm flipV="1">
              <a:off x="4057200" y="5574240"/>
              <a:ext cx="198360" cy="7714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ff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17" name="直線箭頭接點 39"/>
            <p:cNvSpPr/>
            <p:nvPr/>
          </p:nvSpPr>
          <p:spPr>
            <a:xfrm flipH="1" flipV="1">
              <a:off x="7531200" y="5582160"/>
              <a:ext cx="129600" cy="7714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ff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18" name="文字方塊 43"/>
            <p:cNvSpPr/>
            <p:nvPr/>
          </p:nvSpPr>
          <p:spPr>
            <a:xfrm>
              <a:off x="2999520" y="6314040"/>
              <a:ext cx="174744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172.18.0.</a:t>
              </a:r>
              <a:r>
                <a:rPr b="0" lang="en-US" sz="24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3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319" name="文字方塊 44"/>
            <p:cNvSpPr/>
            <p:nvPr/>
          </p:nvSpPr>
          <p:spPr>
            <a:xfrm>
              <a:off x="6987600" y="6324120"/>
              <a:ext cx="174744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172.18.0.</a:t>
              </a:r>
              <a:r>
                <a:rPr b="0" lang="en-US" sz="24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2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320" name="文字方塊 46"/>
            <p:cNvSpPr/>
            <p:nvPr/>
          </p:nvSpPr>
          <p:spPr>
            <a:xfrm>
              <a:off x="5394600" y="6116760"/>
              <a:ext cx="112716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R1h1br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Check the IP addresses of network interfaces</a:t>
            </a: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Repeat network setup procedure for another domain</a:t>
            </a:r>
            <a:endParaRPr b="0" lang="en-US" sz="28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buClr>
                <a:srgbClr val="0088ee"/>
              </a:buClr>
              <a:buFont typeface="Calibri"/>
              <a:buChar char="◦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bridge network R2h2br</a:t>
            </a:r>
            <a:endParaRPr b="0" lang="en-US" sz="28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buClr>
                <a:srgbClr val="0088ee"/>
              </a:buClr>
              <a:buFont typeface="Calibri"/>
              <a:buChar char="◦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Connect containers R2 and h2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3 – Setup Container Networks (2/3)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21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AA3DC88-7407-4258-BEE4-238E2A6A59D5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24" name="object 7"/>
          <p:cNvSpPr/>
          <p:nvPr/>
        </p:nvSpPr>
        <p:spPr>
          <a:xfrm>
            <a:off x="983520" y="1544760"/>
            <a:ext cx="4896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inspect h1 (R1)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325" name="群組 6"/>
          <p:cNvGrpSpPr/>
          <p:nvPr/>
        </p:nvGrpSpPr>
        <p:grpSpPr>
          <a:xfrm>
            <a:off x="7702200" y="729360"/>
            <a:ext cx="4338720" cy="2004480"/>
            <a:chOff x="7702200" y="729360"/>
            <a:chExt cx="4338720" cy="2004480"/>
          </a:xfrm>
        </p:grpSpPr>
        <p:grpSp>
          <p:nvGrpSpPr>
            <p:cNvPr id="326" name="群組 12"/>
            <p:cNvGrpSpPr/>
            <p:nvPr/>
          </p:nvGrpSpPr>
          <p:grpSpPr>
            <a:xfrm>
              <a:off x="11077560" y="1022400"/>
              <a:ext cx="963360" cy="909000"/>
              <a:chOff x="11077560" y="1022400"/>
              <a:chExt cx="963360" cy="909000"/>
            </a:xfrm>
          </p:grpSpPr>
          <p:pic>
            <p:nvPicPr>
              <p:cNvPr id="327" name="圖形 13" descr=""/>
              <p:cNvPicPr/>
              <p:nvPr/>
            </p:nvPicPr>
            <p:blipFill>
              <a:blip r:embed="rId1"/>
              <a:stretch/>
            </p:blipFill>
            <p:spPr>
              <a:xfrm>
                <a:off x="11279880" y="1187640"/>
                <a:ext cx="534240" cy="39168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28" name="圓角矩形 14"/>
              <p:cNvSpPr/>
              <p:nvPr/>
            </p:nvSpPr>
            <p:spPr>
              <a:xfrm>
                <a:off x="11095560" y="1022400"/>
                <a:ext cx="902520" cy="86832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29" name="文字方塊 15"/>
              <p:cNvSpPr/>
              <p:nvPr/>
            </p:nvSpPr>
            <p:spPr>
              <a:xfrm>
                <a:off x="11077560" y="1536840"/>
                <a:ext cx="9633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R1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grpSp>
          <p:nvGrpSpPr>
            <p:cNvPr id="330" name="群組 16"/>
            <p:cNvGrpSpPr/>
            <p:nvPr/>
          </p:nvGrpSpPr>
          <p:grpSpPr>
            <a:xfrm>
              <a:off x="7714440" y="1015920"/>
              <a:ext cx="963360" cy="902880"/>
              <a:chOff x="7714440" y="1015920"/>
              <a:chExt cx="963360" cy="902880"/>
            </a:xfrm>
          </p:grpSpPr>
          <p:pic>
            <p:nvPicPr>
              <p:cNvPr id="331" name="圖形 17" descr=""/>
              <p:cNvPicPr/>
              <p:nvPr/>
            </p:nvPicPr>
            <p:blipFill>
              <a:blip r:embed="rId2"/>
              <a:stretch/>
            </p:blipFill>
            <p:spPr>
              <a:xfrm>
                <a:off x="7945200" y="1113840"/>
                <a:ext cx="501480" cy="48924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32" name="圓角矩形 18"/>
              <p:cNvSpPr/>
              <p:nvPr/>
            </p:nvSpPr>
            <p:spPr>
              <a:xfrm>
                <a:off x="7724880" y="1015920"/>
                <a:ext cx="902520" cy="86832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3" name="文字方塊 19"/>
              <p:cNvSpPr/>
              <p:nvPr/>
            </p:nvSpPr>
            <p:spPr>
              <a:xfrm>
                <a:off x="7714440" y="1524240"/>
                <a:ext cx="9633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h1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sp>
          <p:nvSpPr>
            <p:cNvPr id="334" name="剪去同側角落矩形 24"/>
            <p:cNvSpPr/>
            <p:nvPr/>
          </p:nvSpPr>
          <p:spPr>
            <a:xfrm>
              <a:off x="9448200" y="1166760"/>
              <a:ext cx="813240" cy="362880"/>
            </a:xfrm>
            <a:prstGeom prst="snip2SameRect">
              <a:avLst>
                <a:gd name="adj1" fmla="val 19853"/>
                <a:gd name="adj2" fmla="val 0"/>
              </a:avLst>
            </a:prstGeom>
            <a:noFill/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35" name="文字方塊 25"/>
            <p:cNvSpPr/>
            <p:nvPr/>
          </p:nvSpPr>
          <p:spPr>
            <a:xfrm>
              <a:off x="8936640" y="729360"/>
              <a:ext cx="192744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a6a6a6"/>
                  </a:solidFill>
                  <a:latin typeface="Calibri"/>
                  <a:ea typeface="標楷體"/>
                </a:rPr>
                <a:t>Docker bridge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336" name="直線接點 27"/>
            <p:cNvSpPr/>
            <p:nvPr/>
          </p:nvSpPr>
          <p:spPr>
            <a:xfrm flipV="1">
              <a:off x="8627760" y="1348560"/>
              <a:ext cx="820080" cy="10152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37" name="直線接點 28"/>
            <p:cNvSpPr/>
            <p:nvPr/>
          </p:nvSpPr>
          <p:spPr>
            <a:xfrm>
              <a:off x="10261800" y="1348560"/>
              <a:ext cx="833760" cy="10836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38" name="直線箭頭接點 33"/>
            <p:cNvSpPr/>
            <p:nvPr/>
          </p:nvSpPr>
          <p:spPr>
            <a:xfrm flipH="1" flipV="1">
              <a:off x="9854280" y="1530000"/>
              <a:ext cx="52200" cy="3736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ff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39" name="直線箭頭接點 35"/>
            <p:cNvSpPr/>
            <p:nvPr/>
          </p:nvSpPr>
          <p:spPr>
            <a:xfrm flipV="1">
              <a:off x="8485560" y="1449360"/>
              <a:ext cx="141480" cy="591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ff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40" name="直線箭頭接點 39"/>
            <p:cNvSpPr/>
            <p:nvPr/>
          </p:nvSpPr>
          <p:spPr>
            <a:xfrm flipH="1" flipV="1">
              <a:off x="11094840" y="1456200"/>
              <a:ext cx="103320" cy="6426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ff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41" name="文字方塊 43"/>
            <p:cNvSpPr/>
            <p:nvPr/>
          </p:nvSpPr>
          <p:spPr>
            <a:xfrm>
              <a:off x="7702200" y="2000160"/>
              <a:ext cx="131652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172.18.0.</a:t>
              </a:r>
              <a:r>
                <a:rPr b="0" lang="en-US" sz="20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3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342" name="文字方塊 44"/>
            <p:cNvSpPr/>
            <p:nvPr/>
          </p:nvSpPr>
          <p:spPr>
            <a:xfrm>
              <a:off x="10709280" y="2034360"/>
              <a:ext cx="131652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172.18.0.</a:t>
              </a:r>
              <a:r>
                <a:rPr b="0" lang="en-US" sz="20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2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343" name="文字方塊 46"/>
            <p:cNvSpPr/>
            <p:nvPr/>
          </p:nvSpPr>
          <p:spPr>
            <a:xfrm>
              <a:off x="9394200" y="1912680"/>
              <a:ext cx="97344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R1h1br</a:t>
              </a:r>
              <a:endParaRPr b="0" lang="en-US" sz="2000" spc="-1" strike="noStrike">
                <a:latin typeface="Arial"/>
              </a:endParaRPr>
            </a:p>
          </p:txBody>
        </p:sp>
      </p:grpSp>
      <p:sp>
        <p:nvSpPr>
          <p:cNvPr id="344" name="文字方塊 8"/>
          <p:cNvSpPr/>
          <p:nvPr/>
        </p:nvSpPr>
        <p:spPr>
          <a:xfrm>
            <a:off x="945000" y="2205000"/>
            <a:ext cx="4089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buClr>
                <a:srgbClr val="3197fd"/>
              </a:buClr>
              <a:buFont typeface="Wingdings" charset="2"/>
              <a:buChar char=""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Inspected result for h1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345" name="文字方塊 11"/>
          <p:cNvSpPr/>
          <p:nvPr/>
        </p:nvSpPr>
        <p:spPr>
          <a:xfrm>
            <a:off x="6014520" y="2230200"/>
            <a:ext cx="42285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buClr>
                <a:srgbClr val="3197fd"/>
              </a:buClr>
              <a:buFont typeface="Wingdings" charset="2"/>
              <a:buChar char=""/>
            </a:pPr>
            <a:r>
              <a:rPr b="0" lang="en-US" sz="2400" spc="-1" strike="noStrike">
                <a:solidFill>
                  <a:srgbClr val="3197fd"/>
                </a:solidFill>
                <a:latin typeface="Calibri"/>
                <a:ea typeface="標楷體"/>
              </a:rPr>
              <a:t>Inspected result for R1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346" name="Group 10"/>
          <p:cNvGrpSpPr/>
          <p:nvPr/>
        </p:nvGrpSpPr>
        <p:grpSpPr>
          <a:xfrm>
            <a:off x="1620000" y="2614680"/>
            <a:ext cx="4089240" cy="2642400"/>
            <a:chOff x="1620000" y="2614680"/>
            <a:chExt cx="4089240" cy="2642400"/>
          </a:xfrm>
        </p:grpSpPr>
        <p:pic>
          <p:nvPicPr>
            <p:cNvPr id="347" name="圖片 5" descr=""/>
            <p:cNvPicPr/>
            <p:nvPr/>
          </p:nvPicPr>
          <p:blipFill>
            <a:blip r:embed="rId3"/>
            <a:stretch/>
          </p:blipFill>
          <p:spPr>
            <a:xfrm>
              <a:off x="1620000" y="2614680"/>
              <a:ext cx="4089240" cy="2642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48" name="矩形 22"/>
            <p:cNvSpPr/>
            <p:nvPr/>
          </p:nvSpPr>
          <p:spPr>
            <a:xfrm>
              <a:off x="2404080" y="5013000"/>
              <a:ext cx="2807640" cy="242280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49" name="矩形 23"/>
            <p:cNvSpPr/>
            <p:nvPr/>
          </p:nvSpPr>
          <p:spPr>
            <a:xfrm>
              <a:off x="2030040" y="2831040"/>
              <a:ext cx="997920" cy="285840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50" name="Group 7"/>
          <p:cNvGrpSpPr/>
          <p:nvPr/>
        </p:nvGrpSpPr>
        <p:grpSpPr>
          <a:xfrm>
            <a:off x="6720120" y="2638080"/>
            <a:ext cx="4089240" cy="2636640"/>
            <a:chOff x="6720120" y="2638080"/>
            <a:chExt cx="4089240" cy="2636640"/>
          </a:xfrm>
        </p:grpSpPr>
        <p:pic>
          <p:nvPicPr>
            <p:cNvPr id="351" name="圖片 9" descr=""/>
            <p:cNvPicPr/>
            <p:nvPr/>
          </p:nvPicPr>
          <p:blipFill>
            <a:blip r:embed="rId4"/>
            <a:stretch/>
          </p:blipFill>
          <p:spPr>
            <a:xfrm>
              <a:off x="6720120" y="2638080"/>
              <a:ext cx="4089240" cy="2636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52" name="矩形 26"/>
            <p:cNvSpPr/>
            <p:nvPr/>
          </p:nvSpPr>
          <p:spPr>
            <a:xfrm>
              <a:off x="7633800" y="5008320"/>
              <a:ext cx="2768040" cy="248760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53" name="矩形 29"/>
            <p:cNvSpPr/>
            <p:nvPr/>
          </p:nvSpPr>
          <p:spPr>
            <a:xfrm>
              <a:off x="7190640" y="2856240"/>
              <a:ext cx="969120" cy="277920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3 – Setup Container Networks (3/3)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Connect two domains</a:t>
            </a: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Create inter domain bridge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Connect containers R1 and R2 to bridge R1R2br</a:t>
            </a: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22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7C68D88B-9D64-40A7-84C6-D92EC1E37298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57" name="object 7"/>
          <p:cNvSpPr/>
          <p:nvPr/>
        </p:nvSpPr>
        <p:spPr>
          <a:xfrm>
            <a:off x="985680" y="2002320"/>
            <a:ext cx="899784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create R1R2br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358" name="object 7"/>
          <p:cNvSpPr/>
          <p:nvPr/>
        </p:nvSpPr>
        <p:spPr>
          <a:xfrm>
            <a:off x="983520" y="3022560"/>
            <a:ext cx="9000360" cy="8240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connect R1R2br R1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network connect R1R2br R2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359" name="群組 10"/>
          <p:cNvGrpSpPr/>
          <p:nvPr/>
        </p:nvGrpSpPr>
        <p:grpSpPr>
          <a:xfrm>
            <a:off x="1339920" y="4447800"/>
            <a:ext cx="3447000" cy="1559880"/>
            <a:chOff x="1339920" y="4447800"/>
            <a:chExt cx="3447000" cy="1559880"/>
          </a:xfrm>
        </p:grpSpPr>
        <p:grpSp>
          <p:nvGrpSpPr>
            <p:cNvPr id="360" name="群組 20"/>
            <p:cNvGrpSpPr/>
            <p:nvPr/>
          </p:nvGrpSpPr>
          <p:grpSpPr>
            <a:xfrm>
              <a:off x="3737160" y="4447800"/>
              <a:ext cx="1049760" cy="903960"/>
              <a:chOff x="3737160" y="4447800"/>
              <a:chExt cx="1049760" cy="903960"/>
            </a:xfrm>
          </p:grpSpPr>
          <p:pic>
            <p:nvPicPr>
              <p:cNvPr id="361" name="圖形 45" descr=""/>
              <p:cNvPicPr/>
              <p:nvPr/>
            </p:nvPicPr>
            <p:blipFill>
              <a:blip r:embed="rId1"/>
              <a:stretch/>
            </p:blipFill>
            <p:spPr>
              <a:xfrm>
                <a:off x="3957840" y="4611240"/>
                <a:ext cx="582120" cy="3877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62" name="圓角矩形 47"/>
              <p:cNvSpPr/>
              <p:nvPr/>
            </p:nvSpPr>
            <p:spPr>
              <a:xfrm>
                <a:off x="3757320" y="4447800"/>
                <a:ext cx="983520" cy="85968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3" name="文字方塊 48"/>
              <p:cNvSpPr/>
              <p:nvPr/>
            </p:nvSpPr>
            <p:spPr>
              <a:xfrm>
                <a:off x="3737160" y="4957200"/>
                <a:ext cx="10497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R1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grpSp>
          <p:nvGrpSpPr>
            <p:cNvPr id="364" name="群組 22"/>
            <p:cNvGrpSpPr/>
            <p:nvPr/>
          </p:nvGrpSpPr>
          <p:grpSpPr>
            <a:xfrm>
              <a:off x="1339920" y="4462560"/>
              <a:ext cx="1049760" cy="898200"/>
              <a:chOff x="1339920" y="4462560"/>
              <a:chExt cx="1049760" cy="898200"/>
            </a:xfrm>
          </p:grpSpPr>
          <p:pic>
            <p:nvPicPr>
              <p:cNvPr id="365" name="圖形 40" descr=""/>
              <p:cNvPicPr/>
              <p:nvPr/>
            </p:nvPicPr>
            <p:blipFill>
              <a:blip r:embed="rId2"/>
              <a:stretch/>
            </p:blipFill>
            <p:spPr>
              <a:xfrm>
                <a:off x="1591560" y="4559760"/>
                <a:ext cx="546480" cy="4842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66" name="圓角矩形 41"/>
              <p:cNvSpPr/>
              <p:nvPr/>
            </p:nvSpPr>
            <p:spPr>
              <a:xfrm>
                <a:off x="1351080" y="4462560"/>
                <a:ext cx="983520" cy="85968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7" name="文字方塊 42"/>
              <p:cNvSpPr/>
              <p:nvPr/>
            </p:nvSpPr>
            <p:spPr>
              <a:xfrm>
                <a:off x="1339920" y="4966200"/>
                <a:ext cx="10497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h1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sp>
          <p:nvSpPr>
            <p:cNvPr id="368" name="剪去同側角落矩形 23"/>
            <p:cNvSpPr/>
            <p:nvPr/>
          </p:nvSpPr>
          <p:spPr>
            <a:xfrm>
              <a:off x="2608200" y="4597560"/>
              <a:ext cx="886320" cy="359640"/>
            </a:xfrm>
            <a:prstGeom prst="snip2SameRect">
              <a:avLst>
                <a:gd name="adj1" fmla="val 19853"/>
                <a:gd name="adj2" fmla="val 0"/>
              </a:avLst>
            </a:prstGeom>
            <a:noFill/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69" name="直線接點 29"/>
            <p:cNvSpPr/>
            <p:nvPr/>
          </p:nvSpPr>
          <p:spPr>
            <a:xfrm flipV="1">
              <a:off x="2335320" y="4777200"/>
              <a:ext cx="272880" cy="11556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0" name="直線接點 30"/>
            <p:cNvSpPr/>
            <p:nvPr/>
          </p:nvSpPr>
          <p:spPr>
            <a:xfrm>
              <a:off x="3494880" y="4777200"/>
              <a:ext cx="262080" cy="10080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1" name="直線箭頭接點 31"/>
            <p:cNvSpPr/>
            <p:nvPr/>
          </p:nvSpPr>
          <p:spPr>
            <a:xfrm flipH="1" flipV="1">
              <a:off x="3051000" y="4956840"/>
              <a:ext cx="35640" cy="349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72" name="文字方塊 38"/>
            <p:cNvSpPr/>
            <p:nvPr/>
          </p:nvSpPr>
          <p:spPr>
            <a:xfrm>
              <a:off x="2608200" y="5308200"/>
              <a:ext cx="95868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R1h1br</a:t>
              </a:r>
              <a:endParaRPr b="0" lang="en-US" sz="2000" spc="-1" strike="noStrike">
                <a:latin typeface="Arial"/>
              </a:endParaRPr>
            </a:p>
          </p:txBody>
        </p:sp>
      </p:grpSp>
      <p:sp>
        <p:nvSpPr>
          <p:cNvPr id="373" name="圓角矩形 54"/>
          <p:cNvSpPr/>
          <p:nvPr/>
        </p:nvSpPr>
        <p:spPr>
          <a:xfrm>
            <a:off x="1162080" y="4185720"/>
            <a:ext cx="3849480" cy="166536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374" name="群組 55"/>
          <p:cNvGrpSpPr/>
          <p:nvPr/>
        </p:nvGrpSpPr>
        <p:grpSpPr>
          <a:xfrm>
            <a:off x="7223760" y="4466520"/>
            <a:ext cx="3447360" cy="1559880"/>
            <a:chOff x="7223760" y="4466520"/>
            <a:chExt cx="3447360" cy="1559880"/>
          </a:xfrm>
        </p:grpSpPr>
        <p:grpSp>
          <p:nvGrpSpPr>
            <p:cNvPr id="375" name="群組 56"/>
            <p:cNvGrpSpPr/>
            <p:nvPr/>
          </p:nvGrpSpPr>
          <p:grpSpPr>
            <a:xfrm>
              <a:off x="9621360" y="4466520"/>
              <a:ext cx="1049760" cy="903600"/>
              <a:chOff x="9621360" y="4466520"/>
              <a:chExt cx="1049760" cy="903600"/>
            </a:xfrm>
          </p:grpSpPr>
          <p:sp>
            <p:nvSpPr>
              <p:cNvPr id="376" name="圓角矩形 67"/>
              <p:cNvSpPr/>
              <p:nvPr/>
            </p:nvSpPr>
            <p:spPr>
              <a:xfrm>
                <a:off x="9641160" y="4466520"/>
                <a:ext cx="983520" cy="85968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7" name="文字方塊 68"/>
              <p:cNvSpPr/>
              <p:nvPr/>
            </p:nvSpPr>
            <p:spPr>
              <a:xfrm>
                <a:off x="9621360" y="4975560"/>
                <a:ext cx="10497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h2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grpSp>
          <p:nvGrpSpPr>
            <p:cNvPr id="378" name="群組 57"/>
            <p:cNvGrpSpPr/>
            <p:nvPr/>
          </p:nvGrpSpPr>
          <p:grpSpPr>
            <a:xfrm>
              <a:off x="7223760" y="4481280"/>
              <a:ext cx="3195720" cy="898200"/>
              <a:chOff x="7223760" y="4481280"/>
              <a:chExt cx="3195720" cy="898200"/>
            </a:xfrm>
          </p:grpSpPr>
          <p:pic>
            <p:nvPicPr>
              <p:cNvPr id="379" name="圖形 63" descr=""/>
              <p:cNvPicPr/>
              <p:nvPr/>
            </p:nvPicPr>
            <p:blipFill>
              <a:blip r:embed="rId3"/>
              <a:stretch/>
            </p:blipFill>
            <p:spPr>
              <a:xfrm>
                <a:off x="9873000" y="4553640"/>
                <a:ext cx="546480" cy="4842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80" name="圓角矩形 64"/>
              <p:cNvSpPr/>
              <p:nvPr/>
            </p:nvSpPr>
            <p:spPr>
              <a:xfrm>
                <a:off x="7235280" y="4481280"/>
                <a:ext cx="983520" cy="85968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1" name="文字方塊 65"/>
              <p:cNvSpPr/>
              <p:nvPr/>
            </p:nvSpPr>
            <p:spPr>
              <a:xfrm>
                <a:off x="7223760" y="4984920"/>
                <a:ext cx="10497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R2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sp>
          <p:nvSpPr>
            <p:cNvPr id="382" name="剪去同側角落矩形 58"/>
            <p:cNvSpPr/>
            <p:nvPr/>
          </p:nvSpPr>
          <p:spPr>
            <a:xfrm>
              <a:off x="8492400" y="4615920"/>
              <a:ext cx="886320" cy="359640"/>
            </a:xfrm>
            <a:prstGeom prst="snip2SameRect">
              <a:avLst>
                <a:gd name="adj1" fmla="val 19853"/>
                <a:gd name="adj2" fmla="val 0"/>
              </a:avLst>
            </a:prstGeom>
            <a:noFill/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3" name="直線接點 59"/>
            <p:cNvSpPr/>
            <p:nvPr/>
          </p:nvSpPr>
          <p:spPr>
            <a:xfrm flipV="1">
              <a:off x="8219520" y="4795920"/>
              <a:ext cx="272520" cy="11556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4" name="直線接點 60"/>
            <p:cNvSpPr/>
            <p:nvPr/>
          </p:nvSpPr>
          <p:spPr>
            <a:xfrm>
              <a:off x="9379080" y="4795920"/>
              <a:ext cx="262080" cy="10044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5" name="直線箭頭接點 61"/>
            <p:cNvSpPr/>
            <p:nvPr/>
          </p:nvSpPr>
          <p:spPr>
            <a:xfrm flipH="1" flipV="1">
              <a:off x="8935200" y="4975560"/>
              <a:ext cx="35640" cy="349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386" name="文字方塊 62"/>
            <p:cNvSpPr/>
            <p:nvPr/>
          </p:nvSpPr>
          <p:spPr>
            <a:xfrm>
              <a:off x="8492400" y="5326920"/>
              <a:ext cx="95868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R2h2br</a:t>
              </a:r>
              <a:endParaRPr b="0" lang="en-US" sz="2000" spc="-1" strike="noStrike">
                <a:latin typeface="Arial"/>
              </a:endParaRPr>
            </a:p>
          </p:txBody>
        </p:sp>
      </p:grpSp>
      <p:sp>
        <p:nvSpPr>
          <p:cNvPr id="387" name="圓角矩形 69"/>
          <p:cNvSpPr/>
          <p:nvPr/>
        </p:nvSpPr>
        <p:spPr>
          <a:xfrm>
            <a:off x="7046280" y="4204440"/>
            <a:ext cx="3849480" cy="166536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388" name="圖形 70" descr=""/>
          <p:cNvPicPr/>
          <p:nvPr/>
        </p:nvPicPr>
        <p:blipFill>
          <a:blip r:embed="rId4"/>
          <a:stretch/>
        </p:blipFill>
        <p:spPr>
          <a:xfrm>
            <a:off x="7435800" y="4629960"/>
            <a:ext cx="582120" cy="387720"/>
          </a:xfrm>
          <a:prstGeom prst="rect">
            <a:avLst/>
          </a:prstGeom>
          <a:ln w="0">
            <a:noFill/>
          </a:ln>
        </p:spPr>
      </p:pic>
      <p:sp>
        <p:nvSpPr>
          <p:cNvPr id="389" name="剪去同側角落矩形 71"/>
          <p:cNvSpPr/>
          <p:nvPr/>
        </p:nvSpPr>
        <p:spPr>
          <a:xfrm>
            <a:off x="5452560" y="4558320"/>
            <a:ext cx="1079280" cy="438120"/>
          </a:xfrm>
          <a:prstGeom prst="snip2SameRect">
            <a:avLst>
              <a:gd name="adj1" fmla="val 19853"/>
              <a:gd name="adj2" fmla="val 0"/>
            </a:avLst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直線接點 72"/>
          <p:cNvSpPr/>
          <p:nvPr/>
        </p:nvSpPr>
        <p:spPr>
          <a:xfrm flipV="1">
            <a:off x="4741200" y="4777200"/>
            <a:ext cx="711000" cy="100800"/>
          </a:xfrm>
          <a:prstGeom prst="line">
            <a:avLst/>
          </a:prstGeom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直線接點 77"/>
          <p:cNvSpPr/>
          <p:nvPr/>
        </p:nvSpPr>
        <p:spPr>
          <a:xfrm>
            <a:off x="6532560" y="4777200"/>
            <a:ext cx="702360" cy="134280"/>
          </a:xfrm>
          <a:prstGeom prst="line">
            <a:avLst/>
          </a:prstGeom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2" name="直線箭頭接點 82"/>
          <p:cNvSpPr/>
          <p:nvPr/>
        </p:nvSpPr>
        <p:spPr>
          <a:xfrm flipH="1" flipV="1">
            <a:off x="5991840" y="4996080"/>
            <a:ext cx="63720" cy="45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ff0000"/>
            </a:solidFill>
            <a:round/>
            <a:tailEnd len="med" type="triangle" w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/>
        </p:style>
      </p:sp>
      <p:sp>
        <p:nvSpPr>
          <p:cNvPr id="393" name="文字方塊 84"/>
          <p:cNvSpPr/>
          <p:nvPr/>
        </p:nvSpPr>
        <p:spPr>
          <a:xfrm>
            <a:off x="5497920" y="5452200"/>
            <a:ext cx="1127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R1R2br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94" name="文字方塊 88"/>
          <p:cNvSpPr/>
          <p:nvPr/>
        </p:nvSpPr>
        <p:spPr>
          <a:xfrm>
            <a:off x="2267640" y="5844600"/>
            <a:ext cx="174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a6a6a6"/>
                </a:solidFill>
                <a:latin typeface="Calibri"/>
                <a:ea typeface="標楷體"/>
              </a:rPr>
              <a:t>Domain 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395" name="文字方塊 89"/>
          <p:cNvSpPr/>
          <p:nvPr/>
        </p:nvSpPr>
        <p:spPr>
          <a:xfrm>
            <a:off x="8155080" y="5852160"/>
            <a:ext cx="174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a6a6a6"/>
                </a:solidFill>
                <a:latin typeface="Calibri"/>
                <a:ea typeface="標楷體"/>
              </a:rPr>
              <a:t>Domain 2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4 – Configure Host Gateways (1/1)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97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Run bash on h1 (h2)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Set R1 (R2) as default gateway of h1 (h2)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Check route on h1 (h2)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Exit h1 bash via CTRL+D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3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0FDA20E-DB6C-4516-91A8-47F427DC0419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99" name="object 7"/>
          <p:cNvSpPr/>
          <p:nvPr/>
        </p:nvSpPr>
        <p:spPr>
          <a:xfrm>
            <a:off x="983520" y="1500840"/>
            <a:ext cx="648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exec -it h1 bash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00" name="object 7"/>
          <p:cNvSpPr/>
          <p:nvPr/>
        </p:nvSpPr>
        <p:spPr>
          <a:xfrm>
            <a:off x="983520" y="2489040"/>
            <a:ext cx="6480000" cy="11898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h1/#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ip route del default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h1/#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ip route add default via 172.18.0.2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01" name="object 7"/>
          <p:cNvSpPr/>
          <p:nvPr/>
        </p:nvSpPr>
        <p:spPr>
          <a:xfrm>
            <a:off x="988560" y="3898080"/>
            <a:ext cx="648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h1/#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route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402" name="Group 17"/>
          <p:cNvGrpSpPr/>
          <p:nvPr/>
        </p:nvGrpSpPr>
        <p:grpSpPr>
          <a:xfrm>
            <a:off x="7659000" y="1033920"/>
            <a:ext cx="3808440" cy="2233800"/>
            <a:chOff x="7659000" y="1033920"/>
            <a:chExt cx="3808440" cy="2233800"/>
          </a:xfrm>
        </p:grpSpPr>
        <p:grpSp>
          <p:nvGrpSpPr>
            <p:cNvPr id="403" name="群組 11"/>
            <p:cNvGrpSpPr/>
            <p:nvPr/>
          </p:nvGrpSpPr>
          <p:grpSpPr>
            <a:xfrm>
              <a:off x="10417680" y="1513800"/>
              <a:ext cx="1049760" cy="903960"/>
              <a:chOff x="10417680" y="1513800"/>
              <a:chExt cx="1049760" cy="903960"/>
            </a:xfrm>
          </p:grpSpPr>
          <p:pic>
            <p:nvPicPr>
              <p:cNvPr id="404" name="圖形 26" descr=""/>
              <p:cNvPicPr/>
              <p:nvPr/>
            </p:nvPicPr>
            <p:blipFill>
              <a:blip r:embed="rId1"/>
              <a:stretch/>
            </p:blipFill>
            <p:spPr>
              <a:xfrm>
                <a:off x="10638360" y="1677600"/>
                <a:ext cx="582120" cy="3877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405" name="圓角矩形 27"/>
              <p:cNvSpPr/>
              <p:nvPr/>
            </p:nvSpPr>
            <p:spPr>
              <a:xfrm>
                <a:off x="10437840" y="1513800"/>
                <a:ext cx="983520" cy="85968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06" name="文字方塊 28"/>
              <p:cNvSpPr/>
              <p:nvPr/>
            </p:nvSpPr>
            <p:spPr>
              <a:xfrm>
                <a:off x="10417680" y="2023200"/>
                <a:ext cx="10497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R1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grpSp>
          <p:nvGrpSpPr>
            <p:cNvPr id="407" name="群組 12"/>
            <p:cNvGrpSpPr/>
            <p:nvPr/>
          </p:nvGrpSpPr>
          <p:grpSpPr>
            <a:xfrm>
              <a:off x="7818840" y="1534680"/>
              <a:ext cx="1049760" cy="898200"/>
              <a:chOff x="7818840" y="1534680"/>
              <a:chExt cx="1049760" cy="898200"/>
            </a:xfrm>
          </p:grpSpPr>
          <p:pic>
            <p:nvPicPr>
              <p:cNvPr id="408" name="圖形 23" descr=""/>
              <p:cNvPicPr/>
              <p:nvPr/>
            </p:nvPicPr>
            <p:blipFill>
              <a:blip r:embed="rId2"/>
              <a:stretch/>
            </p:blipFill>
            <p:spPr>
              <a:xfrm>
                <a:off x="8070480" y="1631880"/>
                <a:ext cx="546480" cy="4842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409" name="圓角矩形 24"/>
              <p:cNvSpPr/>
              <p:nvPr/>
            </p:nvSpPr>
            <p:spPr>
              <a:xfrm>
                <a:off x="7830000" y="1534680"/>
                <a:ext cx="983520" cy="859680"/>
              </a:xfrm>
              <a:prstGeom prst="roundRect">
                <a:avLst>
                  <a:gd name="adj" fmla="val 16667"/>
                </a:avLst>
              </a:prstGeom>
              <a:noFill/>
              <a:ln w="19050">
                <a:solidFill>
                  <a:srgbClr val="ff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文字方塊 25"/>
              <p:cNvSpPr/>
              <p:nvPr/>
            </p:nvSpPr>
            <p:spPr>
              <a:xfrm>
                <a:off x="7818840" y="2038320"/>
                <a:ext cx="104976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197fd"/>
                    </a:solidFill>
                    <a:latin typeface="Calibri"/>
                    <a:ea typeface="標楷體"/>
                  </a:rPr>
                  <a:t>h1</a:t>
                </a:r>
                <a:endParaRPr b="0" lang="en-US" sz="2000" spc="-1" strike="noStrike">
                  <a:latin typeface="Arial"/>
                </a:endParaRPr>
              </a:p>
            </p:txBody>
          </p:sp>
        </p:grpSp>
        <p:sp>
          <p:nvSpPr>
            <p:cNvPr id="411" name="直線接點 16"/>
            <p:cNvSpPr/>
            <p:nvPr/>
          </p:nvSpPr>
          <p:spPr>
            <a:xfrm flipV="1">
              <a:off x="8814240" y="1871640"/>
              <a:ext cx="440640" cy="9324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12" name="直線箭頭接點 19"/>
            <p:cNvSpPr/>
            <p:nvPr/>
          </p:nvSpPr>
          <p:spPr>
            <a:xfrm>
              <a:off x="10200600" y="1434240"/>
              <a:ext cx="236520" cy="5094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413" name="文字方塊 21"/>
            <p:cNvSpPr/>
            <p:nvPr/>
          </p:nvSpPr>
          <p:spPr>
            <a:xfrm>
              <a:off x="9482760" y="1033920"/>
              <a:ext cx="143496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172.18.0.2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414" name="object 19"/>
            <p:cNvSpPr/>
            <p:nvPr/>
          </p:nvSpPr>
          <p:spPr>
            <a:xfrm>
              <a:off x="7659000" y="2608200"/>
              <a:ext cx="2841120" cy="65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50040" bIns="0" anchor="t">
              <a:spAutoFit/>
            </a:bodyPr>
            <a:p>
              <a:pPr marL="12600">
                <a:lnSpc>
                  <a:spcPct val="100000"/>
                </a:lnSpc>
                <a:spcBef>
                  <a:spcPts val="258"/>
                </a:spcBef>
                <a:buNone/>
              </a:pPr>
              <a:r>
                <a:rPr b="0" lang="en-US" sz="2000" spc="-26" strike="noStrike">
                  <a:solidFill>
                    <a:srgbClr val="ff0000"/>
                  </a:solidFill>
                  <a:latin typeface="Calibri"/>
                  <a:ea typeface="標楷體"/>
                </a:rPr>
                <a:t>Gateway</a:t>
              </a:r>
              <a:r>
                <a:rPr b="0" lang="en-US" sz="2000" spc="-21" strike="noStrike">
                  <a:solidFill>
                    <a:srgbClr val="ff0000"/>
                  </a:solidFill>
                  <a:latin typeface="Calibri"/>
                  <a:ea typeface="標楷體"/>
                </a:rPr>
                <a:t> </a:t>
              </a:r>
              <a:r>
                <a:rPr b="0" lang="en-US" sz="2000" spc="-1" strike="noStrike">
                  <a:solidFill>
                    <a:srgbClr val="ff0000"/>
                  </a:solidFill>
                  <a:latin typeface="Calibri"/>
                  <a:ea typeface="標楷體"/>
                </a:rPr>
                <a:t>=</a:t>
              </a:r>
              <a:r>
                <a:rPr b="0" lang="en-US" sz="2000" spc="-12" strike="noStrike">
                  <a:solidFill>
                    <a:srgbClr val="ff0000"/>
                  </a:solidFill>
                  <a:latin typeface="Calibri"/>
                  <a:ea typeface="標楷體"/>
                </a:rPr>
                <a:t> 172.18.0.2</a:t>
              </a:r>
              <a:r>
                <a:rPr b="0" lang="en-US" sz="2000" spc="-26" strike="noStrike">
                  <a:solidFill>
                    <a:srgbClr val="ff0000"/>
                  </a:solidFill>
                  <a:latin typeface="Calibri"/>
                  <a:ea typeface="標楷體"/>
                </a:rPr>
                <a:t> </a:t>
              </a:r>
              <a:r>
                <a:rPr b="0" lang="en-US" sz="2000" spc="-7" strike="noStrike">
                  <a:solidFill>
                    <a:srgbClr val="ff0000"/>
                  </a:solidFill>
                  <a:latin typeface="Calibri"/>
                  <a:ea typeface="標楷體"/>
                </a:rPr>
                <a:t>(R1)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415" name="直線箭頭接點 35"/>
            <p:cNvSpPr/>
            <p:nvPr/>
          </p:nvSpPr>
          <p:spPr>
            <a:xfrm flipH="1" flipV="1">
              <a:off x="8553960" y="2423160"/>
              <a:ext cx="74160" cy="2264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28575">
              <a:solidFill>
                <a:srgbClr val="ff0000"/>
              </a:solidFill>
              <a:round/>
              <a:tailEnd len="med" type="triangle" w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/>
          </p:style>
        </p:sp>
        <p:sp>
          <p:nvSpPr>
            <p:cNvPr id="416" name="剪去同側角落矩形 42"/>
            <p:cNvSpPr/>
            <p:nvPr/>
          </p:nvSpPr>
          <p:spPr>
            <a:xfrm>
              <a:off x="9255240" y="1732680"/>
              <a:ext cx="708480" cy="277560"/>
            </a:xfrm>
            <a:prstGeom prst="snip2SameRect">
              <a:avLst>
                <a:gd name="adj1" fmla="val 19853"/>
                <a:gd name="adj2" fmla="val 0"/>
              </a:avLst>
            </a:prstGeom>
            <a:noFill/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17" name="直線接點 43"/>
            <p:cNvSpPr/>
            <p:nvPr/>
          </p:nvSpPr>
          <p:spPr>
            <a:xfrm>
              <a:off x="9964080" y="1871640"/>
              <a:ext cx="473400" cy="7236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18" name="文字方塊 49"/>
            <p:cNvSpPr/>
            <p:nvPr/>
          </p:nvSpPr>
          <p:spPr>
            <a:xfrm>
              <a:off x="9163800" y="2004480"/>
              <a:ext cx="95868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000000"/>
                  </a:solidFill>
                  <a:latin typeface="Calibri"/>
                  <a:ea typeface="標楷體"/>
                </a:rPr>
                <a:t>R1h1br</a:t>
              </a:r>
              <a:endParaRPr b="0" lang="en-US" sz="2000" spc="-1" strike="noStrike">
                <a:latin typeface="Arial"/>
              </a:endParaRPr>
            </a:p>
          </p:txBody>
        </p:sp>
      </p:grpSp>
      <p:grpSp>
        <p:nvGrpSpPr>
          <p:cNvPr id="419" name="Group 14"/>
          <p:cNvGrpSpPr/>
          <p:nvPr/>
        </p:nvGrpSpPr>
        <p:grpSpPr>
          <a:xfrm>
            <a:off x="966960" y="4584600"/>
            <a:ext cx="9504000" cy="1565640"/>
            <a:chOff x="966960" y="4584600"/>
            <a:chExt cx="9504000" cy="1565640"/>
          </a:xfrm>
        </p:grpSpPr>
        <p:pic>
          <p:nvPicPr>
            <p:cNvPr id="420" name="圖片 8" descr=""/>
            <p:cNvPicPr/>
            <p:nvPr/>
          </p:nvPicPr>
          <p:blipFill>
            <a:blip r:embed="rId3"/>
            <a:stretch/>
          </p:blipFill>
          <p:spPr>
            <a:xfrm>
              <a:off x="966960" y="4584600"/>
              <a:ext cx="9504000" cy="1565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21" name="矩形 9"/>
            <p:cNvSpPr/>
            <p:nvPr/>
          </p:nvSpPr>
          <p:spPr>
            <a:xfrm>
              <a:off x="2812680" y="5340240"/>
              <a:ext cx="1151280" cy="303480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22" name="矩形 9"/>
            <p:cNvSpPr/>
            <p:nvPr/>
          </p:nvSpPr>
          <p:spPr>
            <a:xfrm>
              <a:off x="988200" y="4584600"/>
              <a:ext cx="2370960" cy="248400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23" name="object 19"/>
          <p:cNvSpPr/>
          <p:nvPr/>
        </p:nvSpPr>
        <p:spPr>
          <a:xfrm>
            <a:off x="2099520" y="4269960"/>
            <a:ext cx="28360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040" bIns="0" anchor="t">
            <a:spAutoFit/>
          </a:bodyPr>
          <a:p>
            <a:pPr marL="12600">
              <a:lnSpc>
                <a:spcPct val="100000"/>
              </a:lnSpc>
              <a:spcBef>
                <a:spcPts val="258"/>
              </a:spcBef>
              <a:buNone/>
            </a:pPr>
            <a:r>
              <a:rPr b="0" lang="en-US" sz="2000" spc="-26" strike="noStrike">
                <a:solidFill>
                  <a:srgbClr val="ff0000"/>
                </a:solidFill>
                <a:latin typeface="Calibri"/>
                <a:ea typeface="標楷體"/>
              </a:rPr>
              <a:t>h1’s bash prompt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5 – Setup Routers (1/4)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Run bash on R1 (R2)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Enable IP forwarding on R1 (R2)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8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Uncomment </a:t>
            </a: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    “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net.ipv4.ip_forward=1”</a:t>
            </a:r>
            <a:endParaRPr b="0" lang="en-US" sz="26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Run sysctl to 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   </a:t>
            </a: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load configuration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24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81261D1E-7D45-4208-B3B2-46B3A21291FB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27" name="object 7"/>
          <p:cNvSpPr/>
          <p:nvPr/>
        </p:nvSpPr>
        <p:spPr>
          <a:xfrm>
            <a:off x="983520" y="1500840"/>
            <a:ext cx="5112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exec -it R1 bash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28" name="object 7"/>
          <p:cNvSpPr/>
          <p:nvPr/>
        </p:nvSpPr>
        <p:spPr>
          <a:xfrm>
            <a:off x="983520" y="2421000"/>
            <a:ext cx="5112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vi /etc/sysctl.conf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429" name="object 8" descr=""/>
          <p:cNvPicPr/>
          <p:nvPr/>
        </p:nvPicPr>
        <p:blipFill>
          <a:blip r:embed="rId1"/>
          <a:srcRect l="0" t="0" r="8989" b="0"/>
          <a:stretch/>
        </p:blipFill>
        <p:spPr>
          <a:xfrm>
            <a:off x="4754520" y="5173560"/>
            <a:ext cx="7383960" cy="1277280"/>
          </a:xfrm>
          <a:prstGeom prst="rect">
            <a:avLst/>
          </a:prstGeom>
          <a:ln w="0">
            <a:noFill/>
          </a:ln>
        </p:spPr>
      </p:pic>
      <p:pic>
        <p:nvPicPr>
          <p:cNvPr id="430" name="object 11" descr=""/>
          <p:cNvPicPr/>
          <p:nvPr/>
        </p:nvPicPr>
        <p:blipFill>
          <a:blip r:embed="rId2"/>
          <a:srcRect l="0" t="0" r="9084" b="16263"/>
          <a:stretch/>
        </p:blipFill>
        <p:spPr>
          <a:xfrm>
            <a:off x="4727880" y="2937600"/>
            <a:ext cx="7410600" cy="1768320"/>
          </a:xfrm>
          <a:prstGeom prst="rect">
            <a:avLst/>
          </a:prstGeom>
          <a:ln w="0">
            <a:noFill/>
          </a:ln>
        </p:spPr>
      </p:pic>
      <p:sp>
        <p:nvSpPr>
          <p:cNvPr id="431" name="object 7"/>
          <p:cNvSpPr/>
          <p:nvPr/>
        </p:nvSpPr>
        <p:spPr>
          <a:xfrm>
            <a:off x="983520" y="4795920"/>
            <a:ext cx="317412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sysctl -p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32" name="矩形 12"/>
          <p:cNvSpPr/>
          <p:nvPr/>
        </p:nvSpPr>
        <p:spPr>
          <a:xfrm>
            <a:off x="4777200" y="6125040"/>
            <a:ext cx="2637000" cy="2854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矩形 13"/>
          <p:cNvSpPr/>
          <p:nvPr/>
        </p:nvSpPr>
        <p:spPr>
          <a:xfrm>
            <a:off x="4754520" y="4009320"/>
            <a:ext cx="2637000" cy="2109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4" name="向下箭號 14"/>
          <p:cNvSpPr/>
          <p:nvPr/>
        </p:nvSpPr>
        <p:spPr>
          <a:xfrm>
            <a:off x="8358120" y="4706640"/>
            <a:ext cx="431280" cy="466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3890f0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5 – Setup Routers (2/4)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FRR daemons config file R1(R2)</a:t>
            </a: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8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Edit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FRR daemon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configuration file on R1 (R2)</a:t>
            </a: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8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Edit </a:t>
            </a:r>
            <a:r>
              <a:rPr b="1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bgpd=yes </a:t>
            </a:r>
            <a:r>
              <a:rPr b="0" lang="en-US" sz="2600" spc="-1" strike="noStrike">
                <a:solidFill>
                  <a:srgbClr val="3297fc"/>
                </a:solidFill>
                <a:latin typeface="Calibri"/>
                <a:ea typeface="標楷體"/>
              </a:rPr>
              <a:t>to turn on bgp routing daemon </a:t>
            </a: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600" spc="-1" strike="noStrike"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5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3A6E0FF-7417-43DB-A857-71311EAE8DF7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38" name="object 7"/>
          <p:cNvSpPr/>
          <p:nvPr/>
        </p:nvSpPr>
        <p:spPr>
          <a:xfrm>
            <a:off x="1259640" y="1990800"/>
            <a:ext cx="648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vi /etc/frr/daemons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439" name="圖片 10" descr=""/>
          <p:cNvPicPr/>
          <p:nvPr/>
        </p:nvPicPr>
        <p:blipFill>
          <a:blip r:embed="rId1"/>
          <a:stretch/>
        </p:blipFill>
        <p:spPr>
          <a:xfrm>
            <a:off x="1259640" y="3002040"/>
            <a:ext cx="9517320" cy="2442240"/>
          </a:xfrm>
          <a:prstGeom prst="rect">
            <a:avLst/>
          </a:prstGeom>
          <a:ln w="0">
            <a:noFill/>
          </a:ln>
        </p:spPr>
      </p:pic>
      <p:sp>
        <p:nvSpPr>
          <p:cNvPr id="440" name="矩形 57"/>
          <p:cNvSpPr/>
          <p:nvPr/>
        </p:nvSpPr>
        <p:spPr>
          <a:xfrm>
            <a:off x="1976760" y="3619080"/>
            <a:ext cx="8502480" cy="311040"/>
          </a:xfrm>
          <a:prstGeom prst="rect">
            <a:avLst/>
          </a:prstGeom>
          <a:noFill/>
          <a:ln w="19050">
            <a:solidFill>
              <a:srgbClr val="ffff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5 – Setup Routers (3/4)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Set BGP configuration for routers</a:t>
            </a: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Edit configuration file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frr.conf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on R1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6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38D90C8A-54A1-44A5-A213-95CADFAB718C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44" name="object 7"/>
          <p:cNvSpPr/>
          <p:nvPr/>
        </p:nvSpPr>
        <p:spPr>
          <a:xfrm>
            <a:off x="1055520" y="1917000"/>
            <a:ext cx="648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vi /etc/frr/frr.conf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45" name="圓角矩形 5"/>
          <p:cNvSpPr/>
          <p:nvPr/>
        </p:nvSpPr>
        <p:spPr>
          <a:xfrm>
            <a:off x="839520" y="2355840"/>
            <a:ext cx="7429320" cy="418752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6" name="文字方塊 7"/>
          <p:cNvSpPr/>
          <p:nvPr/>
        </p:nvSpPr>
        <p:spPr>
          <a:xfrm>
            <a:off x="1267920" y="2355840"/>
            <a:ext cx="6843240" cy="420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 FRR configuration for R1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frr defaults datacenter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router bgp 65000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bgp router-id 172.20.0.2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timers bgp 3 9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172.20.0.3 remote-as 65001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172.20.0.3 ebgp-multihop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172.20.0.3 timers connect 5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172.20.0.3 advertisement-interval 5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network 172.18.0.0/16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log stdout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line vty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47" name="object 28"/>
          <p:cNvSpPr/>
          <p:nvPr/>
        </p:nvSpPr>
        <p:spPr>
          <a:xfrm>
            <a:off x="8552160" y="5322240"/>
            <a:ext cx="1605240" cy="16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76320" bIns="0" anchor="t">
            <a:spAutoFit/>
          </a:bodyPr>
          <a:p>
            <a:pPr marL="31680">
              <a:lnSpc>
                <a:spcPct val="100000"/>
              </a:lnSpc>
              <a:spcBef>
                <a:spcPts val="601"/>
              </a:spcBef>
              <a:buNone/>
            </a:pPr>
            <a:r>
              <a:rPr b="0" lang="en-US" sz="2400" spc="-7" strike="noStrike">
                <a:solidFill>
                  <a:srgbClr val="ff0000"/>
                </a:solidFill>
                <a:latin typeface="Arial MT"/>
                <a:ea typeface="標楷體"/>
              </a:rPr>
              <a:t>ASN</a:t>
            </a:r>
            <a:r>
              <a:rPr b="0" lang="en-US" sz="2400" spc="-100" strike="noStrike">
                <a:solidFill>
                  <a:srgbClr val="ff0000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ff0000"/>
                </a:solidFill>
                <a:latin typeface="Arial MT"/>
                <a:ea typeface="標楷體"/>
              </a:rPr>
              <a:t>65000</a:t>
            </a:r>
            <a:endParaRPr b="0" lang="en-US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505"/>
              </a:spcBef>
              <a:buNone/>
            </a:pPr>
            <a:r>
              <a:rPr b="0" lang="en-US" sz="2400" spc="-7" strike="noStrike">
                <a:solidFill>
                  <a:srgbClr val="00b050"/>
                </a:solidFill>
                <a:latin typeface="Arial MT"/>
                <a:ea typeface="標楷體"/>
              </a:rPr>
              <a:t>ASN</a:t>
            </a:r>
            <a:r>
              <a:rPr b="0" lang="en-US" sz="2400" spc="-100" strike="noStrike">
                <a:solidFill>
                  <a:srgbClr val="00b050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b050"/>
                </a:solidFill>
                <a:latin typeface="Arial MT"/>
                <a:ea typeface="標楷體"/>
              </a:rPr>
              <a:t>65001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48" name="object 27"/>
          <p:cNvSpPr/>
          <p:nvPr/>
        </p:nvSpPr>
        <p:spPr>
          <a:xfrm>
            <a:off x="10321920" y="5589360"/>
            <a:ext cx="535320" cy="9360"/>
          </a:xfrm>
          <a:custGeom>
            <a:avLst/>
            <a:gdLst/>
            <a:ahLst/>
            <a:rect l="l" t="t" r="r" b="b"/>
            <a:pathLst>
              <a:path w="535940" h="10160">
                <a:moveTo>
                  <a:pt x="0" y="0"/>
                </a:moveTo>
                <a:lnTo>
                  <a:pt x="535600" y="9628"/>
                </a:lnTo>
              </a:path>
            </a:pathLst>
          </a:custGeom>
          <a:noFill/>
          <a:ln w="28575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9" name="object 31"/>
          <p:cNvSpPr/>
          <p:nvPr/>
        </p:nvSpPr>
        <p:spPr>
          <a:xfrm>
            <a:off x="10311840" y="6041880"/>
            <a:ext cx="554760" cy="360"/>
          </a:xfrm>
          <a:custGeom>
            <a:avLst/>
            <a:gdLst/>
            <a:ahLst/>
            <a:rect l="l" t="t" r="r" b="b"/>
            <a:pathLst>
              <a:path w="555625" h="635">
                <a:moveTo>
                  <a:pt x="0" y="0"/>
                </a:moveTo>
                <a:lnTo>
                  <a:pt x="555200" y="29"/>
                </a:lnTo>
              </a:path>
            </a:pathLst>
          </a:custGeom>
          <a:noFill/>
          <a:ln w="28575">
            <a:solidFill>
              <a:srgbClr val="00b0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450" name="群組 10"/>
          <p:cNvGrpSpPr/>
          <p:nvPr/>
        </p:nvGrpSpPr>
        <p:grpSpPr>
          <a:xfrm>
            <a:off x="8475120" y="1454400"/>
            <a:ext cx="2905560" cy="3339720"/>
            <a:chOff x="8475120" y="1454400"/>
            <a:chExt cx="2905560" cy="3339720"/>
          </a:xfrm>
        </p:grpSpPr>
        <p:grpSp>
          <p:nvGrpSpPr>
            <p:cNvPr id="451" name="群組 11"/>
            <p:cNvGrpSpPr/>
            <p:nvPr/>
          </p:nvGrpSpPr>
          <p:grpSpPr>
            <a:xfrm>
              <a:off x="8641800" y="1821600"/>
              <a:ext cx="2629080" cy="827280"/>
              <a:chOff x="8641800" y="1821600"/>
              <a:chExt cx="2629080" cy="827280"/>
            </a:xfrm>
          </p:grpSpPr>
          <p:grpSp>
            <p:nvGrpSpPr>
              <p:cNvPr id="452" name="群組 35"/>
              <p:cNvGrpSpPr/>
              <p:nvPr/>
            </p:nvGrpSpPr>
            <p:grpSpPr>
              <a:xfrm>
                <a:off x="8641800" y="1821600"/>
                <a:ext cx="864360" cy="783360"/>
                <a:chOff x="8641800" y="1821600"/>
                <a:chExt cx="864360" cy="783360"/>
              </a:xfrm>
            </p:grpSpPr>
            <p:pic>
              <p:nvPicPr>
                <p:cNvPr id="453" name="圖形 45" descr=""/>
                <p:cNvPicPr/>
                <p:nvPr/>
              </p:nvPicPr>
              <p:blipFill>
                <a:blip r:embed="rId1"/>
                <a:stretch/>
              </p:blipFill>
              <p:spPr>
                <a:xfrm>
                  <a:off x="8870400" y="1924920"/>
                  <a:ext cx="412200" cy="33408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454" name="圓角矩形 46"/>
                <p:cNvSpPr/>
                <p:nvPr/>
              </p:nvSpPr>
              <p:spPr>
                <a:xfrm>
                  <a:off x="8671680" y="1821600"/>
                  <a:ext cx="812160" cy="764640"/>
                </a:xfrm>
                <a:prstGeom prst="roundRect">
                  <a:avLst>
                    <a:gd name="adj" fmla="val 16667"/>
                  </a:avLst>
                </a:prstGeom>
                <a:noFill/>
                <a:ln w="28575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55" name="文字方塊 47"/>
                <p:cNvSpPr/>
                <p:nvPr/>
              </p:nvSpPr>
              <p:spPr>
                <a:xfrm>
                  <a:off x="8641800" y="221040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R1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grpSp>
            <p:nvGrpSpPr>
              <p:cNvPr id="456" name="群組 36"/>
              <p:cNvGrpSpPr/>
              <p:nvPr/>
            </p:nvGrpSpPr>
            <p:grpSpPr>
              <a:xfrm>
                <a:off x="10406520" y="1821600"/>
                <a:ext cx="864360" cy="827280"/>
                <a:chOff x="10406520" y="1821600"/>
                <a:chExt cx="864360" cy="827280"/>
              </a:xfrm>
            </p:grpSpPr>
            <p:pic>
              <p:nvPicPr>
                <p:cNvPr id="457" name="圖形 42" descr=""/>
                <p:cNvPicPr/>
                <p:nvPr/>
              </p:nvPicPr>
              <p:blipFill>
                <a:blip r:embed="rId2"/>
                <a:stretch/>
              </p:blipFill>
              <p:spPr>
                <a:xfrm>
                  <a:off x="10676520" y="1898640"/>
                  <a:ext cx="361440" cy="38988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458" name="圓角矩形 43"/>
                <p:cNvSpPr/>
                <p:nvPr/>
              </p:nvSpPr>
              <p:spPr>
                <a:xfrm>
                  <a:off x="10424160" y="1821600"/>
                  <a:ext cx="812160" cy="75888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59" name="文字方塊 44"/>
                <p:cNvSpPr/>
                <p:nvPr/>
              </p:nvSpPr>
              <p:spPr>
                <a:xfrm>
                  <a:off x="10406520" y="225432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h1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sp>
            <p:nvSpPr>
              <p:cNvPr id="460" name="直線接點 39"/>
              <p:cNvSpPr/>
              <p:nvPr/>
            </p:nvSpPr>
            <p:spPr>
              <a:xfrm flipH="1">
                <a:off x="9484560" y="2201040"/>
                <a:ext cx="939600" cy="2880"/>
              </a:xfrm>
              <a:prstGeom prst="line">
                <a:avLst/>
              </a:prstGeom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61" name="圓角矩形 12"/>
            <p:cNvSpPr/>
            <p:nvPr/>
          </p:nvSpPr>
          <p:spPr>
            <a:xfrm>
              <a:off x="8475120" y="1454400"/>
              <a:ext cx="2905560" cy="121968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62" name="群組 13"/>
            <p:cNvGrpSpPr/>
            <p:nvPr/>
          </p:nvGrpSpPr>
          <p:grpSpPr>
            <a:xfrm>
              <a:off x="8641800" y="3674520"/>
              <a:ext cx="2625840" cy="830880"/>
              <a:chOff x="8641800" y="3674520"/>
              <a:chExt cx="2625840" cy="830880"/>
            </a:xfrm>
          </p:grpSpPr>
          <p:grpSp>
            <p:nvGrpSpPr>
              <p:cNvPr id="463" name="群組 23"/>
              <p:cNvGrpSpPr/>
              <p:nvPr/>
            </p:nvGrpSpPr>
            <p:grpSpPr>
              <a:xfrm>
                <a:off x="10403280" y="3674520"/>
                <a:ext cx="864360" cy="830880"/>
                <a:chOff x="10403280" y="3674520"/>
                <a:chExt cx="864360" cy="830880"/>
              </a:xfrm>
            </p:grpSpPr>
            <p:sp>
              <p:nvSpPr>
                <p:cNvPr id="464" name="圓角矩形 33"/>
                <p:cNvSpPr/>
                <p:nvPr/>
              </p:nvSpPr>
              <p:spPr>
                <a:xfrm>
                  <a:off x="10403280" y="3674520"/>
                  <a:ext cx="807480" cy="76968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65" name="文字方塊 34"/>
                <p:cNvSpPr/>
                <p:nvPr/>
              </p:nvSpPr>
              <p:spPr>
                <a:xfrm>
                  <a:off x="10403280" y="411084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h2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grpSp>
            <p:nvGrpSpPr>
              <p:cNvPr id="466" name="群組 24"/>
              <p:cNvGrpSpPr/>
              <p:nvPr/>
            </p:nvGrpSpPr>
            <p:grpSpPr>
              <a:xfrm>
                <a:off x="8641800" y="3681720"/>
                <a:ext cx="2405160" cy="802800"/>
                <a:chOff x="8641800" y="3681720"/>
                <a:chExt cx="2405160" cy="802800"/>
              </a:xfrm>
            </p:grpSpPr>
            <p:pic>
              <p:nvPicPr>
                <p:cNvPr id="467" name="圖形 30" descr=""/>
                <p:cNvPicPr/>
                <p:nvPr/>
              </p:nvPicPr>
              <p:blipFill>
                <a:blip r:embed="rId3"/>
                <a:stretch/>
              </p:blipFill>
              <p:spPr>
                <a:xfrm>
                  <a:off x="10665720" y="3725640"/>
                  <a:ext cx="381240" cy="41112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468" name="圓角矩形 31"/>
                <p:cNvSpPr/>
                <p:nvPr/>
              </p:nvSpPr>
              <p:spPr>
                <a:xfrm>
                  <a:off x="8676000" y="3681720"/>
                  <a:ext cx="807480" cy="75456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69" name="文字方塊 32"/>
                <p:cNvSpPr/>
                <p:nvPr/>
              </p:nvSpPr>
              <p:spPr>
                <a:xfrm>
                  <a:off x="8641800" y="408996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R2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sp>
            <p:nvSpPr>
              <p:cNvPr id="470" name="直線接點 26"/>
              <p:cNvSpPr/>
              <p:nvPr/>
            </p:nvSpPr>
            <p:spPr>
              <a:xfrm>
                <a:off x="9483840" y="4059360"/>
                <a:ext cx="919080" cy="360"/>
              </a:xfrm>
              <a:prstGeom prst="line">
                <a:avLst/>
              </a:prstGeom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71" name="圓角矩形 14"/>
            <p:cNvSpPr/>
            <p:nvPr/>
          </p:nvSpPr>
          <p:spPr>
            <a:xfrm>
              <a:off x="8517240" y="3593520"/>
              <a:ext cx="2847600" cy="120060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00b05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72" name="圖形 15" descr=""/>
            <p:cNvPicPr/>
            <p:nvPr/>
          </p:nvPicPr>
          <p:blipFill>
            <a:blip r:embed="rId4"/>
            <a:stretch/>
          </p:blipFill>
          <p:spPr>
            <a:xfrm>
              <a:off x="8870400" y="3773880"/>
              <a:ext cx="404280" cy="327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73" name="直線接點 18"/>
            <p:cNvSpPr/>
            <p:nvPr/>
          </p:nvSpPr>
          <p:spPr>
            <a:xfrm>
              <a:off x="9078120" y="2586600"/>
              <a:ext cx="1800" cy="109512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74" name="文字方塊 48"/>
          <p:cNvSpPr/>
          <p:nvPr/>
        </p:nvSpPr>
        <p:spPr>
          <a:xfrm>
            <a:off x="9711000" y="4440240"/>
            <a:ext cx="16408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</a:t>
            </a:r>
            <a:r>
              <a:rPr b="0" lang="en-US" sz="2000" spc="-1" strike="noStrike">
                <a:solidFill>
                  <a:srgbClr val="00b050"/>
                </a:solidFill>
                <a:latin typeface="Calibri"/>
                <a:ea typeface="標楷體"/>
              </a:rPr>
              <a:t>19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.0.0/16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5" name="文字方塊 49"/>
          <p:cNvSpPr/>
          <p:nvPr/>
        </p:nvSpPr>
        <p:spPr>
          <a:xfrm>
            <a:off x="9618480" y="1434240"/>
            <a:ext cx="16408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</a:t>
            </a:r>
            <a:r>
              <a:rPr b="0" lang="en-US" sz="2000" spc="-1" strike="noStrike">
                <a:solidFill>
                  <a:srgbClr val="ff0000"/>
                </a:solidFill>
                <a:latin typeface="Calibri"/>
                <a:ea typeface="標楷體"/>
              </a:rPr>
              <a:t>18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.0.0/16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6" name="文字方塊 37"/>
          <p:cNvSpPr/>
          <p:nvPr/>
        </p:nvSpPr>
        <p:spPr>
          <a:xfrm>
            <a:off x="9218160" y="4785120"/>
            <a:ext cx="1640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ASN 6500</a:t>
            </a:r>
            <a:r>
              <a:rPr b="0" lang="en-US" sz="2400" spc="-1" strike="noStrike">
                <a:solidFill>
                  <a:srgbClr val="00b050"/>
                </a:solidFill>
                <a:latin typeface="Calibri"/>
                <a:ea typeface="標楷體"/>
              </a:rPr>
              <a:t>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77" name="文字方塊 40"/>
          <p:cNvSpPr/>
          <p:nvPr/>
        </p:nvSpPr>
        <p:spPr>
          <a:xfrm>
            <a:off x="9218160" y="995040"/>
            <a:ext cx="1640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ASN 6500</a:t>
            </a:r>
            <a:r>
              <a:rPr b="0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78" name="文字方塊 41"/>
          <p:cNvSpPr/>
          <p:nvPr/>
        </p:nvSpPr>
        <p:spPr>
          <a:xfrm>
            <a:off x="9035280" y="2675880"/>
            <a:ext cx="13111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172.20.0</a:t>
            </a:r>
            <a:r>
              <a:rPr b="0" lang="en-US" sz="2000" spc="-1" strike="noStrike">
                <a:solidFill>
                  <a:srgbClr val="ff0000"/>
                </a:solidFill>
                <a:latin typeface="Calibri"/>
                <a:ea typeface="標楷體"/>
              </a:rPr>
              <a:t>.2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9" name="文字方塊 54"/>
          <p:cNvSpPr/>
          <p:nvPr/>
        </p:nvSpPr>
        <p:spPr>
          <a:xfrm>
            <a:off x="9035280" y="3213000"/>
            <a:ext cx="13075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172.20.0</a:t>
            </a:r>
            <a:r>
              <a:rPr b="0" lang="en-US" sz="2000" spc="-1" strike="noStrike">
                <a:solidFill>
                  <a:srgbClr val="00b050"/>
                </a:solidFill>
                <a:latin typeface="Calibri"/>
                <a:ea typeface="標楷體"/>
              </a:rPr>
              <a:t>.3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80" name="矩形 57"/>
          <p:cNvSpPr/>
          <p:nvPr/>
        </p:nvSpPr>
        <p:spPr>
          <a:xfrm>
            <a:off x="2814840" y="3741480"/>
            <a:ext cx="1239840" cy="3034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矩形 61"/>
          <p:cNvSpPr/>
          <p:nvPr/>
        </p:nvSpPr>
        <p:spPr>
          <a:xfrm>
            <a:off x="1440360" y="5431680"/>
            <a:ext cx="3023640" cy="3034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矩形 62"/>
          <p:cNvSpPr/>
          <p:nvPr/>
        </p:nvSpPr>
        <p:spPr>
          <a:xfrm>
            <a:off x="1440360" y="4357080"/>
            <a:ext cx="6192000" cy="1043640"/>
          </a:xfrm>
          <a:prstGeom prst="rect">
            <a:avLst/>
          </a:prstGeom>
          <a:noFill/>
          <a:ln w="19050">
            <a:solidFill>
              <a:srgbClr val="00b05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5 – Setup Routers (4/4)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Set BGP configuration for routers</a:t>
            </a: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Edit configuration file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frr.conf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on R2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27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7C28775F-25D8-4C81-A0B9-039D1222027C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86" name="object 7"/>
          <p:cNvSpPr/>
          <p:nvPr/>
        </p:nvSpPr>
        <p:spPr>
          <a:xfrm>
            <a:off x="1055520" y="1917000"/>
            <a:ext cx="648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R2/#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vi /etc/frr/frr.conf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87" name="圓角矩形 5"/>
          <p:cNvSpPr/>
          <p:nvPr/>
        </p:nvSpPr>
        <p:spPr>
          <a:xfrm>
            <a:off x="839520" y="2355840"/>
            <a:ext cx="7429320" cy="418752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文字方塊 7"/>
          <p:cNvSpPr/>
          <p:nvPr/>
        </p:nvSpPr>
        <p:spPr>
          <a:xfrm>
            <a:off x="1267920" y="2355840"/>
            <a:ext cx="6843240" cy="420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 FRR configuration for R2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frr defaults datacenter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router bgp 65001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bgp router-id 172.20.0.3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timers bgp 3 9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172.20.0.2 remote-as 65000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172.20.0.2 ebgp-multihop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172.20.0.2 timers connect 5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neighbor 172.20.0.2 advertisement-interval 5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network 172.19.0.0/16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!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log stdout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Menlo"/>
                <a:ea typeface="標楷體"/>
              </a:rPr>
              <a:t>line vty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9" name="object 28"/>
          <p:cNvSpPr/>
          <p:nvPr/>
        </p:nvSpPr>
        <p:spPr>
          <a:xfrm>
            <a:off x="8552160" y="5322240"/>
            <a:ext cx="1605240" cy="16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76320" bIns="0" anchor="t">
            <a:spAutoFit/>
          </a:bodyPr>
          <a:p>
            <a:pPr marL="31680">
              <a:lnSpc>
                <a:spcPct val="100000"/>
              </a:lnSpc>
              <a:spcBef>
                <a:spcPts val="601"/>
              </a:spcBef>
              <a:buNone/>
            </a:pPr>
            <a:r>
              <a:rPr b="0" lang="en-US" sz="2400" spc="-7" strike="noStrike">
                <a:solidFill>
                  <a:srgbClr val="ff0000"/>
                </a:solidFill>
                <a:latin typeface="Arial MT"/>
                <a:ea typeface="標楷體"/>
              </a:rPr>
              <a:t>ASN</a:t>
            </a:r>
            <a:r>
              <a:rPr b="0" lang="en-US" sz="2400" spc="-100" strike="noStrike">
                <a:solidFill>
                  <a:srgbClr val="ff0000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ff0000"/>
                </a:solidFill>
                <a:latin typeface="Arial MT"/>
                <a:ea typeface="標楷體"/>
              </a:rPr>
              <a:t>65000</a:t>
            </a:r>
            <a:endParaRPr b="0" lang="en-US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505"/>
              </a:spcBef>
              <a:buNone/>
            </a:pPr>
            <a:r>
              <a:rPr b="0" lang="en-US" sz="2400" spc="-7" strike="noStrike">
                <a:solidFill>
                  <a:srgbClr val="00b050"/>
                </a:solidFill>
                <a:latin typeface="Arial MT"/>
                <a:ea typeface="標楷體"/>
              </a:rPr>
              <a:t>ASN</a:t>
            </a:r>
            <a:r>
              <a:rPr b="0" lang="en-US" sz="2400" spc="-100" strike="noStrike">
                <a:solidFill>
                  <a:srgbClr val="00b050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b050"/>
                </a:solidFill>
                <a:latin typeface="Arial MT"/>
                <a:ea typeface="標楷體"/>
              </a:rPr>
              <a:t>65001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0" name="object 27"/>
          <p:cNvSpPr/>
          <p:nvPr/>
        </p:nvSpPr>
        <p:spPr>
          <a:xfrm>
            <a:off x="10321920" y="5589360"/>
            <a:ext cx="535320" cy="9360"/>
          </a:xfrm>
          <a:custGeom>
            <a:avLst/>
            <a:gdLst/>
            <a:ahLst/>
            <a:rect l="l" t="t" r="r" b="b"/>
            <a:pathLst>
              <a:path w="535940" h="10160">
                <a:moveTo>
                  <a:pt x="0" y="0"/>
                </a:moveTo>
                <a:lnTo>
                  <a:pt x="535600" y="9628"/>
                </a:lnTo>
              </a:path>
            </a:pathLst>
          </a:custGeom>
          <a:noFill/>
          <a:ln w="28575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1" name="object 31"/>
          <p:cNvSpPr/>
          <p:nvPr/>
        </p:nvSpPr>
        <p:spPr>
          <a:xfrm>
            <a:off x="10311840" y="6041880"/>
            <a:ext cx="554760" cy="360"/>
          </a:xfrm>
          <a:custGeom>
            <a:avLst/>
            <a:gdLst/>
            <a:ahLst/>
            <a:rect l="l" t="t" r="r" b="b"/>
            <a:pathLst>
              <a:path w="555625" h="635">
                <a:moveTo>
                  <a:pt x="0" y="0"/>
                </a:moveTo>
                <a:lnTo>
                  <a:pt x="555200" y="29"/>
                </a:lnTo>
              </a:path>
            </a:pathLst>
          </a:custGeom>
          <a:noFill/>
          <a:ln w="28575">
            <a:solidFill>
              <a:srgbClr val="00b0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492" name="群組 10"/>
          <p:cNvGrpSpPr/>
          <p:nvPr/>
        </p:nvGrpSpPr>
        <p:grpSpPr>
          <a:xfrm>
            <a:off x="8475120" y="1454400"/>
            <a:ext cx="2905560" cy="3339720"/>
            <a:chOff x="8475120" y="1454400"/>
            <a:chExt cx="2905560" cy="3339720"/>
          </a:xfrm>
        </p:grpSpPr>
        <p:grpSp>
          <p:nvGrpSpPr>
            <p:cNvPr id="493" name="群組 11"/>
            <p:cNvGrpSpPr/>
            <p:nvPr/>
          </p:nvGrpSpPr>
          <p:grpSpPr>
            <a:xfrm>
              <a:off x="8641800" y="1821600"/>
              <a:ext cx="2629080" cy="827280"/>
              <a:chOff x="8641800" y="1821600"/>
              <a:chExt cx="2629080" cy="827280"/>
            </a:xfrm>
          </p:grpSpPr>
          <p:grpSp>
            <p:nvGrpSpPr>
              <p:cNvPr id="494" name="群組 35"/>
              <p:cNvGrpSpPr/>
              <p:nvPr/>
            </p:nvGrpSpPr>
            <p:grpSpPr>
              <a:xfrm>
                <a:off x="8641800" y="1821600"/>
                <a:ext cx="864360" cy="783360"/>
                <a:chOff x="8641800" y="1821600"/>
                <a:chExt cx="864360" cy="783360"/>
              </a:xfrm>
            </p:grpSpPr>
            <p:pic>
              <p:nvPicPr>
                <p:cNvPr id="495" name="圖形 45" descr=""/>
                <p:cNvPicPr/>
                <p:nvPr/>
              </p:nvPicPr>
              <p:blipFill>
                <a:blip r:embed="rId1"/>
                <a:stretch/>
              </p:blipFill>
              <p:spPr>
                <a:xfrm>
                  <a:off x="8870400" y="1924920"/>
                  <a:ext cx="412200" cy="33408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496" name="圓角矩形 46"/>
                <p:cNvSpPr/>
                <p:nvPr/>
              </p:nvSpPr>
              <p:spPr>
                <a:xfrm>
                  <a:off x="8671680" y="1821600"/>
                  <a:ext cx="812160" cy="764640"/>
                </a:xfrm>
                <a:prstGeom prst="roundRect">
                  <a:avLst>
                    <a:gd name="adj" fmla="val 16667"/>
                  </a:avLst>
                </a:prstGeom>
                <a:noFill/>
                <a:ln w="28575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7" name="文字方塊 47"/>
                <p:cNvSpPr/>
                <p:nvPr/>
              </p:nvSpPr>
              <p:spPr>
                <a:xfrm>
                  <a:off x="8641800" y="221040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R1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grpSp>
            <p:nvGrpSpPr>
              <p:cNvPr id="498" name="群組 36"/>
              <p:cNvGrpSpPr/>
              <p:nvPr/>
            </p:nvGrpSpPr>
            <p:grpSpPr>
              <a:xfrm>
                <a:off x="10406520" y="1821600"/>
                <a:ext cx="864360" cy="827280"/>
                <a:chOff x="10406520" y="1821600"/>
                <a:chExt cx="864360" cy="827280"/>
              </a:xfrm>
            </p:grpSpPr>
            <p:pic>
              <p:nvPicPr>
                <p:cNvPr id="499" name="圖形 42" descr=""/>
                <p:cNvPicPr/>
                <p:nvPr/>
              </p:nvPicPr>
              <p:blipFill>
                <a:blip r:embed="rId2"/>
                <a:stretch/>
              </p:blipFill>
              <p:spPr>
                <a:xfrm>
                  <a:off x="10676520" y="1898640"/>
                  <a:ext cx="361440" cy="38988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500" name="圓角矩形 43"/>
                <p:cNvSpPr/>
                <p:nvPr/>
              </p:nvSpPr>
              <p:spPr>
                <a:xfrm>
                  <a:off x="10424160" y="1821600"/>
                  <a:ext cx="812160" cy="75888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01" name="文字方塊 44"/>
                <p:cNvSpPr/>
                <p:nvPr/>
              </p:nvSpPr>
              <p:spPr>
                <a:xfrm>
                  <a:off x="10406520" y="225432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h1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sp>
            <p:nvSpPr>
              <p:cNvPr id="502" name="直線接點 39"/>
              <p:cNvSpPr/>
              <p:nvPr/>
            </p:nvSpPr>
            <p:spPr>
              <a:xfrm flipH="1">
                <a:off x="9484560" y="2201040"/>
                <a:ext cx="939600" cy="2880"/>
              </a:xfrm>
              <a:prstGeom prst="line">
                <a:avLst/>
              </a:prstGeom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03" name="圓角矩形 12"/>
            <p:cNvSpPr/>
            <p:nvPr/>
          </p:nvSpPr>
          <p:spPr>
            <a:xfrm>
              <a:off x="8475120" y="1454400"/>
              <a:ext cx="2905560" cy="121968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504" name="群組 13"/>
            <p:cNvGrpSpPr/>
            <p:nvPr/>
          </p:nvGrpSpPr>
          <p:grpSpPr>
            <a:xfrm>
              <a:off x="8641800" y="3674520"/>
              <a:ext cx="2625840" cy="830880"/>
              <a:chOff x="8641800" y="3674520"/>
              <a:chExt cx="2625840" cy="830880"/>
            </a:xfrm>
          </p:grpSpPr>
          <p:grpSp>
            <p:nvGrpSpPr>
              <p:cNvPr id="505" name="群組 23"/>
              <p:cNvGrpSpPr/>
              <p:nvPr/>
            </p:nvGrpSpPr>
            <p:grpSpPr>
              <a:xfrm>
                <a:off x="10403280" y="3674520"/>
                <a:ext cx="864360" cy="830880"/>
                <a:chOff x="10403280" y="3674520"/>
                <a:chExt cx="864360" cy="830880"/>
              </a:xfrm>
            </p:grpSpPr>
            <p:sp>
              <p:nvSpPr>
                <p:cNvPr id="506" name="圓角矩形 33"/>
                <p:cNvSpPr/>
                <p:nvPr/>
              </p:nvSpPr>
              <p:spPr>
                <a:xfrm>
                  <a:off x="10403280" y="3674520"/>
                  <a:ext cx="807480" cy="76968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07" name="文字方塊 34"/>
                <p:cNvSpPr/>
                <p:nvPr/>
              </p:nvSpPr>
              <p:spPr>
                <a:xfrm>
                  <a:off x="10403280" y="411084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h2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grpSp>
            <p:nvGrpSpPr>
              <p:cNvPr id="508" name="群組 24"/>
              <p:cNvGrpSpPr/>
              <p:nvPr/>
            </p:nvGrpSpPr>
            <p:grpSpPr>
              <a:xfrm>
                <a:off x="8641800" y="3681720"/>
                <a:ext cx="2405160" cy="802800"/>
                <a:chOff x="8641800" y="3681720"/>
                <a:chExt cx="2405160" cy="802800"/>
              </a:xfrm>
            </p:grpSpPr>
            <p:pic>
              <p:nvPicPr>
                <p:cNvPr id="509" name="圖形 30" descr=""/>
                <p:cNvPicPr/>
                <p:nvPr/>
              </p:nvPicPr>
              <p:blipFill>
                <a:blip r:embed="rId3"/>
                <a:stretch/>
              </p:blipFill>
              <p:spPr>
                <a:xfrm>
                  <a:off x="10665720" y="3725640"/>
                  <a:ext cx="381240" cy="411120"/>
                </a:xfrm>
                <a:prstGeom prst="rect">
                  <a:avLst/>
                </a:prstGeom>
                <a:ln w="0">
                  <a:noFill/>
                </a:ln>
              </p:spPr>
            </p:pic>
            <p:sp>
              <p:nvSpPr>
                <p:cNvPr id="510" name="圓角矩形 31"/>
                <p:cNvSpPr/>
                <p:nvPr/>
              </p:nvSpPr>
              <p:spPr>
                <a:xfrm>
                  <a:off x="8676000" y="3681720"/>
                  <a:ext cx="807480" cy="754560"/>
                </a:xfrm>
                <a:prstGeom prst="roundRect">
                  <a:avLst>
                    <a:gd name="adj" fmla="val 16667"/>
                  </a:avLst>
                </a:prstGeom>
                <a:noFill/>
                <a:ln w="19050">
                  <a:solidFill>
                    <a:srgbClr val="3197fd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11" name="文字方塊 32"/>
                <p:cNvSpPr/>
                <p:nvPr/>
              </p:nvSpPr>
              <p:spPr>
                <a:xfrm>
                  <a:off x="8641800" y="4089960"/>
                  <a:ext cx="864360" cy="3945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spAutoFit/>
                </a:bodyPr>
                <a:p>
                  <a:pPr algn="ctr">
                    <a:lnSpc>
                      <a:spcPct val="100000"/>
                    </a:lnSpc>
                    <a:buNone/>
                  </a:pPr>
                  <a:r>
                    <a:rPr b="0" lang="en-US" sz="2000" spc="-1" strike="noStrike">
                      <a:solidFill>
                        <a:srgbClr val="3197fd"/>
                      </a:solidFill>
                      <a:latin typeface="Calibri"/>
                      <a:ea typeface="標楷體"/>
                    </a:rPr>
                    <a:t>R2</a:t>
                  </a:r>
                  <a:endParaRPr b="0" lang="en-US" sz="2000" spc="-1" strike="noStrike">
                    <a:latin typeface="Arial"/>
                  </a:endParaRPr>
                </a:p>
              </p:txBody>
            </p:sp>
          </p:grpSp>
          <p:sp>
            <p:nvSpPr>
              <p:cNvPr id="512" name="直線接點 26"/>
              <p:cNvSpPr/>
              <p:nvPr/>
            </p:nvSpPr>
            <p:spPr>
              <a:xfrm>
                <a:off x="9483840" y="4059360"/>
                <a:ext cx="919080" cy="360"/>
              </a:xfrm>
              <a:prstGeom prst="line">
                <a:avLst/>
              </a:prstGeom>
              <a:ln w="19050">
                <a:solidFill>
                  <a:srgbClr val="3197f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13" name="圓角矩形 14"/>
            <p:cNvSpPr/>
            <p:nvPr/>
          </p:nvSpPr>
          <p:spPr>
            <a:xfrm>
              <a:off x="8517240" y="3593520"/>
              <a:ext cx="2847600" cy="120060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00b05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14" name="圖形 15" descr=""/>
            <p:cNvPicPr/>
            <p:nvPr/>
          </p:nvPicPr>
          <p:blipFill>
            <a:blip r:embed="rId4"/>
            <a:stretch/>
          </p:blipFill>
          <p:spPr>
            <a:xfrm>
              <a:off x="8870400" y="3773880"/>
              <a:ext cx="404280" cy="327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15" name="直線接點 18"/>
            <p:cNvSpPr/>
            <p:nvPr/>
          </p:nvSpPr>
          <p:spPr>
            <a:xfrm>
              <a:off x="9078120" y="2586600"/>
              <a:ext cx="1800" cy="1095120"/>
            </a:xfrm>
            <a:prstGeom prst="line">
              <a:avLst/>
            </a:prstGeom>
            <a:ln w="19050">
              <a:solidFill>
                <a:srgbClr val="3197f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16" name="文字方塊 48"/>
          <p:cNvSpPr/>
          <p:nvPr/>
        </p:nvSpPr>
        <p:spPr>
          <a:xfrm>
            <a:off x="9711000" y="4440240"/>
            <a:ext cx="16408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</a:t>
            </a:r>
            <a:r>
              <a:rPr b="0" lang="en-US" sz="2000" spc="-1" strike="noStrike">
                <a:solidFill>
                  <a:srgbClr val="00b050"/>
                </a:solidFill>
                <a:latin typeface="Calibri"/>
                <a:ea typeface="標楷體"/>
              </a:rPr>
              <a:t>19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.0.0/16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7" name="文字方塊 49"/>
          <p:cNvSpPr/>
          <p:nvPr/>
        </p:nvSpPr>
        <p:spPr>
          <a:xfrm>
            <a:off x="9618480" y="1434240"/>
            <a:ext cx="16408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</a:t>
            </a:r>
            <a:r>
              <a:rPr b="0" lang="en-US" sz="2000" spc="-1" strike="noStrike">
                <a:solidFill>
                  <a:srgbClr val="ff0000"/>
                </a:solidFill>
                <a:latin typeface="Calibri"/>
                <a:ea typeface="標楷體"/>
              </a:rPr>
              <a:t>18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.0.0/16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8" name="文字方塊 37"/>
          <p:cNvSpPr/>
          <p:nvPr/>
        </p:nvSpPr>
        <p:spPr>
          <a:xfrm>
            <a:off x="9218160" y="4785120"/>
            <a:ext cx="1640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ASN 6500</a:t>
            </a:r>
            <a:r>
              <a:rPr b="0" lang="en-US" sz="2400" spc="-1" strike="noStrike">
                <a:solidFill>
                  <a:srgbClr val="00b050"/>
                </a:solidFill>
                <a:latin typeface="Calibri"/>
                <a:ea typeface="標楷體"/>
              </a:rPr>
              <a:t>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19" name="文字方塊 40"/>
          <p:cNvSpPr/>
          <p:nvPr/>
        </p:nvSpPr>
        <p:spPr>
          <a:xfrm>
            <a:off x="9218160" y="995040"/>
            <a:ext cx="1640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ASN 6500</a:t>
            </a:r>
            <a:r>
              <a:rPr b="0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20" name="文字方塊 41"/>
          <p:cNvSpPr/>
          <p:nvPr/>
        </p:nvSpPr>
        <p:spPr>
          <a:xfrm>
            <a:off x="9035280" y="2675880"/>
            <a:ext cx="13111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172.20.0</a:t>
            </a:r>
            <a:r>
              <a:rPr b="0" lang="en-US" sz="2000" spc="-1" strike="noStrike">
                <a:solidFill>
                  <a:srgbClr val="ff0000"/>
                </a:solidFill>
                <a:latin typeface="Calibri"/>
                <a:ea typeface="標楷體"/>
              </a:rPr>
              <a:t>.2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21" name="文字方塊 54"/>
          <p:cNvSpPr/>
          <p:nvPr/>
        </p:nvSpPr>
        <p:spPr>
          <a:xfrm>
            <a:off x="9035280" y="3213000"/>
            <a:ext cx="13075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標楷體"/>
              </a:rPr>
              <a:t>172.20.0</a:t>
            </a:r>
            <a:r>
              <a:rPr b="0" lang="en-US" sz="2000" spc="-1" strike="noStrike">
                <a:solidFill>
                  <a:srgbClr val="00b050"/>
                </a:solidFill>
                <a:latin typeface="Calibri"/>
                <a:ea typeface="標楷體"/>
              </a:rPr>
              <a:t>.3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22" name="矩形 57"/>
          <p:cNvSpPr/>
          <p:nvPr/>
        </p:nvSpPr>
        <p:spPr>
          <a:xfrm>
            <a:off x="2814840" y="3741480"/>
            <a:ext cx="1239840" cy="3034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3" name="矩形 61"/>
          <p:cNvSpPr/>
          <p:nvPr/>
        </p:nvSpPr>
        <p:spPr>
          <a:xfrm>
            <a:off x="1440360" y="5431680"/>
            <a:ext cx="3023640" cy="3034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矩形 62"/>
          <p:cNvSpPr/>
          <p:nvPr/>
        </p:nvSpPr>
        <p:spPr>
          <a:xfrm>
            <a:off x="1440360" y="4357080"/>
            <a:ext cx="6192000" cy="1043640"/>
          </a:xfrm>
          <a:prstGeom prst="rect">
            <a:avLst/>
          </a:prstGeom>
          <a:noFill/>
          <a:ln w="19050">
            <a:solidFill>
              <a:srgbClr val="00b05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6 – Check Routes (1/2)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Restart R1 (R2)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Interact with FRR daemons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3297fc"/>
                </a:solidFill>
                <a:latin typeface="Calibri"/>
                <a:ea typeface="標楷體"/>
              </a:rPr>
              <a:t>Show routes on R1 (R2)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28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6E743836-E0A8-4B2F-BDBF-8A15C4C8E3E9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528" name="object 7"/>
          <p:cNvSpPr/>
          <p:nvPr/>
        </p:nvSpPr>
        <p:spPr>
          <a:xfrm>
            <a:off x="983520" y="1484640"/>
            <a:ext cx="589176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docker restart R1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29" name="object 7"/>
          <p:cNvSpPr/>
          <p:nvPr/>
        </p:nvSpPr>
        <p:spPr>
          <a:xfrm>
            <a:off x="983520" y="2539080"/>
            <a:ext cx="408276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R1/#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vtysh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530" name="圖片 7" descr=""/>
          <p:cNvPicPr/>
          <p:nvPr/>
        </p:nvPicPr>
        <p:blipFill>
          <a:blip r:embed="rId1"/>
          <a:stretch/>
        </p:blipFill>
        <p:spPr>
          <a:xfrm>
            <a:off x="5257800" y="2095200"/>
            <a:ext cx="6108120" cy="1857960"/>
          </a:xfrm>
          <a:prstGeom prst="rect">
            <a:avLst/>
          </a:prstGeom>
          <a:ln w="0">
            <a:noFill/>
          </a:ln>
        </p:spPr>
      </p:pic>
      <p:sp>
        <p:nvSpPr>
          <p:cNvPr id="531" name="object 7"/>
          <p:cNvSpPr/>
          <p:nvPr/>
        </p:nvSpPr>
        <p:spPr>
          <a:xfrm>
            <a:off x="983520" y="3418560"/>
            <a:ext cx="408276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R1FRR&gt; 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show ip route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532" name="圖片 47" descr=""/>
          <p:cNvPicPr/>
          <p:nvPr/>
        </p:nvPicPr>
        <p:blipFill>
          <a:blip r:embed="rId2"/>
          <a:stretch/>
        </p:blipFill>
        <p:spPr>
          <a:xfrm>
            <a:off x="2957040" y="3936240"/>
            <a:ext cx="6734520" cy="2457000"/>
          </a:xfrm>
          <a:prstGeom prst="rect">
            <a:avLst/>
          </a:prstGeom>
          <a:ln w="0">
            <a:noFill/>
          </a:ln>
        </p:spPr>
      </p:pic>
      <p:sp>
        <p:nvSpPr>
          <p:cNvPr id="533" name="矩形 53"/>
          <p:cNvSpPr/>
          <p:nvPr/>
        </p:nvSpPr>
        <p:spPr>
          <a:xfrm>
            <a:off x="2612880" y="6046200"/>
            <a:ext cx="7422840" cy="189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Step 6 – Check Routes (2/2)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Show bgp route in R1 FRR (in vtysh)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Show bgp summary in R1 FRR (in vtysh)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29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7AA3AF03-8591-400E-BF8B-E9FB2DC3EA65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537" name="object 7"/>
          <p:cNvSpPr/>
          <p:nvPr/>
        </p:nvSpPr>
        <p:spPr>
          <a:xfrm>
            <a:off x="997200" y="1455840"/>
            <a:ext cx="756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R1FRR&gt; </a:t>
            </a:r>
            <a:r>
              <a:rPr b="0" lang="en-US" sz="2400" spc="1" strike="noStrike">
                <a:solidFill>
                  <a:srgbClr val="000000"/>
                </a:solidFill>
                <a:latin typeface="Arial MT"/>
                <a:ea typeface="標楷體"/>
              </a:rPr>
              <a:t>show ip route bgp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538" name="圖片 5" descr=""/>
          <p:cNvPicPr/>
          <p:nvPr/>
        </p:nvPicPr>
        <p:blipFill>
          <a:blip r:embed="rId1"/>
          <a:stretch/>
        </p:blipFill>
        <p:spPr>
          <a:xfrm>
            <a:off x="8809200" y="1041480"/>
            <a:ext cx="2496240" cy="3763080"/>
          </a:xfrm>
          <a:prstGeom prst="rect">
            <a:avLst/>
          </a:prstGeom>
          <a:ln w="0">
            <a:noFill/>
          </a:ln>
        </p:spPr>
      </p:pic>
      <p:pic>
        <p:nvPicPr>
          <p:cNvPr id="539" name="圖片 8" descr=""/>
          <p:cNvPicPr/>
          <p:nvPr/>
        </p:nvPicPr>
        <p:blipFill>
          <a:blip r:embed="rId2"/>
          <a:stretch/>
        </p:blipFill>
        <p:spPr>
          <a:xfrm>
            <a:off x="1276560" y="2008080"/>
            <a:ext cx="6664680" cy="1511640"/>
          </a:xfrm>
          <a:prstGeom prst="rect">
            <a:avLst/>
          </a:prstGeom>
          <a:ln w="0">
            <a:noFill/>
          </a:ln>
        </p:spPr>
      </p:pic>
      <p:sp>
        <p:nvSpPr>
          <p:cNvPr id="540" name="矩形 11"/>
          <p:cNvSpPr/>
          <p:nvPr/>
        </p:nvSpPr>
        <p:spPr>
          <a:xfrm>
            <a:off x="1216800" y="3325320"/>
            <a:ext cx="6873480" cy="251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1" name="object 7"/>
          <p:cNvSpPr/>
          <p:nvPr/>
        </p:nvSpPr>
        <p:spPr>
          <a:xfrm>
            <a:off x="997200" y="3971160"/>
            <a:ext cx="756000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R1FRR&gt; </a:t>
            </a:r>
            <a:r>
              <a:rPr b="0" lang="en-US" sz="2400" spc="1" strike="noStrike">
                <a:solidFill>
                  <a:srgbClr val="000000"/>
                </a:solidFill>
                <a:latin typeface="Arial MT"/>
                <a:ea typeface="標楷體"/>
              </a:rPr>
              <a:t>show ip bgp summary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542" name="圖片 14" descr=""/>
          <p:cNvPicPr/>
          <p:nvPr/>
        </p:nvPicPr>
        <p:blipFill>
          <a:blip r:embed="rId3"/>
          <a:stretch/>
        </p:blipFill>
        <p:spPr>
          <a:xfrm>
            <a:off x="997200" y="4445280"/>
            <a:ext cx="7623360" cy="1749600"/>
          </a:xfrm>
          <a:prstGeom prst="rect">
            <a:avLst/>
          </a:prstGeom>
          <a:ln w="0">
            <a:noFill/>
          </a:ln>
        </p:spPr>
      </p:pic>
      <p:sp>
        <p:nvSpPr>
          <p:cNvPr id="543" name="矩形 15"/>
          <p:cNvSpPr/>
          <p:nvPr/>
        </p:nvSpPr>
        <p:spPr>
          <a:xfrm>
            <a:off x="894960" y="5740560"/>
            <a:ext cx="7913520" cy="1854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Installation of Docker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sldNum" idx="30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87B2F0AD-5A6E-4EF0-AD7E-DE02F38FBD0A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Update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apt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(confirm to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install the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latest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package)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n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st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l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url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f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o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d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ata</a:t>
            </a:r>
            <a:r>
              <a:rPr b="0" lang="en-US" sz="2400" spc="-17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ran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fe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Retrieve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Docker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installation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script</a:t>
            </a:r>
            <a:r>
              <a:rPr b="0" lang="en-US" sz="2400" spc="-26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install</a:t>
            </a:r>
            <a:r>
              <a:rPr b="0" lang="en-US" sz="2400" spc="-17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Docker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Manage Docker as a non-root user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Other Methods: https://docs.docker.com/engine/install/ubuntu/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49" name="object 7"/>
          <p:cNvSpPr/>
          <p:nvPr/>
        </p:nvSpPr>
        <p:spPr>
          <a:xfrm>
            <a:off x="983520" y="1412640"/>
            <a:ext cx="796104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 MT"/>
                <a:ea typeface="標楷體"/>
              </a:rPr>
              <a:t>sudo</a:t>
            </a:r>
            <a:r>
              <a:rPr b="0" lang="en-US" sz="2400" spc="15" strike="noStrike">
                <a:solidFill>
                  <a:srgbClr val="000000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apt-get </a:t>
            </a:r>
            <a:r>
              <a:rPr b="0" lang="en-US" sz="2400" spc="49" strike="noStrike">
                <a:solidFill>
                  <a:srgbClr val="000000"/>
                </a:solidFill>
                <a:latin typeface="Arial MT"/>
                <a:ea typeface="標楷體"/>
              </a:rPr>
              <a:t>update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50" name="object 7"/>
          <p:cNvSpPr/>
          <p:nvPr/>
        </p:nvSpPr>
        <p:spPr>
          <a:xfrm>
            <a:off x="983520" y="2259000"/>
            <a:ext cx="796104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 MT"/>
                <a:ea typeface="標楷體"/>
              </a:rPr>
              <a:t>sudo</a:t>
            </a:r>
            <a:r>
              <a:rPr b="0" lang="en-US" sz="2400" spc="15" strike="noStrike">
                <a:solidFill>
                  <a:srgbClr val="000000"/>
                </a:solidFill>
                <a:latin typeface="Arial MT"/>
                <a:ea typeface="標楷體"/>
              </a:rPr>
              <a:t> </a:t>
            </a:r>
            <a:r>
              <a:rPr b="0" lang="en-US" sz="2400" spc="165" strike="noStrike">
                <a:solidFill>
                  <a:srgbClr val="000000"/>
                </a:solidFill>
                <a:latin typeface="Arial MT"/>
                <a:ea typeface="標楷體"/>
              </a:rPr>
              <a:t>apt-get install </a:t>
            </a:r>
            <a:r>
              <a:rPr b="0" lang="en-US" sz="2400" spc="94" strike="noStrike">
                <a:solidFill>
                  <a:srgbClr val="000000"/>
                </a:solidFill>
                <a:latin typeface="Arial MT"/>
                <a:ea typeface="標楷體"/>
              </a:rPr>
              <a:t>-y </a:t>
            </a:r>
            <a:r>
              <a:rPr b="0" lang="en-US" sz="2400" spc="197" strike="noStrike">
                <a:solidFill>
                  <a:srgbClr val="000000"/>
                </a:solidFill>
                <a:latin typeface="Arial MT"/>
                <a:ea typeface="標楷體"/>
              </a:rPr>
              <a:t>curl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51" name="object 7"/>
          <p:cNvSpPr/>
          <p:nvPr/>
        </p:nvSpPr>
        <p:spPr>
          <a:xfrm>
            <a:off x="983520" y="3105360"/>
            <a:ext cx="7961040" cy="4118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 MT"/>
                <a:ea typeface="標楷體"/>
              </a:rPr>
              <a:t>sudo curl -ssl https://get.docker.com | sh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52" name="object 7"/>
          <p:cNvSpPr/>
          <p:nvPr/>
        </p:nvSpPr>
        <p:spPr>
          <a:xfrm>
            <a:off x="983520" y="3949560"/>
            <a:ext cx="7961040" cy="12362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sudo groupadd docker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sudo usermod -aG docker $USER</a:t>
            </a:r>
            <a:endParaRPr b="0" lang="en-US" sz="2400" spc="-1" strike="noStrike">
              <a:latin typeface="Arial"/>
            </a:endParaRPr>
          </a:p>
          <a:p>
            <a:pPr marL="230400">
              <a:lnSpc>
                <a:spcPct val="100000"/>
              </a:lnSpc>
              <a:spcBef>
                <a:spcPts val="366"/>
              </a:spcBef>
              <a:buNone/>
              <a:tabLst>
                <a:tab algn="l" pos="3147840"/>
              </a:tabLst>
            </a:pPr>
            <a:r>
              <a:rPr b="0" lang="en-US" sz="2400" spc="1" strike="noStrike">
                <a:solidFill>
                  <a:srgbClr val="a6a6a6"/>
                </a:solidFill>
                <a:latin typeface="Arial MT"/>
                <a:ea typeface="標楷體"/>
              </a:rPr>
              <a:t>$</a:t>
            </a:r>
            <a:r>
              <a:rPr b="0" lang="en-US" sz="2400" spc="55" strike="noStrike">
                <a:solidFill>
                  <a:srgbClr val="a6a6a6"/>
                </a:solidFill>
                <a:latin typeface="Arial MT"/>
                <a:ea typeface="標楷體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newgrp docker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Introduction</a:t>
            </a:r>
            <a:r>
              <a:rPr b="1" lang="en-US" sz="3600" spc="-3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to</a:t>
            </a:r>
            <a:r>
              <a:rPr b="1" lang="en-US" sz="3600" spc="-3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3600" spc="-7" strike="noStrike">
                <a:solidFill>
                  <a:srgbClr val="3297fc"/>
                </a:solidFill>
                <a:latin typeface="Calibri"/>
                <a:ea typeface="標楷體"/>
              </a:rPr>
              <a:t>FRRouting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12600">
              <a:lnSpc>
                <a:spcPct val="100000"/>
              </a:lnSpc>
              <a:spcBef>
                <a:spcPts val="505"/>
              </a:spcBef>
              <a:buNone/>
              <a:tabLst>
                <a:tab algn="l" pos="0"/>
              </a:tabLst>
            </a:pP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FRRouting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is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 open-source</a:t>
            </a:r>
            <a:r>
              <a:rPr b="0" lang="en-US" sz="2400" spc="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software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that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provides routing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services</a:t>
            </a:r>
            <a:endParaRPr b="0" lang="en-US" sz="2400" spc="-1" strike="noStrike">
              <a:latin typeface="Arial"/>
            </a:endParaRPr>
          </a:p>
          <a:p>
            <a:pPr marL="124200">
              <a:lnSpc>
                <a:spcPct val="100000"/>
              </a:lnSpc>
              <a:spcBef>
                <a:spcPts val="408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Supports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common routing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protocols:</a:t>
            </a:r>
            <a:r>
              <a:rPr b="0" lang="en-US" sz="2400" spc="-15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BGP, OSPF,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RIP,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IS-IS</a:t>
            </a:r>
            <a:endParaRPr b="0" lang="en-US" sz="2400" spc="-1" strike="noStrike">
              <a:latin typeface="Arial"/>
            </a:endParaRPr>
          </a:p>
          <a:p>
            <a:pPr marL="124200">
              <a:lnSpc>
                <a:spcPct val="100000"/>
              </a:lnSpc>
              <a:spcBef>
                <a:spcPts val="43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60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Consists of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a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core daemon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Zebra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 separate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routing</a:t>
            </a:r>
            <a:r>
              <a:rPr b="1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protocol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daemons</a:t>
            </a:r>
            <a:endParaRPr b="0" lang="en-US" sz="2400" spc="-1" strike="noStrike">
              <a:latin typeface="Arial"/>
            </a:endParaRPr>
          </a:p>
          <a:p>
            <a:pPr marL="355680" indent="-343080">
              <a:lnSpc>
                <a:spcPct val="100000"/>
              </a:lnSpc>
              <a:spcBef>
                <a:spcPts val="408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Routing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Protocols (daemons)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communicate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their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best</a:t>
            </a:r>
            <a:r>
              <a:rPr b="0" lang="en-US" sz="2400" spc="-12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routes to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Zebra</a:t>
            </a:r>
            <a:endParaRPr b="0" lang="en-US" sz="2400" spc="-1" strike="noStrike">
              <a:latin typeface="Arial"/>
            </a:endParaRPr>
          </a:p>
          <a:p>
            <a:pPr marL="355680" indent="-343080">
              <a:lnSpc>
                <a:spcPct val="100000"/>
              </a:lnSpc>
              <a:spcBef>
                <a:spcPts val="431"/>
              </a:spcBef>
              <a:buClr>
                <a:srgbClr val="3889f6"/>
              </a:buClr>
              <a:buSzPct val="79000"/>
              <a:buFont typeface="Wingdings" charset="2"/>
              <a:buChar char=""/>
              <a:tabLst>
                <a:tab algn="l" pos="354960"/>
                <a:tab algn="l" pos="35568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Zebra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computes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best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routes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and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modifies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kernel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1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routing table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through</a:t>
            </a:r>
            <a:r>
              <a:rPr b="0" lang="en-US" sz="2400" spc="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netlink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354960"/>
                <a:tab algn="l" pos="35568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354960"/>
                <a:tab algn="l" pos="35568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31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B31676D7-CF65-402F-926B-968155B5DC36}" type="slidenum">
              <a:rPr b="1" lang="en-US" sz="1400" spc="-1" strike="noStrike">
                <a:solidFill>
                  <a:srgbClr val="ffffff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pic>
        <p:nvPicPr>
          <p:cNvPr id="556" name="object 4" descr=""/>
          <p:cNvPicPr/>
          <p:nvPr/>
        </p:nvPicPr>
        <p:blipFill>
          <a:blip r:embed="rId1"/>
          <a:stretch/>
        </p:blipFill>
        <p:spPr>
          <a:xfrm>
            <a:off x="3653640" y="3285000"/>
            <a:ext cx="4883760" cy="2930040"/>
          </a:xfrm>
          <a:prstGeom prst="rect">
            <a:avLst/>
          </a:prstGeom>
          <a:ln w="0">
            <a:noFill/>
          </a:ln>
        </p:spPr>
      </p:pic>
      <p:sp>
        <p:nvSpPr>
          <p:cNvPr id="557" name="直線接點 9"/>
          <p:cNvSpPr/>
          <p:nvPr/>
        </p:nvSpPr>
        <p:spPr>
          <a:xfrm>
            <a:off x="2346120" y="4221000"/>
            <a:ext cx="7314120" cy="360"/>
          </a:xfrm>
          <a:prstGeom prst="line">
            <a:avLst/>
          </a:prstGeom>
          <a:ln w="19050">
            <a:solidFill>
              <a:srgbClr val="98b855"/>
            </a:solidFill>
            <a:rou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/>
        </p:style>
      </p:sp>
      <p:sp>
        <p:nvSpPr>
          <p:cNvPr id="558" name="object 5"/>
          <p:cNvSpPr/>
          <p:nvPr/>
        </p:nvSpPr>
        <p:spPr>
          <a:xfrm>
            <a:off x="2228400" y="3712680"/>
            <a:ext cx="863280" cy="43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67320" bIns="0" anchor="t">
            <a:spAutoFit/>
          </a:bodyPr>
          <a:p>
            <a:pPr marL="12600" algn="ctr">
              <a:lnSpc>
                <a:spcPct val="100000"/>
              </a:lnSpc>
              <a:spcBef>
                <a:spcPts val="530"/>
              </a:spcBef>
              <a:buNone/>
              <a:tabLst>
                <a:tab algn="l" pos="354960"/>
                <a:tab algn="l" pos="355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User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59" name="object 5"/>
          <p:cNvSpPr/>
          <p:nvPr/>
        </p:nvSpPr>
        <p:spPr>
          <a:xfrm>
            <a:off x="2346480" y="4221000"/>
            <a:ext cx="8632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67320" bIns="0" anchor="t">
            <a:spAutoFit/>
          </a:bodyPr>
          <a:p>
            <a:pPr marL="12600" algn="ctr">
              <a:lnSpc>
                <a:spcPct val="100000"/>
              </a:lnSpc>
              <a:spcBef>
                <a:spcPts val="530"/>
              </a:spcBef>
              <a:buNone/>
              <a:tabLst>
                <a:tab algn="l" pos="354960"/>
                <a:tab algn="l" pos="355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Kernel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60" name="直線箭頭接點 14"/>
          <p:cNvSpPr/>
          <p:nvPr/>
        </p:nvSpPr>
        <p:spPr>
          <a:xfrm>
            <a:off x="7896240" y="4107240"/>
            <a:ext cx="360" cy="664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>
            <a:solidFill>
              <a:srgbClr val="ff0000"/>
            </a:solidFill>
            <a:round/>
            <a:tailEnd len="med" type="triangle" w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/>
        </p:style>
      </p:sp>
      <p:sp>
        <p:nvSpPr>
          <p:cNvPr id="561" name="object 5"/>
          <p:cNvSpPr/>
          <p:nvPr/>
        </p:nvSpPr>
        <p:spPr>
          <a:xfrm>
            <a:off x="6745680" y="4392000"/>
            <a:ext cx="1157400" cy="43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67320" bIns="0" anchor="t">
            <a:spAutoFit/>
          </a:bodyPr>
          <a:p>
            <a:pPr marL="12600" algn="ctr">
              <a:lnSpc>
                <a:spcPct val="100000"/>
              </a:lnSpc>
              <a:spcBef>
                <a:spcPts val="530"/>
              </a:spcBef>
              <a:buNone/>
              <a:tabLst>
                <a:tab algn="l" pos="354960"/>
                <a:tab algn="l" pos="355680"/>
              </a:tabLst>
            </a:pPr>
            <a:r>
              <a:rPr b="0" lang="en-US" sz="2400" spc="-7" strike="noStrike">
                <a:solidFill>
                  <a:srgbClr val="3297fc"/>
                </a:solidFill>
                <a:latin typeface="Calibri"/>
                <a:ea typeface="標楷體"/>
              </a:rPr>
              <a:t>Netlink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Introduction to FIB Pushing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Zebra supports a FIB Push Interface (FPI)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FPI allows an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external component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to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learn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the forwarding information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Forwarding Plane Manager (FPM):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Receives FIB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Decode FIB into routes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Programs forwarding plane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FIB Pushing: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FPM establishes a TCP 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  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connection with zebra</a:t>
            </a:r>
            <a:endParaRPr b="0" lang="en-US" sz="2400" spc="-1" strike="noStrike">
              <a:latin typeface="Arial"/>
            </a:endParaRPr>
          </a:p>
          <a:p>
            <a:pPr marL="268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88ee"/>
                </a:solidFill>
                <a:latin typeface="Calibri"/>
                <a:ea typeface="標楷體"/>
              </a:rPr>
              <a:t>‒</a:t>
            </a:r>
            <a:r>
              <a:rPr b="0" lang="en-US" sz="2400" spc="154" strike="noStrike">
                <a:solidFill>
                  <a:srgbClr val="0088ee"/>
                </a:solidFill>
                <a:latin typeface="Calibri"/>
                <a:ea typeface="標楷體"/>
              </a:rPr>
              <a:t>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Zebra pushes FIB to FPM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32"/>
          </p:nvPr>
        </p:nvSpPr>
        <p:spPr>
          <a:xfrm>
            <a:off x="10532880" y="6486480"/>
            <a:ext cx="1467000" cy="32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B7ED7A-44D6-431B-AEC0-354B87A83699}" type="slidenum">
              <a:rPr b="1" lang="en-US" sz="1400" spc="-1" strike="noStrike">
                <a:solidFill>
                  <a:srgbClr val="3897fc"/>
                </a:solidFill>
                <a:latin typeface="Times New Roman"/>
                <a:ea typeface="新細明體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grpSp>
        <p:nvGrpSpPr>
          <p:cNvPr id="565" name="object 13"/>
          <p:cNvGrpSpPr/>
          <p:nvPr/>
        </p:nvGrpSpPr>
        <p:grpSpPr>
          <a:xfrm>
            <a:off x="5087880" y="2670480"/>
            <a:ext cx="6284520" cy="3408480"/>
            <a:chOff x="5087880" y="2670480"/>
            <a:chExt cx="6284520" cy="3408480"/>
          </a:xfrm>
        </p:grpSpPr>
        <p:sp>
          <p:nvSpPr>
            <p:cNvPr id="566" name="object 14"/>
            <p:cNvSpPr/>
            <p:nvPr/>
          </p:nvSpPr>
          <p:spPr>
            <a:xfrm>
              <a:off x="5092560" y="3661200"/>
              <a:ext cx="2036880" cy="1589400"/>
            </a:xfrm>
            <a:custGeom>
              <a:avLst/>
              <a:gdLst/>
              <a:ahLst/>
              <a:rect l="l" t="t" r="r" b="b"/>
              <a:pathLst>
                <a:path w="2037714" h="1590039">
                  <a:moveTo>
                    <a:pt x="2037587" y="1589532"/>
                  </a:moveTo>
                  <a:lnTo>
                    <a:pt x="0" y="1589532"/>
                  </a:lnTo>
                  <a:lnTo>
                    <a:pt x="0" y="0"/>
                  </a:lnTo>
                  <a:lnTo>
                    <a:pt x="2037587" y="0"/>
                  </a:lnTo>
                  <a:lnTo>
                    <a:pt x="2037587" y="1589532"/>
                  </a:ln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7" name="object 15"/>
            <p:cNvSpPr/>
            <p:nvPr/>
          </p:nvSpPr>
          <p:spPr>
            <a:xfrm>
              <a:off x="5087880" y="3657960"/>
              <a:ext cx="2046600" cy="1596960"/>
            </a:xfrm>
            <a:custGeom>
              <a:avLst/>
              <a:gdLst/>
              <a:ahLst/>
              <a:rect l="l" t="t" r="r" b="b"/>
              <a:pathLst>
                <a:path w="2047239" h="1597660">
                  <a:moveTo>
                    <a:pt x="2045208" y="1597152"/>
                  </a:moveTo>
                  <a:lnTo>
                    <a:pt x="3048" y="1597152"/>
                  </a:lnTo>
                  <a:lnTo>
                    <a:pt x="0" y="1594103"/>
                  </a:lnTo>
                  <a:lnTo>
                    <a:pt x="0" y="1524"/>
                  </a:lnTo>
                  <a:lnTo>
                    <a:pt x="3048" y="0"/>
                  </a:lnTo>
                  <a:lnTo>
                    <a:pt x="2045208" y="0"/>
                  </a:lnTo>
                  <a:lnTo>
                    <a:pt x="2046732" y="1524"/>
                  </a:lnTo>
                  <a:lnTo>
                    <a:pt x="2046732" y="3048"/>
                  </a:lnTo>
                  <a:lnTo>
                    <a:pt x="9144" y="3048"/>
                  </a:lnTo>
                  <a:lnTo>
                    <a:pt x="4572" y="7620"/>
                  </a:lnTo>
                  <a:lnTo>
                    <a:pt x="9144" y="7620"/>
                  </a:lnTo>
                  <a:lnTo>
                    <a:pt x="9144" y="1588007"/>
                  </a:lnTo>
                  <a:lnTo>
                    <a:pt x="4572" y="1588007"/>
                  </a:lnTo>
                  <a:lnTo>
                    <a:pt x="9144" y="1592580"/>
                  </a:lnTo>
                  <a:lnTo>
                    <a:pt x="2046732" y="1592580"/>
                  </a:lnTo>
                  <a:lnTo>
                    <a:pt x="2046732" y="1594103"/>
                  </a:lnTo>
                  <a:lnTo>
                    <a:pt x="2045208" y="1597152"/>
                  </a:lnTo>
                  <a:close/>
                </a:path>
                <a:path w="2047239" h="1597660">
                  <a:moveTo>
                    <a:pt x="9144" y="7620"/>
                  </a:moveTo>
                  <a:lnTo>
                    <a:pt x="4572" y="7620"/>
                  </a:lnTo>
                  <a:lnTo>
                    <a:pt x="9144" y="3048"/>
                  </a:lnTo>
                  <a:lnTo>
                    <a:pt x="9144" y="7620"/>
                  </a:lnTo>
                  <a:close/>
                </a:path>
                <a:path w="2047239" h="1597660">
                  <a:moveTo>
                    <a:pt x="2039112" y="7620"/>
                  </a:moveTo>
                  <a:lnTo>
                    <a:pt x="9144" y="7620"/>
                  </a:lnTo>
                  <a:lnTo>
                    <a:pt x="9144" y="3048"/>
                  </a:lnTo>
                  <a:lnTo>
                    <a:pt x="2039112" y="3048"/>
                  </a:lnTo>
                  <a:lnTo>
                    <a:pt x="2039112" y="7620"/>
                  </a:lnTo>
                  <a:close/>
                </a:path>
                <a:path w="2047239" h="1597660">
                  <a:moveTo>
                    <a:pt x="2039112" y="1592580"/>
                  </a:moveTo>
                  <a:lnTo>
                    <a:pt x="2039112" y="3048"/>
                  </a:lnTo>
                  <a:lnTo>
                    <a:pt x="2042160" y="7620"/>
                  </a:lnTo>
                  <a:lnTo>
                    <a:pt x="2046732" y="7620"/>
                  </a:lnTo>
                  <a:lnTo>
                    <a:pt x="2046732" y="1588007"/>
                  </a:lnTo>
                  <a:lnTo>
                    <a:pt x="2042160" y="1588007"/>
                  </a:lnTo>
                  <a:lnTo>
                    <a:pt x="2039112" y="1592580"/>
                  </a:lnTo>
                  <a:close/>
                </a:path>
                <a:path w="2047239" h="1597660">
                  <a:moveTo>
                    <a:pt x="2046732" y="7620"/>
                  </a:moveTo>
                  <a:lnTo>
                    <a:pt x="2042160" y="7620"/>
                  </a:lnTo>
                  <a:lnTo>
                    <a:pt x="2039112" y="3048"/>
                  </a:lnTo>
                  <a:lnTo>
                    <a:pt x="2046732" y="3048"/>
                  </a:lnTo>
                  <a:lnTo>
                    <a:pt x="2046732" y="7620"/>
                  </a:lnTo>
                  <a:close/>
                </a:path>
                <a:path w="2047239" h="1597660">
                  <a:moveTo>
                    <a:pt x="9144" y="1592580"/>
                  </a:moveTo>
                  <a:lnTo>
                    <a:pt x="4572" y="1588007"/>
                  </a:lnTo>
                  <a:lnTo>
                    <a:pt x="9144" y="1588007"/>
                  </a:lnTo>
                  <a:lnTo>
                    <a:pt x="9144" y="1592580"/>
                  </a:lnTo>
                  <a:close/>
                </a:path>
                <a:path w="2047239" h="1597660">
                  <a:moveTo>
                    <a:pt x="2039112" y="1592580"/>
                  </a:moveTo>
                  <a:lnTo>
                    <a:pt x="9144" y="1592580"/>
                  </a:lnTo>
                  <a:lnTo>
                    <a:pt x="9144" y="1588007"/>
                  </a:lnTo>
                  <a:lnTo>
                    <a:pt x="2039112" y="1588007"/>
                  </a:lnTo>
                  <a:lnTo>
                    <a:pt x="2039112" y="1592580"/>
                  </a:lnTo>
                  <a:close/>
                </a:path>
                <a:path w="2047239" h="1597660">
                  <a:moveTo>
                    <a:pt x="2046732" y="1592580"/>
                  </a:moveTo>
                  <a:lnTo>
                    <a:pt x="2039112" y="1592580"/>
                  </a:lnTo>
                  <a:lnTo>
                    <a:pt x="2042160" y="1588007"/>
                  </a:lnTo>
                  <a:lnTo>
                    <a:pt x="2046732" y="1588007"/>
                  </a:lnTo>
                  <a:lnTo>
                    <a:pt x="2046732" y="159258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8" name="object 16"/>
            <p:cNvSpPr/>
            <p:nvPr/>
          </p:nvSpPr>
          <p:spPr>
            <a:xfrm>
              <a:off x="8213760" y="2675160"/>
              <a:ext cx="3153960" cy="3399840"/>
            </a:xfrm>
            <a:custGeom>
              <a:avLst/>
              <a:gdLst/>
              <a:ahLst/>
              <a:rect l="l" t="t" r="r" b="b"/>
              <a:pathLst>
                <a:path w="3154679" h="3400425">
                  <a:moveTo>
                    <a:pt x="3154680" y="3400044"/>
                  </a:moveTo>
                  <a:lnTo>
                    <a:pt x="0" y="3400044"/>
                  </a:lnTo>
                  <a:lnTo>
                    <a:pt x="0" y="0"/>
                  </a:lnTo>
                  <a:lnTo>
                    <a:pt x="3154680" y="0"/>
                  </a:lnTo>
                  <a:lnTo>
                    <a:pt x="3154680" y="3400044"/>
                  </a:ln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9" name="object 17"/>
            <p:cNvSpPr/>
            <p:nvPr/>
          </p:nvSpPr>
          <p:spPr>
            <a:xfrm>
              <a:off x="8209080" y="2670480"/>
              <a:ext cx="3163320" cy="3408480"/>
            </a:xfrm>
            <a:custGeom>
              <a:avLst/>
              <a:gdLst/>
              <a:ahLst/>
              <a:rect l="l" t="t" r="r" b="b"/>
              <a:pathLst>
                <a:path w="3164204" h="3409315">
                  <a:moveTo>
                    <a:pt x="3162300" y="3409188"/>
                  </a:moveTo>
                  <a:lnTo>
                    <a:pt x="1524" y="3409188"/>
                  </a:lnTo>
                  <a:lnTo>
                    <a:pt x="0" y="3406140"/>
                  </a:lnTo>
                  <a:lnTo>
                    <a:pt x="0" y="3048"/>
                  </a:lnTo>
                  <a:lnTo>
                    <a:pt x="1524" y="0"/>
                  </a:lnTo>
                  <a:lnTo>
                    <a:pt x="3162300" y="0"/>
                  </a:lnTo>
                  <a:lnTo>
                    <a:pt x="3163824" y="3048"/>
                  </a:lnTo>
                  <a:lnTo>
                    <a:pt x="3163824" y="4572"/>
                  </a:lnTo>
                  <a:lnTo>
                    <a:pt x="9144" y="4572"/>
                  </a:lnTo>
                  <a:lnTo>
                    <a:pt x="4572" y="9144"/>
                  </a:lnTo>
                  <a:lnTo>
                    <a:pt x="9144" y="9144"/>
                  </a:lnTo>
                  <a:lnTo>
                    <a:pt x="9144" y="3400044"/>
                  </a:lnTo>
                  <a:lnTo>
                    <a:pt x="4572" y="3400044"/>
                  </a:lnTo>
                  <a:lnTo>
                    <a:pt x="9144" y="3404616"/>
                  </a:lnTo>
                  <a:lnTo>
                    <a:pt x="3163824" y="3404616"/>
                  </a:lnTo>
                  <a:lnTo>
                    <a:pt x="3163824" y="3406140"/>
                  </a:lnTo>
                  <a:lnTo>
                    <a:pt x="3162300" y="3409188"/>
                  </a:lnTo>
                  <a:close/>
                </a:path>
                <a:path w="3164204" h="3409315">
                  <a:moveTo>
                    <a:pt x="9144" y="9144"/>
                  </a:moveTo>
                  <a:lnTo>
                    <a:pt x="4572" y="9144"/>
                  </a:lnTo>
                  <a:lnTo>
                    <a:pt x="9144" y="4572"/>
                  </a:lnTo>
                  <a:lnTo>
                    <a:pt x="9144" y="9144"/>
                  </a:lnTo>
                  <a:close/>
                </a:path>
                <a:path w="3164204" h="3409315">
                  <a:moveTo>
                    <a:pt x="3154680" y="9144"/>
                  </a:moveTo>
                  <a:lnTo>
                    <a:pt x="9144" y="9144"/>
                  </a:lnTo>
                  <a:lnTo>
                    <a:pt x="9144" y="4572"/>
                  </a:lnTo>
                  <a:lnTo>
                    <a:pt x="3154680" y="4572"/>
                  </a:lnTo>
                  <a:lnTo>
                    <a:pt x="3154680" y="9144"/>
                  </a:lnTo>
                  <a:close/>
                </a:path>
                <a:path w="3164204" h="3409315">
                  <a:moveTo>
                    <a:pt x="3154680" y="3404616"/>
                  </a:moveTo>
                  <a:lnTo>
                    <a:pt x="3154680" y="4572"/>
                  </a:lnTo>
                  <a:lnTo>
                    <a:pt x="3159252" y="9144"/>
                  </a:lnTo>
                  <a:lnTo>
                    <a:pt x="3163824" y="9144"/>
                  </a:lnTo>
                  <a:lnTo>
                    <a:pt x="3163824" y="3400044"/>
                  </a:lnTo>
                  <a:lnTo>
                    <a:pt x="3159252" y="3400044"/>
                  </a:lnTo>
                  <a:lnTo>
                    <a:pt x="3154680" y="3404616"/>
                  </a:lnTo>
                  <a:close/>
                </a:path>
                <a:path w="3164204" h="3409315">
                  <a:moveTo>
                    <a:pt x="3163824" y="9144"/>
                  </a:moveTo>
                  <a:lnTo>
                    <a:pt x="3159252" y="9144"/>
                  </a:lnTo>
                  <a:lnTo>
                    <a:pt x="3154680" y="4572"/>
                  </a:lnTo>
                  <a:lnTo>
                    <a:pt x="3163824" y="4572"/>
                  </a:lnTo>
                  <a:lnTo>
                    <a:pt x="3163824" y="9144"/>
                  </a:lnTo>
                  <a:close/>
                </a:path>
                <a:path w="3164204" h="3409315">
                  <a:moveTo>
                    <a:pt x="9144" y="3404616"/>
                  </a:moveTo>
                  <a:lnTo>
                    <a:pt x="4572" y="3400044"/>
                  </a:lnTo>
                  <a:lnTo>
                    <a:pt x="9144" y="3400044"/>
                  </a:lnTo>
                  <a:lnTo>
                    <a:pt x="9144" y="3404616"/>
                  </a:lnTo>
                  <a:close/>
                </a:path>
                <a:path w="3164204" h="3409315">
                  <a:moveTo>
                    <a:pt x="3154680" y="3404616"/>
                  </a:moveTo>
                  <a:lnTo>
                    <a:pt x="9144" y="3404616"/>
                  </a:lnTo>
                  <a:lnTo>
                    <a:pt x="9144" y="3400044"/>
                  </a:lnTo>
                  <a:lnTo>
                    <a:pt x="3154680" y="3400044"/>
                  </a:lnTo>
                  <a:lnTo>
                    <a:pt x="3154680" y="3404616"/>
                  </a:lnTo>
                  <a:close/>
                </a:path>
                <a:path w="3164204" h="3409315">
                  <a:moveTo>
                    <a:pt x="3163824" y="3404616"/>
                  </a:moveTo>
                  <a:lnTo>
                    <a:pt x="3154680" y="3404616"/>
                  </a:lnTo>
                  <a:lnTo>
                    <a:pt x="3159252" y="3400044"/>
                  </a:lnTo>
                  <a:lnTo>
                    <a:pt x="3163824" y="3400044"/>
                  </a:lnTo>
                  <a:lnTo>
                    <a:pt x="3163824" y="340461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70" name="object 18"/>
            <p:cNvSpPr/>
            <p:nvPr/>
          </p:nvSpPr>
          <p:spPr>
            <a:xfrm>
              <a:off x="6986880" y="4168440"/>
              <a:ext cx="2253600" cy="126360"/>
            </a:xfrm>
            <a:custGeom>
              <a:avLst/>
              <a:gdLst/>
              <a:ahLst/>
              <a:rect l="l" t="t" r="r" b="b"/>
              <a:pathLst>
                <a:path w="2254250" h="127000">
                  <a:moveTo>
                    <a:pt x="2153923" y="33729"/>
                  </a:moveTo>
                  <a:lnTo>
                    <a:pt x="2153412" y="0"/>
                  </a:lnTo>
                  <a:lnTo>
                    <a:pt x="2220468" y="33528"/>
                  </a:lnTo>
                  <a:lnTo>
                    <a:pt x="2170176" y="33528"/>
                  </a:lnTo>
                  <a:lnTo>
                    <a:pt x="2153923" y="33729"/>
                  </a:lnTo>
                  <a:close/>
                </a:path>
                <a:path w="2254250" h="127000">
                  <a:moveTo>
                    <a:pt x="100583" y="126492"/>
                  </a:moveTo>
                  <a:lnTo>
                    <a:pt x="0" y="77724"/>
                  </a:lnTo>
                  <a:lnTo>
                    <a:pt x="100583" y="25908"/>
                  </a:lnTo>
                  <a:lnTo>
                    <a:pt x="100583" y="59227"/>
                  </a:lnTo>
                  <a:lnTo>
                    <a:pt x="83820" y="59436"/>
                  </a:lnTo>
                  <a:lnTo>
                    <a:pt x="83820" y="92964"/>
                  </a:lnTo>
                  <a:lnTo>
                    <a:pt x="100583" y="92964"/>
                  </a:lnTo>
                  <a:lnTo>
                    <a:pt x="100583" y="126492"/>
                  </a:lnTo>
                  <a:close/>
                </a:path>
                <a:path w="2254250" h="127000">
                  <a:moveTo>
                    <a:pt x="2154430" y="67251"/>
                  </a:moveTo>
                  <a:lnTo>
                    <a:pt x="2153923" y="33729"/>
                  </a:lnTo>
                  <a:lnTo>
                    <a:pt x="2170176" y="33528"/>
                  </a:lnTo>
                  <a:lnTo>
                    <a:pt x="2170176" y="67056"/>
                  </a:lnTo>
                  <a:lnTo>
                    <a:pt x="2154430" y="67251"/>
                  </a:lnTo>
                  <a:close/>
                </a:path>
                <a:path w="2254250" h="127000">
                  <a:moveTo>
                    <a:pt x="2154936" y="100584"/>
                  </a:moveTo>
                  <a:lnTo>
                    <a:pt x="2154430" y="67251"/>
                  </a:lnTo>
                  <a:lnTo>
                    <a:pt x="2170176" y="67056"/>
                  </a:lnTo>
                  <a:lnTo>
                    <a:pt x="2170176" y="33528"/>
                  </a:lnTo>
                  <a:lnTo>
                    <a:pt x="2220468" y="33528"/>
                  </a:lnTo>
                  <a:lnTo>
                    <a:pt x="2253996" y="50292"/>
                  </a:lnTo>
                  <a:lnTo>
                    <a:pt x="2154936" y="100584"/>
                  </a:lnTo>
                  <a:close/>
                </a:path>
                <a:path w="2254250" h="127000">
                  <a:moveTo>
                    <a:pt x="100583" y="92755"/>
                  </a:moveTo>
                  <a:lnTo>
                    <a:pt x="100583" y="59227"/>
                  </a:lnTo>
                  <a:lnTo>
                    <a:pt x="2153923" y="33729"/>
                  </a:lnTo>
                  <a:lnTo>
                    <a:pt x="2154430" y="67251"/>
                  </a:lnTo>
                  <a:lnTo>
                    <a:pt x="100583" y="92755"/>
                  </a:lnTo>
                  <a:close/>
                </a:path>
                <a:path w="2254250" h="127000">
                  <a:moveTo>
                    <a:pt x="83820" y="92964"/>
                  </a:moveTo>
                  <a:lnTo>
                    <a:pt x="83820" y="59436"/>
                  </a:lnTo>
                  <a:lnTo>
                    <a:pt x="100583" y="59227"/>
                  </a:lnTo>
                  <a:lnTo>
                    <a:pt x="100583" y="92755"/>
                  </a:lnTo>
                  <a:lnTo>
                    <a:pt x="83820" y="92964"/>
                  </a:lnTo>
                  <a:close/>
                </a:path>
                <a:path w="2254250" h="127000">
                  <a:moveTo>
                    <a:pt x="100583" y="92964"/>
                  </a:moveTo>
                  <a:lnTo>
                    <a:pt x="83820" y="92964"/>
                  </a:lnTo>
                  <a:lnTo>
                    <a:pt x="100583" y="92755"/>
                  </a:lnTo>
                  <a:lnTo>
                    <a:pt x="100583" y="92964"/>
                  </a:lnTo>
                  <a:close/>
                </a:path>
              </a:pathLst>
            </a:custGeom>
            <a:solidFill>
              <a:srgbClr val="0070b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71" name="object 19"/>
            <p:cNvSpPr/>
            <p:nvPr/>
          </p:nvSpPr>
          <p:spPr>
            <a:xfrm>
              <a:off x="5250960" y="4014720"/>
              <a:ext cx="1735200" cy="462960"/>
            </a:xfrm>
            <a:custGeom>
              <a:avLst/>
              <a:gdLst/>
              <a:ahLst/>
              <a:rect l="l" t="t" r="r" b="b"/>
              <a:pathLst>
                <a:path w="1736089" h="463550">
                  <a:moveTo>
                    <a:pt x="1735835" y="463295"/>
                  </a:moveTo>
                  <a:lnTo>
                    <a:pt x="0" y="463295"/>
                  </a:lnTo>
                  <a:lnTo>
                    <a:pt x="0" y="0"/>
                  </a:lnTo>
                  <a:lnTo>
                    <a:pt x="1735835" y="0"/>
                  </a:lnTo>
                  <a:lnTo>
                    <a:pt x="1735835" y="463295"/>
                  </a:lnTo>
                  <a:close/>
                </a:path>
              </a:pathLst>
            </a:custGeom>
            <a:solidFill>
              <a:srgbClr val="e4f7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72" name="object 20"/>
            <p:cNvSpPr/>
            <p:nvPr/>
          </p:nvSpPr>
          <p:spPr>
            <a:xfrm>
              <a:off x="5238720" y="4001040"/>
              <a:ext cx="1759680" cy="488880"/>
            </a:xfrm>
            <a:custGeom>
              <a:avLst/>
              <a:gdLst/>
              <a:ahLst/>
              <a:rect l="l" t="t" r="r" b="b"/>
              <a:pathLst>
                <a:path w="1760220" h="489585">
                  <a:moveTo>
                    <a:pt x="1755648" y="489203"/>
                  </a:moveTo>
                  <a:lnTo>
                    <a:pt x="6096" y="489203"/>
                  </a:lnTo>
                  <a:lnTo>
                    <a:pt x="0" y="483108"/>
                  </a:lnTo>
                  <a:lnTo>
                    <a:pt x="0" y="6096"/>
                  </a:lnTo>
                  <a:lnTo>
                    <a:pt x="6096" y="0"/>
                  </a:lnTo>
                  <a:lnTo>
                    <a:pt x="1755648" y="0"/>
                  </a:lnTo>
                  <a:lnTo>
                    <a:pt x="1760220" y="6096"/>
                  </a:lnTo>
                  <a:lnTo>
                    <a:pt x="1760220" y="13716"/>
                  </a:lnTo>
                  <a:lnTo>
                    <a:pt x="24384" y="13716"/>
                  </a:lnTo>
                  <a:lnTo>
                    <a:pt x="12192" y="25908"/>
                  </a:lnTo>
                  <a:lnTo>
                    <a:pt x="24384" y="25908"/>
                  </a:lnTo>
                  <a:lnTo>
                    <a:pt x="24384" y="464820"/>
                  </a:lnTo>
                  <a:lnTo>
                    <a:pt x="12192" y="464820"/>
                  </a:lnTo>
                  <a:lnTo>
                    <a:pt x="24384" y="477012"/>
                  </a:lnTo>
                  <a:lnTo>
                    <a:pt x="1760220" y="477012"/>
                  </a:lnTo>
                  <a:lnTo>
                    <a:pt x="1760220" y="483108"/>
                  </a:lnTo>
                  <a:lnTo>
                    <a:pt x="1755648" y="489203"/>
                  </a:lnTo>
                  <a:close/>
                </a:path>
                <a:path w="1760220" h="489585">
                  <a:moveTo>
                    <a:pt x="24384" y="25908"/>
                  </a:moveTo>
                  <a:lnTo>
                    <a:pt x="12192" y="25908"/>
                  </a:lnTo>
                  <a:lnTo>
                    <a:pt x="24384" y="13716"/>
                  </a:lnTo>
                  <a:lnTo>
                    <a:pt x="24384" y="25908"/>
                  </a:lnTo>
                  <a:close/>
                </a:path>
                <a:path w="1760220" h="489585">
                  <a:moveTo>
                    <a:pt x="1735836" y="25908"/>
                  </a:moveTo>
                  <a:lnTo>
                    <a:pt x="24384" y="25908"/>
                  </a:lnTo>
                  <a:lnTo>
                    <a:pt x="24384" y="13716"/>
                  </a:lnTo>
                  <a:lnTo>
                    <a:pt x="1735836" y="13716"/>
                  </a:lnTo>
                  <a:lnTo>
                    <a:pt x="1735836" y="25908"/>
                  </a:lnTo>
                  <a:close/>
                </a:path>
                <a:path w="1760220" h="489585">
                  <a:moveTo>
                    <a:pt x="1735836" y="477012"/>
                  </a:moveTo>
                  <a:lnTo>
                    <a:pt x="1735836" y="13716"/>
                  </a:lnTo>
                  <a:lnTo>
                    <a:pt x="1748028" y="25908"/>
                  </a:lnTo>
                  <a:lnTo>
                    <a:pt x="1760220" y="25908"/>
                  </a:lnTo>
                  <a:lnTo>
                    <a:pt x="1760220" y="464820"/>
                  </a:lnTo>
                  <a:lnTo>
                    <a:pt x="1748028" y="464820"/>
                  </a:lnTo>
                  <a:lnTo>
                    <a:pt x="1735836" y="477012"/>
                  </a:lnTo>
                  <a:close/>
                </a:path>
                <a:path w="1760220" h="489585">
                  <a:moveTo>
                    <a:pt x="1760220" y="25908"/>
                  </a:moveTo>
                  <a:lnTo>
                    <a:pt x="1748028" y="25908"/>
                  </a:lnTo>
                  <a:lnTo>
                    <a:pt x="1735836" y="13716"/>
                  </a:lnTo>
                  <a:lnTo>
                    <a:pt x="1760220" y="13716"/>
                  </a:lnTo>
                  <a:lnTo>
                    <a:pt x="1760220" y="25908"/>
                  </a:lnTo>
                  <a:close/>
                </a:path>
                <a:path w="1760220" h="489585">
                  <a:moveTo>
                    <a:pt x="24384" y="477012"/>
                  </a:moveTo>
                  <a:lnTo>
                    <a:pt x="12192" y="464820"/>
                  </a:lnTo>
                  <a:lnTo>
                    <a:pt x="24384" y="464820"/>
                  </a:lnTo>
                  <a:lnTo>
                    <a:pt x="24384" y="477012"/>
                  </a:lnTo>
                  <a:close/>
                </a:path>
                <a:path w="1760220" h="489585">
                  <a:moveTo>
                    <a:pt x="1735836" y="477012"/>
                  </a:moveTo>
                  <a:lnTo>
                    <a:pt x="24384" y="477012"/>
                  </a:lnTo>
                  <a:lnTo>
                    <a:pt x="24384" y="464820"/>
                  </a:lnTo>
                  <a:lnTo>
                    <a:pt x="1735836" y="464820"/>
                  </a:lnTo>
                  <a:lnTo>
                    <a:pt x="1735836" y="477012"/>
                  </a:lnTo>
                  <a:close/>
                </a:path>
                <a:path w="1760220" h="489585">
                  <a:moveTo>
                    <a:pt x="1760220" y="477012"/>
                  </a:moveTo>
                  <a:lnTo>
                    <a:pt x="1735836" y="477012"/>
                  </a:lnTo>
                  <a:lnTo>
                    <a:pt x="1748028" y="464820"/>
                  </a:lnTo>
                  <a:lnTo>
                    <a:pt x="1760220" y="464820"/>
                  </a:lnTo>
                  <a:lnTo>
                    <a:pt x="1760220" y="477012"/>
                  </a:lnTo>
                  <a:close/>
                </a:path>
              </a:pathLst>
            </a:custGeom>
            <a:solidFill>
              <a:srgbClr val="243f6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73" name="object 22"/>
          <p:cNvSpPr/>
          <p:nvPr/>
        </p:nvSpPr>
        <p:spPr>
          <a:xfrm>
            <a:off x="11246040" y="6240600"/>
            <a:ext cx="180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840" bIns="0" anchor="t">
            <a:spAutoFit/>
          </a:bodyPr>
          <a:p>
            <a:pPr marL="12600">
              <a:lnSpc>
                <a:spcPct val="100000"/>
              </a:lnSpc>
              <a:spcBef>
                <a:spcPts val="125"/>
              </a:spcBef>
              <a:buNone/>
            </a:pPr>
            <a:r>
              <a:rPr b="1" lang="en-US" sz="1200" spc="7" strike="noStrike">
                <a:solidFill>
                  <a:srgbClr val="ffffff"/>
                </a:solidFill>
                <a:latin typeface="Times New Roman"/>
                <a:ea typeface="標楷體"/>
              </a:rPr>
              <a:t>10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74" name="object 23"/>
          <p:cNvSpPr/>
          <p:nvPr/>
        </p:nvSpPr>
        <p:spPr>
          <a:xfrm>
            <a:off x="5250960" y="4014720"/>
            <a:ext cx="173520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4920" bIns="0" anchor="t">
            <a:spAutoFit/>
          </a:bodyPr>
          <a:p>
            <a:pPr marL="566280">
              <a:lnSpc>
                <a:spcPct val="100000"/>
              </a:lnSpc>
              <a:spcBef>
                <a:spcPts val="275"/>
              </a:spcBef>
              <a:buNone/>
            </a:pPr>
            <a:r>
              <a:rPr b="1" lang="en-US" sz="2100" spc="-7" strike="noStrike">
                <a:solidFill>
                  <a:srgbClr val="f68016"/>
                </a:solidFill>
                <a:latin typeface="Calibri"/>
                <a:ea typeface="標楷體"/>
              </a:rPr>
              <a:t>FPM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575" name="object 24"/>
          <p:cNvGrpSpPr/>
          <p:nvPr/>
        </p:nvGrpSpPr>
        <p:grpSpPr>
          <a:xfrm>
            <a:off x="5270760" y="4478040"/>
            <a:ext cx="1715760" cy="939600"/>
            <a:chOff x="5270760" y="4478040"/>
            <a:chExt cx="1715760" cy="939600"/>
          </a:xfrm>
        </p:grpSpPr>
        <p:sp>
          <p:nvSpPr>
            <p:cNvPr id="576" name="object 25"/>
            <p:cNvSpPr/>
            <p:nvPr/>
          </p:nvSpPr>
          <p:spPr>
            <a:xfrm>
              <a:off x="6069240" y="4478040"/>
              <a:ext cx="100080" cy="939600"/>
            </a:xfrm>
            <a:custGeom>
              <a:avLst/>
              <a:gdLst/>
              <a:ahLst/>
              <a:rect l="l" t="t" r="r" b="b"/>
              <a:pathLst>
                <a:path w="100964" h="940435">
                  <a:moveTo>
                    <a:pt x="33528" y="100584"/>
                  </a:moveTo>
                  <a:lnTo>
                    <a:pt x="0" y="100584"/>
                  </a:lnTo>
                  <a:lnTo>
                    <a:pt x="50292" y="0"/>
                  </a:lnTo>
                  <a:lnTo>
                    <a:pt x="92202" y="83820"/>
                  </a:lnTo>
                  <a:lnTo>
                    <a:pt x="33528" y="83820"/>
                  </a:lnTo>
                  <a:lnTo>
                    <a:pt x="33528" y="100584"/>
                  </a:lnTo>
                  <a:close/>
                </a:path>
                <a:path w="100964" h="940435">
                  <a:moveTo>
                    <a:pt x="67056" y="856488"/>
                  </a:moveTo>
                  <a:lnTo>
                    <a:pt x="33528" y="856488"/>
                  </a:lnTo>
                  <a:lnTo>
                    <a:pt x="33528" y="83820"/>
                  </a:lnTo>
                  <a:lnTo>
                    <a:pt x="67056" y="83820"/>
                  </a:lnTo>
                  <a:lnTo>
                    <a:pt x="67056" y="856488"/>
                  </a:lnTo>
                  <a:close/>
                </a:path>
                <a:path w="100964" h="940435">
                  <a:moveTo>
                    <a:pt x="100584" y="100584"/>
                  </a:moveTo>
                  <a:lnTo>
                    <a:pt x="67056" y="100584"/>
                  </a:lnTo>
                  <a:lnTo>
                    <a:pt x="67056" y="83820"/>
                  </a:lnTo>
                  <a:lnTo>
                    <a:pt x="92202" y="83820"/>
                  </a:lnTo>
                  <a:lnTo>
                    <a:pt x="100584" y="100584"/>
                  </a:lnTo>
                  <a:close/>
                </a:path>
                <a:path w="100964" h="940435">
                  <a:moveTo>
                    <a:pt x="50292" y="940308"/>
                  </a:moveTo>
                  <a:lnTo>
                    <a:pt x="0" y="839724"/>
                  </a:lnTo>
                  <a:lnTo>
                    <a:pt x="33528" y="839724"/>
                  </a:lnTo>
                  <a:lnTo>
                    <a:pt x="33528" y="856488"/>
                  </a:lnTo>
                  <a:lnTo>
                    <a:pt x="92201" y="856488"/>
                  </a:lnTo>
                  <a:lnTo>
                    <a:pt x="50292" y="940308"/>
                  </a:lnTo>
                  <a:close/>
                </a:path>
                <a:path w="100964" h="940435">
                  <a:moveTo>
                    <a:pt x="92201" y="856488"/>
                  </a:moveTo>
                  <a:lnTo>
                    <a:pt x="67056" y="856488"/>
                  </a:lnTo>
                  <a:lnTo>
                    <a:pt x="67056" y="839724"/>
                  </a:lnTo>
                  <a:lnTo>
                    <a:pt x="100584" y="839724"/>
                  </a:lnTo>
                  <a:lnTo>
                    <a:pt x="92201" y="85648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77" name="object 26" descr=""/>
            <p:cNvPicPr/>
            <p:nvPr/>
          </p:nvPicPr>
          <p:blipFill>
            <a:blip r:embed="rId1"/>
            <a:stretch/>
          </p:blipFill>
          <p:spPr>
            <a:xfrm>
              <a:off x="5275440" y="4637880"/>
              <a:ext cx="1704600" cy="511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78" name="object 27"/>
            <p:cNvSpPr/>
            <p:nvPr/>
          </p:nvSpPr>
          <p:spPr>
            <a:xfrm>
              <a:off x="5270760" y="4631760"/>
              <a:ext cx="1715760" cy="527040"/>
            </a:xfrm>
            <a:custGeom>
              <a:avLst/>
              <a:gdLst/>
              <a:ahLst/>
              <a:rect l="l" t="t" r="r" b="b"/>
              <a:pathLst>
                <a:path w="1716404" h="527685">
                  <a:moveTo>
                    <a:pt x="12192" y="515112"/>
                  </a:moveTo>
                  <a:lnTo>
                    <a:pt x="0" y="515112"/>
                  </a:lnTo>
                  <a:lnTo>
                    <a:pt x="0" y="414528"/>
                  </a:lnTo>
                  <a:lnTo>
                    <a:pt x="24384" y="414528"/>
                  </a:lnTo>
                  <a:lnTo>
                    <a:pt x="24384" y="502920"/>
                  </a:lnTo>
                  <a:lnTo>
                    <a:pt x="12192" y="502920"/>
                  </a:lnTo>
                  <a:lnTo>
                    <a:pt x="12192" y="515112"/>
                  </a:lnTo>
                  <a:close/>
                </a:path>
                <a:path w="1716404" h="527685">
                  <a:moveTo>
                    <a:pt x="13716" y="527304"/>
                  </a:moveTo>
                  <a:lnTo>
                    <a:pt x="12192" y="527304"/>
                  </a:lnTo>
                  <a:lnTo>
                    <a:pt x="12192" y="502920"/>
                  </a:lnTo>
                  <a:lnTo>
                    <a:pt x="13716" y="502920"/>
                  </a:lnTo>
                  <a:lnTo>
                    <a:pt x="13716" y="527304"/>
                  </a:lnTo>
                  <a:close/>
                </a:path>
                <a:path w="1716404" h="527685">
                  <a:moveTo>
                    <a:pt x="24384" y="515112"/>
                  </a:moveTo>
                  <a:lnTo>
                    <a:pt x="13716" y="515112"/>
                  </a:lnTo>
                  <a:lnTo>
                    <a:pt x="13716" y="502920"/>
                  </a:lnTo>
                  <a:lnTo>
                    <a:pt x="24384" y="502920"/>
                  </a:lnTo>
                  <a:lnTo>
                    <a:pt x="24384" y="515112"/>
                  </a:lnTo>
                  <a:close/>
                </a:path>
                <a:path w="1716404" h="527685">
                  <a:moveTo>
                    <a:pt x="24384" y="339852"/>
                  </a:moveTo>
                  <a:lnTo>
                    <a:pt x="0" y="339852"/>
                  </a:lnTo>
                  <a:lnTo>
                    <a:pt x="0" y="239268"/>
                  </a:lnTo>
                  <a:lnTo>
                    <a:pt x="24384" y="239268"/>
                  </a:lnTo>
                  <a:lnTo>
                    <a:pt x="24384" y="339852"/>
                  </a:lnTo>
                  <a:close/>
                </a:path>
                <a:path w="1716404" h="527685">
                  <a:moveTo>
                    <a:pt x="24384" y="164592"/>
                  </a:moveTo>
                  <a:lnTo>
                    <a:pt x="0" y="164592"/>
                  </a:lnTo>
                  <a:lnTo>
                    <a:pt x="0" y="64008"/>
                  </a:lnTo>
                  <a:lnTo>
                    <a:pt x="24384" y="64008"/>
                  </a:lnTo>
                  <a:lnTo>
                    <a:pt x="24384" y="164592"/>
                  </a:lnTo>
                  <a:close/>
                </a:path>
                <a:path w="1716404" h="527685">
                  <a:moveTo>
                    <a:pt x="137160" y="25908"/>
                  </a:moveTo>
                  <a:lnTo>
                    <a:pt x="36576" y="25908"/>
                  </a:lnTo>
                  <a:lnTo>
                    <a:pt x="36576" y="0"/>
                  </a:lnTo>
                  <a:lnTo>
                    <a:pt x="137160" y="0"/>
                  </a:lnTo>
                  <a:lnTo>
                    <a:pt x="137160" y="25908"/>
                  </a:lnTo>
                  <a:close/>
                </a:path>
                <a:path w="1716404" h="527685">
                  <a:moveTo>
                    <a:pt x="312419" y="25908"/>
                  </a:moveTo>
                  <a:lnTo>
                    <a:pt x="211836" y="25908"/>
                  </a:lnTo>
                  <a:lnTo>
                    <a:pt x="211836" y="0"/>
                  </a:lnTo>
                  <a:lnTo>
                    <a:pt x="312419" y="0"/>
                  </a:lnTo>
                  <a:lnTo>
                    <a:pt x="312419" y="25908"/>
                  </a:lnTo>
                  <a:close/>
                </a:path>
                <a:path w="1716404" h="527685">
                  <a:moveTo>
                    <a:pt x="487680" y="25908"/>
                  </a:moveTo>
                  <a:lnTo>
                    <a:pt x="387096" y="25908"/>
                  </a:lnTo>
                  <a:lnTo>
                    <a:pt x="387096" y="0"/>
                  </a:lnTo>
                  <a:lnTo>
                    <a:pt x="487680" y="0"/>
                  </a:lnTo>
                  <a:lnTo>
                    <a:pt x="487680" y="25908"/>
                  </a:lnTo>
                  <a:close/>
                </a:path>
                <a:path w="1716404" h="527685">
                  <a:moveTo>
                    <a:pt x="662940" y="25908"/>
                  </a:moveTo>
                  <a:lnTo>
                    <a:pt x="562356" y="25908"/>
                  </a:lnTo>
                  <a:lnTo>
                    <a:pt x="562356" y="0"/>
                  </a:lnTo>
                  <a:lnTo>
                    <a:pt x="662940" y="0"/>
                  </a:lnTo>
                  <a:lnTo>
                    <a:pt x="662940" y="25908"/>
                  </a:lnTo>
                  <a:close/>
                </a:path>
                <a:path w="1716404" h="527685">
                  <a:moveTo>
                    <a:pt x="838200" y="25908"/>
                  </a:moveTo>
                  <a:lnTo>
                    <a:pt x="737616" y="25908"/>
                  </a:lnTo>
                  <a:lnTo>
                    <a:pt x="737616" y="0"/>
                  </a:lnTo>
                  <a:lnTo>
                    <a:pt x="838200" y="0"/>
                  </a:lnTo>
                  <a:lnTo>
                    <a:pt x="838200" y="25908"/>
                  </a:lnTo>
                  <a:close/>
                </a:path>
                <a:path w="1716404" h="527685">
                  <a:moveTo>
                    <a:pt x="1013460" y="25908"/>
                  </a:moveTo>
                  <a:lnTo>
                    <a:pt x="914400" y="25908"/>
                  </a:lnTo>
                  <a:lnTo>
                    <a:pt x="914400" y="0"/>
                  </a:lnTo>
                  <a:lnTo>
                    <a:pt x="1013460" y="0"/>
                  </a:lnTo>
                  <a:lnTo>
                    <a:pt x="1013460" y="25908"/>
                  </a:lnTo>
                  <a:close/>
                </a:path>
                <a:path w="1716404" h="527685">
                  <a:moveTo>
                    <a:pt x="1188720" y="25908"/>
                  </a:moveTo>
                  <a:lnTo>
                    <a:pt x="1089660" y="25908"/>
                  </a:lnTo>
                  <a:lnTo>
                    <a:pt x="1089660" y="0"/>
                  </a:lnTo>
                  <a:lnTo>
                    <a:pt x="1188720" y="0"/>
                  </a:lnTo>
                  <a:lnTo>
                    <a:pt x="1188720" y="25908"/>
                  </a:lnTo>
                  <a:close/>
                </a:path>
                <a:path w="1716404" h="527685">
                  <a:moveTo>
                    <a:pt x="1363980" y="25908"/>
                  </a:moveTo>
                  <a:lnTo>
                    <a:pt x="1264920" y="25908"/>
                  </a:lnTo>
                  <a:lnTo>
                    <a:pt x="1264920" y="0"/>
                  </a:lnTo>
                  <a:lnTo>
                    <a:pt x="1363980" y="0"/>
                  </a:lnTo>
                  <a:lnTo>
                    <a:pt x="1363980" y="25908"/>
                  </a:lnTo>
                  <a:close/>
                </a:path>
                <a:path w="1716404" h="527685">
                  <a:moveTo>
                    <a:pt x="1540763" y="25908"/>
                  </a:moveTo>
                  <a:lnTo>
                    <a:pt x="1440180" y="25908"/>
                  </a:lnTo>
                  <a:lnTo>
                    <a:pt x="1440180" y="0"/>
                  </a:lnTo>
                  <a:lnTo>
                    <a:pt x="1540763" y="0"/>
                  </a:lnTo>
                  <a:lnTo>
                    <a:pt x="1540763" y="25908"/>
                  </a:lnTo>
                  <a:close/>
                </a:path>
                <a:path w="1716404" h="527685">
                  <a:moveTo>
                    <a:pt x="1703832" y="25908"/>
                  </a:moveTo>
                  <a:lnTo>
                    <a:pt x="1615440" y="25908"/>
                  </a:lnTo>
                  <a:lnTo>
                    <a:pt x="1615440" y="0"/>
                  </a:lnTo>
                  <a:lnTo>
                    <a:pt x="1711451" y="0"/>
                  </a:lnTo>
                  <a:lnTo>
                    <a:pt x="1716024" y="6096"/>
                  </a:lnTo>
                  <a:lnTo>
                    <a:pt x="1716024" y="13716"/>
                  </a:lnTo>
                  <a:lnTo>
                    <a:pt x="1691640" y="13716"/>
                  </a:lnTo>
                  <a:lnTo>
                    <a:pt x="1691640" y="24384"/>
                  </a:lnTo>
                  <a:lnTo>
                    <a:pt x="1702308" y="24384"/>
                  </a:lnTo>
                  <a:lnTo>
                    <a:pt x="1703832" y="25908"/>
                  </a:lnTo>
                  <a:close/>
                </a:path>
                <a:path w="1716404" h="527685">
                  <a:moveTo>
                    <a:pt x="1702308" y="24384"/>
                  </a:moveTo>
                  <a:lnTo>
                    <a:pt x="1691640" y="24384"/>
                  </a:lnTo>
                  <a:lnTo>
                    <a:pt x="1691640" y="13716"/>
                  </a:lnTo>
                  <a:lnTo>
                    <a:pt x="1702308" y="24384"/>
                  </a:lnTo>
                  <a:close/>
                </a:path>
                <a:path w="1716404" h="527685">
                  <a:moveTo>
                    <a:pt x="1716024" y="24384"/>
                  </a:moveTo>
                  <a:lnTo>
                    <a:pt x="1702308" y="24384"/>
                  </a:lnTo>
                  <a:lnTo>
                    <a:pt x="1691640" y="13716"/>
                  </a:lnTo>
                  <a:lnTo>
                    <a:pt x="1716024" y="13716"/>
                  </a:lnTo>
                  <a:lnTo>
                    <a:pt x="1716024" y="24384"/>
                  </a:lnTo>
                  <a:close/>
                </a:path>
                <a:path w="1716404" h="527685">
                  <a:moveTo>
                    <a:pt x="1716024" y="199644"/>
                  </a:moveTo>
                  <a:lnTo>
                    <a:pt x="1691640" y="199644"/>
                  </a:lnTo>
                  <a:lnTo>
                    <a:pt x="1691640" y="100584"/>
                  </a:lnTo>
                  <a:lnTo>
                    <a:pt x="1716024" y="100584"/>
                  </a:lnTo>
                  <a:lnTo>
                    <a:pt x="1716024" y="199644"/>
                  </a:lnTo>
                  <a:close/>
                </a:path>
                <a:path w="1716404" h="527685">
                  <a:moveTo>
                    <a:pt x="1716024" y="376428"/>
                  </a:moveTo>
                  <a:lnTo>
                    <a:pt x="1691640" y="376428"/>
                  </a:lnTo>
                  <a:lnTo>
                    <a:pt x="1691640" y="275844"/>
                  </a:lnTo>
                  <a:lnTo>
                    <a:pt x="1716024" y="275844"/>
                  </a:lnTo>
                  <a:lnTo>
                    <a:pt x="1716024" y="376428"/>
                  </a:lnTo>
                  <a:close/>
                </a:path>
                <a:path w="1716404" h="527685">
                  <a:moveTo>
                    <a:pt x="1691640" y="515112"/>
                  </a:moveTo>
                  <a:lnTo>
                    <a:pt x="1691640" y="451104"/>
                  </a:lnTo>
                  <a:lnTo>
                    <a:pt x="1716024" y="451104"/>
                  </a:lnTo>
                  <a:lnTo>
                    <a:pt x="1716024" y="502920"/>
                  </a:lnTo>
                  <a:lnTo>
                    <a:pt x="1703832" y="502920"/>
                  </a:lnTo>
                  <a:lnTo>
                    <a:pt x="1691640" y="515112"/>
                  </a:lnTo>
                  <a:close/>
                </a:path>
                <a:path w="1716404" h="527685">
                  <a:moveTo>
                    <a:pt x="1711451" y="527304"/>
                  </a:moveTo>
                  <a:lnTo>
                    <a:pt x="1667255" y="527304"/>
                  </a:lnTo>
                  <a:lnTo>
                    <a:pt x="1667255" y="502920"/>
                  </a:lnTo>
                  <a:lnTo>
                    <a:pt x="1691640" y="502920"/>
                  </a:lnTo>
                  <a:lnTo>
                    <a:pt x="1691640" y="515112"/>
                  </a:lnTo>
                  <a:lnTo>
                    <a:pt x="1716024" y="515112"/>
                  </a:lnTo>
                  <a:lnTo>
                    <a:pt x="1716024" y="521208"/>
                  </a:lnTo>
                  <a:lnTo>
                    <a:pt x="1711451" y="527304"/>
                  </a:lnTo>
                  <a:close/>
                </a:path>
                <a:path w="1716404" h="527685">
                  <a:moveTo>
                    <a:pt x="1716024" y="515112"/>
                  </a:moveTo>
                  <a:lnTo>
                    <a:pt x="1691640" y="515112"/>
                  </a:lnTo>
                  <a:lnTo>
                    <a:pt x="1703832" y="502920"/>
                  </a:lnTo>
                  <a:lnTo>
                    <a:pt x="1716024" y="502920"/>
                  </a:lnTo>
                  <a:lnTo>
                    <a:pt x="1716024" y="515112"/>
                  </a:lnTo>
                  <a:close/>
                </a:path>
                <a:path w="1716404" h="527685">
                  <a:moveTo>
                    <a:pt x="1592580" y="527304"/>
                  </a:moveTo>
                  <a:lnTo>
                    <a:pt x="1491996" y="527304"/>
                  </a:lnTo>
                  <a:lnTo>
                    <a:pt x="1491996" y="502920"/>
                  </a:lnTo>
                  <a:lnTo>
                    <a:pt x="1592580" y="502920"/>
                  </a:lnTo>
                  <a:lnTo>
                    <a:pt x="1592580" y="527304"/>
                  </a:lnTo>
                  <a:close/>
                </a:path>
                <a:path w="1716404" h="527685">
                  <a:moveTo>
                    <a:pt x="1417320" y="527304"/>
                  </a:moveTo>
                  <a:lnTo>
                    <a:pt x="1316736" y="527304"/>
                  </a:lnTo>
                  <a:lnTo>
                    <a:pt x="1316736" y="502920"/>
                  </a:lnTo>
                  <a:lnTo>
                    <a:pt x="1417320" y="502920"/>
                  </a:lnTo>
                  <a:lnTo>
                    <a:pt x="1417320" y="527304"/>
                  </a:lnTo>
                  <a:close/>
                </a:path>
                <a:path w="1716404" h="527685">
                  <a:moveTo>
                    <a:pt x="1242059" y="527304"/>
                  </a:moveTo>
                  <a:lnTo>
                    <a:pt x="1141475" y="527304"/>
                  </a:lnTo>
                  <a:lnTo>
                    <a:pt x="1141475" y="502920"/>
                  </a:lnTo>
                  <a:lnTo>
                    <a:pt x="1242059" y="502920"/>
                  </a:lnTo>
                  <a:lnTo>
                    <a:pt x="1242059" y="527304"/>
                  </a:lnTo>
                  <a:close/>
                </a:path>
                <a:path w="1716404" h="527685">
                  <a:moveTo>
                    <a:pt x="1066800" y="527304"/>
                  </a:moveTo>
                  <a:lnTo>
                    <a:pt x="966216" y="527304"/>
                  </a:lnTo>
                  <a:lnTo>
                    <a:pt x="966216" y="502920"/>
                  </a:lnTo>
                  <a:lnTo>
                    <a:pt x="1066800" y="502920"/>
                  </a:lnTo>
                  <a:lnTo>
                    <a:pt x="1066800" y="527304"/>
                  </a:lnTo>
                  <a:close/>
                </a:path>
                <a:path w="1716404" h="527685">
                  <a:moveTo>
                    <a:pt x="890016" y="527304"/>
                  </a:moveTo>
                  <a:lnTo>
                    <a:pt x="790956" y="527304"/>
                  </a:lnTo>
                  <a:lnTo>
                    <a:pt x="790956" y="502920"/>
                  </a:lnTo>
                  <a:lnTo>
                    <a:pt x="890016" y="502920"/>
                  </a:lnTo>
                  <a:lnTo>
                    <a:pt x="890016" y="527304"/>
                  </a:lnTo>
                  <a:close/>
                </a:path>
                <a:path w="1716404" h="527685">
                  <a:moveTo>
                    <a:pt x="714756" y="527304"/>
                  </a:moveTo>
                  <a:lnTo>
                    <a:pt x="615696" y="527304"/>
                  </a:lnTo>
                  <a:lnTo>
                    <a:pt x="615696" y="502920"/>
                  </a:lnTo>
                  <a:lnTo>
                    <a:pt x="714756" y="502920"/>
                  </a:lnTo>
                  <a:lnTo>
                    <a:pt x="714756" y="527304"/>
                  </a:lnTo>
                  <a:close/>
                </a:path>
                <a:path w="1716404" h="527685">
                  <a:moveTo>
                    <a:pt x="539496" y="527304"/>
                  </a:moveTo>
                  <a:lnTo>
                    <a:pt x="438912" y="527304"/>
                  </a:lnTo>
                  <a:lnTo>
                    <a:pt x="438912" y="502920"/>
                  </a:lnTo>
                  <a:lnTo>
                    <a:pt x="539496" y="502920"/>
                  </a:lnTo>
                  <a:lnTo>
                    <a:pt x="539496" y="527304"/>
                  </a:lnTo>
                  <a:close/>
                </a:path>
                <a:path w="1716404" h="527685">
                  <a:moveTo>
                    <a:pt x="364236" y="527304"/>
                  </a:moveTo>
                  <a:lnTo>
                    <a:pt x="263652" y="527304"/>
                  </a:lnTo>
                  <a:lnTo>
                    <a:pt x="263652" y="502920"/>
                  </a:lnTo>
                  <a:lnTo>
                    <a:pt x="364236" y="502920"/>
                  </a:lnTo>
                  <a:lnTo>
                    <a:pt x="364236" y="527304"/>
                  </a:lnTo>
                  <a:close/>
                </a:path>
                <a:path w="1716404" h="527685">
                  <a:moveTo>
                    <a:pt x="188976" y="527304"/>
                  </a:moveTo>
                  <a:lnTo>
                    <a:pt x="88392" y="527304"/>
                  </a:lnTo>
                  <a:lnTo>
                    <a:pt x="88392" y="502920"/>
                  </a:lnTo>
                  <a:lnTo>
                    <a:pt x="188976" y="502920"/>
                  </a:lnTo>
                  <a:lnTo>
                    <a:pt x="188976" y="527304"/>
                  </a:lnTo>
                  <a:close/>
                </a:path>
              </a:pathLst>
            </a:custGeom>
            <a:solidFill>
              <a:srgbClr val="dd6e0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79" name="object 28"/>
          <p:cNvSpPr/>
          <p:nvPr/>
        </p:nvSpPr>
        <p:spPr>
          <a:xfrm>
            <a:off x="5385960" y="4716720"/>
            <a:ext cx="1519560" cy="6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en-US" sz="2100" spc="-12" strike="noStrike">
                <a:solidFill>
                  <a:srgbClr val="dd6e08"/>
                </a:solidFill>
                <a:latin typeface="Calibri"/>
                <a:ea typeface="標楷體"/>
              </a:rPr>
              <a:t>Control</a:t>
            </a:r>
            <a:r>
              <a:rPr b="1" lang="en-US" sz="2100" spc="-60" strike="noStrike">
                <a:solidFill>
                  <a:srgbClr val="dd6e08"/>
                </a:solidFill>
                <a:latin typeface="Calibri"/>
                <a:ea typeface="標楷體"/>
              </a:rPr>
              <a:t> </a:t>
            </a:r>
            <a:r>
              <a:rPr b="1" lang="en-US" sz="2100" spc="-7" strike="noStrike">
                <a:solidFill>
                  <a:srgbClr val="dd6e08"/>
                </a:solidFill>
                <a:latin typeface="Calibri"/>
                <a:ea typeface="標楷體"/>
              </a:rPr>
              <a:t>Plane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580" name="object 29"/>
          <p:cNvGrpSpPr/>
          <p:nvPr/>
        </p:nvGrpSpPr>
        <p:grpSpPr>
          <a:xfrm>
            <a:off x="5083200" y="5406120"/>
            <a:ext cx="2071800" cy="667440"/>
            <a:chOff x="5083200" y="5406120"/>
            <a:chExt cx="2071800" cy="667440"/>
          </a:xfrm>
        </p:grpSpPr>
        <p:sp>
          <p:nvSpPr>
            <p:cNvPr id="581" name="object 30"/>
            <p:cNvSpPr/>
            <p:nvPr/>
          </p:nvSpPr>
          <p:spPr>
            <a:xfrm>
              <a:off x="5095440" y="5418360"/>
              <a:ext cx="2046600" cy="642600"/>
            </a:xfrm>
            <a:custGeom>
              <a:avLst/>
              <a:gdLst/>
              <a:ahLst/>
              <a:rect l="l" t="t" r="r" b="b"/>
              <a:pathLst>
                <a:path w="2047239" h="643254">
                  <a:moveTo>
                    <a:pt x="2046732" y="643128"/>
                  </a:moveTo>
                  <a:lnTo>
                    <a:pt x="0" y="643128"/>
                  </a:lnTo>
                  <a:lnTo>
                    <a:pt x="0" y="0"/>
                  </a:lnTo>
                  <a:lnTo>
                    <a:pt x="2046732" y="0"/>
                  </a:lnTo>
                  <a:lnTo>
                    <a:pt x="2046732" y="643128"/>
                  </a:lnTo>
                  <a:close/>
                </a:path>
              </a:pathLst>
            </a:cu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82" name="object 31"/>
            <p:cNvSpPr/>
            <p:nvPr/>
          </p:nvSpPr>
          <p:spPr>
            <a:xfrm>
              <a:off x="5083200" y="5406120"/>
              <a:ext cx="2071800" cy="667440"/>
            </a:xfrm>
            <a:custGeom>
              <a:avLst/>
              <a:gdLst/>
              <a:ahLst/>
              <a:rect l="l" t="t" r="r" b="b"/>
              <a:pathLst>
                <a:path w="2072639" h="668020">
                  <a:moveTo>
                    <a:pt x="2066544" y="667512"/>
                  </a:moveTo>
                  <a:lnTo>
                    <a:pt x="4572" y="667512"/>
                  </a:lnTo>
                  <a:lnTo>
                    <a:pt x="0" y="662940"/>
                  </a:lnTo>
                  <a:lnTo>
                    <a:pt x="0" y="4572"/>
                  </a:lnTo>
                  <a:lnTo>
                    <a:pt x="4572" y="0"/>
                  </a:lnTo>
                  <a:lnTo>
                    <a:pt x="2066544" y="0"/>
                  </a:lnTo>
                  <a:lnTo>
                    <a:pt x="2072640" y="4572"/>
                  </a:lnTo>
                  <a:lnTo>
                    <a:pt x="2072640" y="12192"/>
                  </a:lnTo>
                  <a:lnTo>
                    <a:pt x="24384" y="12192"/>
                  </a:lnTo>
                  <a:lnTo>
                    <a:pt x="12192" y="24384"/>
                  </a:lnTo>
                  <a:lnTo>
                    <a:pt x="24384" y="24384"/>
                  </a:lnTo>
                  <a:lnTo>
                    <a:pt x="24384" y="643128"/>
                  </a:lnTo>
                  <a:lnTo>
                    <a:pt x="12192" y="643128"/>
                  </a:lnTo>
                  <a:lnTo>
                    <a:pt x="24384" y="655319"/>
                  </a:lnTo>
                  <a:lnTo>
                    <a:pt x="2072640" y="655319"/>
                  </a:lnTo>
                  <a:lnTo>
                    <a:pt x="2072640" y="662940"/>
                  </a:lnTo>
                  <a:lnTo>
                    <a:pt x="2066544" y="667512"/>
                  </a:lnTo>
                  <a:close/>
                </a:path>
                <a:path w="2072639" h="668020">
                  <a:moveTo>
                    <a:pt x="24384" y="24384"/>
                  </a:moveTo>
                  <a:lnTo>
                    <a:pt x="12192" y="24384"/>
                  </a:lnTo>
                  <a:lnTo>
                    <a:pt x="24384" y="12192"/>
                  </a:lnTo>
                  <a:lnTo>
                    <a:pt x="24384" y="24384"/>
                  </a:lnTo>
                  <a:close/>
                </a:path>
                <a:path w="2072639" h="668020">
                  <a:moveTo>
                    <a:pt x="2046732" y="24384"/>
                  </a:moveTo>
                  <a:lnTo>
                    <a:pt x="24384" y="24384"/>
                  </a:lnTo>
                  <a:lnTo>
                    <a:pt x="24384" y="12192"/>
                  </a:lnTo>
                  <a:lnTo>
                    <a:pt x="2046732" y="12192"/>
                  </a:lnTo>
                  <a:lnTo>
                    <a:pt x="2046732" y="24384"/>
                  </a:lnTo>
                  <a:close/>
                </a:path>
                <a:path w="2072639" h="668020">
                  <a:moveTo>
                    <a:pt x="2046732" y="655319"/>
                  </a:moveTo>
                  <a:lnTo>
                    <a:pt x="2046732" y="12192"/>
                  </a:lnTo>
                  <a:lnTo>
                    <a:pt x="2058924" y="24384"/>
                  </a:lnTo>
                  <a:lnTo>
                    <a:pt x="2072640" y="24384"/>
                  </a:lnTo>
                  <a:lnTo>
                    <a:pt x="2072640" y="643128"/>
                  </a:lnTo>
                  <a:lnTo>
                    <a:pt x="2058924" y="643128"/>
                  </a:lnTo>
                  <a:lnTo>
                    <a:pt x="2046732" y="655319"/>
                  </a:lnTo>
                  <a:close/>
                </a:path>
                <a:path w="2072639" h="668020">
                  <a:moveTo>
                    <a:pt x="2072640" y="24384"/>
                  </a:moveTo>
                  <a:lnTo>
                    <a:pt x="2058924" y="24384"/>
                  </a:lnTo>
                  <a:lnTo>
                    <a:pt x="2046732" y="12192"/>
                  </a:lnTo>
                  <a:lnTo>
                    <a:pt x="2072640" y="12192"/>
                  </a:lnTo>
                  <a:lnTo>
                    <a:pt x="2072640" y="24384"/>
                  </a:lnTo>
                  <a:close/>
                </a:path>
                <a:path w="2072639" h="668020">
                  <a:moveTo>
                    <a:pt x="24384" y="655319"/>
                  </a:moveTo>
                  <a:lnTo>
                    <a:pt x="12192" y="643128"/>
                  </a:lnTo>
                  <a:lnTo>
                    <a:pt x="24384" y="643128"/>
                  </a:lnTo>
                  <a:lnTo>
                    <a:pt x="24384" y="655319"/>
                  </a:lnTo>
                  <a:close/>
                </a:path>
                <a:path w="2072639" h="668020">
                  <a:moveTo>
                    <a:pt x="2046732" y="655319"/>
                  </a:moveTo>
                  <a:lnTo>
                    <a:pt x="24384" y="655319"/>
                  </a:lnTo>
                  <a:lnTo>
                    <a:pt x="24384" y="643128"/>
                  </a:lnTo>
                  <a:lnTo>
                    <a:pt x="2046732" y="643128"/>
                  </a:lnTo>
                  <a:lnTo>
                    <a:pt x="2046732" y="655319"/>
                  </a:lnTo>
                  <a:close/>
                </a:path>
                <a:path w="2072639" h="668020">
                  <a:moveTo>
                    <a:pt x="2072640" y="655319"/>
                  </a:moveTo>
                  <a:lnTo>
                    <a:pt x="2046732" y="655319"/>
                  </a:lnTo>
                  <a:lnTo>
                    <a:pt x="2058924" y="643128"/>
                  </a:lnTo>
                  <a:lnTo>
                    <a:pt x="2072640" y="643128"/>
                  </a:lnTo>
                  <a:lnTo>
                    <a:pt x="2072640" y="65531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83" name="object 32"/>
          <p:cNvSpPr/>
          <p:nvPr/>
        </p:nvSpPr>
        <p:spPr>
          <a:xfrm>
            <a:off x="5095440" y="5418360"/>
            <a:ext cx="204660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2920" bIns="0" anchor="t">
            <a:spAutoFit/>
          </a:bodyPr>
          <a:p>
            <a:pPr marL="89640">
              <a:lnSpc>
                <a:spcPct val="100000"/>
              </a:lnSpc>
              <a:spcBef>
                <a:spcPts val="1125"/>
              </a:spcBef>
              <a:buNone/>
            </a:pPr>
            <a:r>
              <a:rPr b="1" lang="en-US" sz="2100" spc="-12" strike="noStrike">
                <a:solidFill>
                  <a:srgbClr val="000000"/>
                </a:solidFill>
                <a:latin typeface="Calibri"/>
                <a:ea typeface="標楷體"/>
              </a:rPr>
              <a:t>Forwarding</a:t>
            </a:r>
            <a:r>
              <a:rPr b="1" lang="en-US" sz="2100" spc="-52" strike="noStrike">
                <a:solidFill>
                  <a:srgbClr val="000000"/>
                </a:solidFill>
                <a:latin typeface="Calibri"/>
                <a:ea typeface="標楷體"/>
              </a:rPr>
              <a:t> </a:t>
            </a:r>
            <a:r>
              <a:rPr b="1" lang="en-US" sz="2100" spc="-7" strike="noStrike">
                <a:solidFill>
                  <a:srgbClr val="000000"/>
                </a:solidFill>
                <a:latin typeface="Calibri"/>
                <a:ea typeface="標楷體"/>
              </a:rPr>
              <a:t>Plane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584" name="object 33"/>
          <p:cNvSpPr/>
          <p:nvPr/>
        </p:nvSpPr>
        <p:spPr>
          <a:xfrm>
            <a:off x="7207200" y="3814560"/>
            <a:ext cx="2010240" cy="6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en-US" sz="2100" spc="-1" strike="noStrike">
                <a:solidFill>
                  <a:srgbClr val="0070bf"/>
                </a:solidFill>
                <a:latin typeface="Calibri"/>
                <a:ea typeface="標楷體"/>
              </a:rPr>
              <a:t>FIB</a:t>
            </a:r>
            <a:r>
              <a:rPr b="1" lang="en-US" sz="2100" spc="-52" strike="noStrike">
                <a:solidFill>
                  <a:srgbClr val="0070bf"/>
                </a:solidFill>
                <a:latin typeface="Calibri"/>
                <a:ea typeface="標楷體"/>
              </a:rPr>
              <a:t> </a:t>
            </a:r>
            <a:r>
              <a:rPr b="1" lang="en-US" sz="2100" spc="-1" strike="noStrike">
                <a:solidFill>
                  <a:srgbClr val="0070bf"/>
                </a:solidFill>
                <a:latin typeface="Calibri"/>
                <a:ea typeface="標楷體"/>
              </a:rPr>
              <a:t>Push</a:t>
            </a:r>
            <a:r>
              <a:rPr b="1" lang="en-US" sz="2100" spc="-26" strike="noStrike">
                <a:solidFill>
                  <a:srgbClr val="0070bf"/>
                </a:solidFill>
                <a:latin typeface="Calibri"/>
                <a:ea typeface="標楷體"/>
              </a:rPr>
              <a:t> </a:t>
            </a:r>
            <a:r>
              <a:rPr b="1" lang="en-US" sz="2100" spc="-15" strike="noStrike">
                <a:solidFill>
                  <a:srgbClr val="0070bf"/>
                </a:solidFill>
                <a:latin typeface="Calibri"/>
                <a:ea typeface="標楷體"/>
              </a:rPr>
              <a:t>Interface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585" name="object 34"/>
          <p:cNvGrpSpPr/>
          <p:nvPr/>
        </p:nvGrpSpPr>
        <p:grpSpPr>
          <a:xfrm>
            <a:off x="8325000" y="2900520"/>
            <a:ext cx="847080" cy="394200"/>
            <a:chOff x="8325000" y="2900520"/>
            <a:chExt cx="847080" cy="394200"/>
          </a:xfrm>
        </p:grpSpPr>
        <p:sp>
          <p:nvSpPr>
            <p:cNvPr id="586" name="object 35"/>
            <p:cNvSpPr/>
            <p:nvPr/>
          </p:nvSpPr>
          <p:spPr>
            <a:xfrm>
              <a:off x="8327880" y="2903760"/>
              <a:ext cx="839520" cy="386640"/>
            </a:xfrm>
            <a:custGeom>
              <a:avLst/>
              <a:gdLst/>
              <a:ahLst/>
              <a:rect l="l" t="t" r="r" b="b"/>
              <a:pathLst>
                <a:path w="840104" h="387350">
                  <a:moveTo>
                    <a:pt x="839724" y="387096"/>
                  </a:moveTo>
                  <a:lnTo>
                    <a:pt x="0" y="387096"/>
                  </a:lnTo>
                  <a:lnTo>
                    <a:pt x="0" y="0"/>
                  </a:lnTo>
                  <a:lnTo>
                    <a:pt x="839724" y="0"/>
                  </a:lnTo>
                  <a:lnTo>
                    <a:pt x="839724" y="387096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87" name="object 36"/>
            <p:cNvSpPr/>
            <p:nvPr/>
          </p:nvSpPr>
          <p:spPr>
            <a:xfrm>
              <a:off x="8325000" y="2900520"/>
              <a:ext cx="847080" cy="394200"/>
            </a:xfrm>
            <a:custGeom>
              <a:avLst/>
              <a:gdLst/>
              <a:ahLst/>
              <a:rect l="l" t="t" r="r" b="b"/>
              <a:pathLst>
                <a:path w="847725" h="394970">
                  <a:moveTo>
                    <a:pt x="844296" y="394716"/>
                  </a:moveTo>
                  <a:lnTo>
                    <a:pt x="1524" y="394716"/>
                  </a:lnTo>
                  <a:lnTo>
                    <a:pt x="0" y="393192"/>
                  </a:lnTo>
                  <a:lnTo>
                    <a:pt x="0" y="1524"/>
                  </a:lnTo>
                  <a:lnTo>
                    <a:pt x="1524" y="0"/>
                  </a:lnTo>
                  <a:lnTo>
                    <a:pt x="844296" y="0"/>
                  </a:lnTo>
                  <a:lnTo>
                    <a:pt x="847344" y="1524"/>
                  </a:lnTo>
                  <a:lnTo>
                    <a:pt x="847344" y="3048"/>
                  </a:lnTo>
                  <a:lnTo>
                    <a:pt x="7620" y="3048"/>
                  </a:lnTo>
                  <a:lnTo>
                    <a:pt x="3048" y="7620"/>
                  </a:lnTo>
                  <a:lnTo>
                    <a:pt x="7620" y="7620"/>
                  </a:lnTo>
                  <a:lnTo>
                    <a:pt x="7620" y="387096"/>
                  </a:lnTo>
                  <a:lnTo>
                    <a:pt x="3048" y="387096"/>
                  </a:lnTo>
                  <a:lnTo>
                    <a:pt x="7620" y="390144"/>
                  </a:lnTo>
                  <a:lnTo>
                    <a:pt x="847344" y="390144"/>
                  </a:lnTo>
                  <a:lnTo>
                    <a:pt x="847344" y="393192"/>
                  </a:lnTo>
                  <a:lnTo>
                    <a:pt x="844296" y="394716"/>
                  </a:lnTo>
                  <a:close/>
                </a:path>
                <a:path w="847725" h="394970">
                  <a:moveTo>
                    <a:pt x="7620" y="7620"/>
                  </a:moveTo>
                  <a:lnTo>
                    <a:pt x="3048" y="7620"/>
                  </a:lnTo>
                  <a:lnTo>
                    <a:pt x="7620" y="3048"/>
                  </a:lnTo>
                  <a:lnTo>
                    <a:pt x="7620" y="7620"/>
                  </a:lnTo>
                  <a:close/>
                </a:path>
                <a:path w="847725" h="394970">
                  <a:moveTo>
                    <a:pt x="838200" y="7620"/>
                  </a:moveTo>
                  <a:lnTo>
                    <a:pt x="7620" y="7620"/>
                  </a:lnTo>
                  <a:lnTo>
                    <a:pt x="7620" y="3048"/>
                  </a:lnTo>
                  <a:lnTo>
                    <a:pt x="838200" y="3048"/>
                  </a:lnTo>
                  <a:lnTo>
                    <a:pt x="838200" y="7620"/>
                  </a:lnTo>
                  <a:close/>
                </a:path>
                <a:path w="847725" h="394970">
                  <a:moveTo>
                    <a:pt x="838200" y="390144"/>
                  </a:moveTo>
                  <a:lnTo>
                    <a:pt x="838200" y="3048"/>
                  </a:lnTo>
                  <a:lnTo>
                    <a:pt x="842772" y="7620"/>
                  </a:lnTo>
                  <a:lnTo>
                    <a:pt x="847344" y="7620"/>
                  </a:lnTo>
                  <a:lnTo>
                    <a:pt x="847344" y="387096"/>
                  </a:lnTo>
                  <a:lnTo>
                    <a:pt x="842772" y="387096"/>
                  </a:lnTo>
                  <a:lnTo>
                    <a:pt x="838200" y="390144"/>
                  </a:lnTo>
                  <a:close/>
                </a:path>
                <a:path w="847725" h="394970">
                  <a:moveTo>
                    <a:pt x="847344" y="7620"/>
                  </a:moveTo>
                  <a:lnTo>
                    <a:pt x="842772" y="7620"/>
                  </a:lnTo>
                  <a:lnTo>
                    <a:pt x="838200" y="3048"/>
                  </a:lnTo>
                  <a:lnTo>
                    <a:pt x="847344" y="3048"/>
                  </a:lnTo>
                  <a:lnTo>
                    <a:pt x="847344" y="7620"/>
                  </a:lnTo>
                  <a:close/>
                </a:path>
                <a:path w="847725" h="394970">
                  <a:moveTo>
                    <a:pt x="7620" y="390144"/>
                  </a:moveTo>
                  <a:lnTo>
                    <a:pt x="3048" y="387096"/>
                  </a:lnTo>
                  <a:lnTo>
                    <a:pt x="7620" y="387096"/>
                  </a:lnTo>
                  <a:lnTo>
                    <a:pt x="7620" y="390144"/>
                  </a:lnTo>
                  <a:close/>
                </a:path>
                <a:path w="847725" h="394970">
                  <a:moveTo>
                    <a:pt x="838200" y="390144"/>
                  </a:moveTo>
                  <a:lnTo>
                    <a:pt x="7620" y="390144"/>
                  </a:lnTo>
                  <a:lnTo>
                    <a:pt x="7620" y="387096"/>
                  </a:lnTo>
                  <a:lnTo>
                    <a:pt x="838200" y="387096"/>
                  </a:lnTo>
                  <a:lnTo>
                    <a:pt x="838200" y="390144"/>
                  </a:lnTo>
                  <a:close/>
                </a:path>
                <a:path w="847725" h="394970">
                  <a:moveTo>
                    <a:pt x="847344" y="390144"/>
                  </a:moveTo>
                  <a:lnTo>
                    <a:pt x="838200" y="390144"/>
                  </a:lnTo>
                  <a:lnTo>
                    <a:pt x="842772" y="387096"/>
                  </a:lnTo>
                  <a:lnTo>
                    <a:pt x="847344" y="387096"/>
                  </a:lnTo>
                  <a:lnTo>
                    <a:pt x="847344" y="390144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88" name="object 37"/>
          <p:cNvSpPr/>
          <p:nvPr/>
        </p:nvSpPr>
        <p:spPr>
          <a:xfrm>
            <a:off x="8327880" y="2903760"/>
            <a:ext cx="83952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7360" bIns="0" anchor="t">
            <a:spAutoFit/>
          </a:bodyPr>
          <a:p>
            <a:pPr marL="153720">
              <a:lnSpc>
                <a:spcPct val="100000"/>
              </a:lnSpc>
              <a:spcBef>
                <a:spcPts val="215"/>
              </a:spcBef>
              <a:buNone/>
            </a:pPr>
            <a:r>
              <a:rPr b="1" lang="en-US" sz="2100" spc="-12" strike="noStrike">
                <a:solidFill>
                  <a:srgbClr val="000000"/>
                </a:solidFill>
                <a:latin typeface="Calibri"/>
                <a:ea typeface="標楷體"/>
              </a:rPr>
              <a:t>ospfd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589" name="object 38"/>
          <p:cNvGrpSpPr/>
          <p:nvPr/>
        </p:nvGrpSpPr>
        <p:grpSpPr>
          <a:xfrm>
            <a:off x="9275760" y="2900520"/>
            <a:ext cx="783000" cy="394200"/>
            <a:chOff x="9275760" y="2900520"/>
            <a:chExt cx="783000" cy="394200"/>
          </a:xfrm>
        </p:grpSpPr>
        <p:sp>
          <p:nvSpPr>
            <p:cNvPr id="590" name="object 39"/>
            <p:cNvSpPr/>
            <p:nvPr/>
          </p:nvSpPr>
          <p:spPr>
            <a:xfrm>
              <a:off x="9280440" y="2903760"/>
              <a:ext cx="774000" cy="386640"/>
            </a:xfrm>
            <a:custGeom>
              <a:avLst/>
              <a:gdLst/>
              <a:ahLst/>
              <a:rect l="l" t="t" r="r" b="b"/>
              <a:pathLst>
                <a:path w="774700" h="387350">
                  <a:moveTo>
                    <a:pt x="774192" y="387096"/>
                  </a:moveTo>
                  <a:lnTo>
                    <a:pt x="0" y="387096"/>
                  </a:lnTo>
                  <a:lnTo>
                    <a:pt x="0" y="0"/>
                  </a:lnTo>
                  <a:lnTo>
                    <a:pt x="774192" y="0"/>
                  </a:lnTo>
                  <a:lnTo>
                    <a:pt x="774192" y="387096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91" name="object 40"/>
            <p:cNvSpPr/>
            <p:nvPr/>
          </p:nvSpPr>
          <p:spPr>
            <a:xfrm>
              <a:off x="9275760" y="2900520"/>
              <a:ext cx="783000" cy="394200"/>
            </a:xfrm>
            <a:custGeom>
              <a:avLst/>
              <a:gdLst/>
              <a:ahLst/>
              <a:rect l="l" t="t" r="r" b="b"/>
              <a:pathLst>
                <a:path w="783590" h="394970">
                  <a:moveTo>
                    <a:pt x="781812" y="394716"/>
                  </a:moveTo>
                  <a:lnTo>
                    <a:pt x="1524" y="394716"/>
                  </a:lnTo>
                  <a:lnTo>
                    <a:pt x="0" y="393192"/>
                  </a:lnTo>
                  <a:lnTo>
                    <a:pt x="0" y="1524"/>
                  </a:lnTo>
                  <a:lnTo>
                    <a:pt x="1524" y="0"/>
                  </a:lnTo>
                  <a:lnTo>
                    <a:pt x="781812" y="0"/>
                  </a:lnTo>
                  <a:lnTo>
                    <a:pt x="783336" y="1524"/>
                  </a:lnTo>
                  <a:lnTo>
                    <a:pt x="783336" y="3048"/>
                  </a:lnTo>
                  <a:lnTo>
                    <a:pt x="9144" y="3048"/>
                  </a:lnTo>
                  <a:lnTo>
                    <a:pt x="4572" y="7620"/>
                  </a:lnTo>
                  <a:lnTo>
                    <a:pt x="9144" y="7620"/>
                  </a:lnTo>
                  <a:lnTo>
                    <a:pt x="9144" y="387096"/>
                  </a:lnTo>
                  <a:lnTo>
                    <a:pt x="4572" y="387096"/>
                  </a:lnTo>
                  <a:lnTo>
                    <a:pt x="9144" y="390144"/>
                  </a:lnTo>
                  <a:lnTo>
                    <a:pt x="783336" y="390144"/>
                  </a:lnTo>
                  <a:lnTo>
                    <a:pt x="783336" y="393192"/>
                  </a:lnTo>
                  <a:lnTo>
                    <a:pt x="781812" y="394716"/>
                  </a:lnTo>
                  <a:close/>
                </a:path>
                <a:path w="783590" h="394970">
                  <a:moveTo>
                    <a:pt x="9144" y="7620"/>
                  </a:moveTo>
                  <a:lnTo>
                    <a:pt x="4572" y="7620"/>
                  </a:lnTo>
                  <a:lnTo>
                    <a:pt x="9144" y="3048"/>
                  </a:lnTo>
                  <a:lnTo>
                    <a:pt x="9144" y="7620"/>
                  </a:lnTo>
                  <a:close/>
                </a:path>
                <a:path w="783590" h="394970">
                  <a:moveTo>
                    <a:pt x="775716" y="7620"/>
                  </a:moveTo>
                  <a:lnTo>
                    <a:pt x="9144" y="7620"/>
                  </a:lnTo>
                  <a:lnTo>
                    <a:pt x="9144" y="3048"/>
                  </a:lnTo>
                  <a:lnTo>
                    <a:pt x="775716" y="3048"/>
                  </a:lnTo>
                  <a:lnTo>
                    <a:pt x="775716" y="7620"/>
                  </a:lnTo>
                  <a:close/>
                </a:path>
                <a:path w="783590" h="394970">
                  <a:moveTo>
                    <a:pt x="775716" y="390144"/>
                  </a:moveTo>
                  <a:lnTo>
                    <a:pt x="775716" y="3048"/>
                  </a:lnTo>
                  <a:lnTo>
                    <a:pt x="778764" y="7620"/>
                  </a:lnTo>
                  <a:lnTo>
                    <a:pt x="783336" y="7620"/>
                  </a:lnTo>
                  <a:lnTo>
                    <a:pt x="783336" y="387096"/>
                  </a:lnTo>
                  <a:lnTo>
                    <a:pt x="778764" y="387096"/>
                  </a:lnTo>
                  <a:lnTo>
                    <a:pt x="775716" y="390144"/>
                  </a:lnTo>
                  <a:close/>
                </a:path>
                <a:path w="783590" h="394970">
                  <a:moveTo>
                    <a:pt x="783336" y="7620"/>
                  </a:moveTo>
                  <a:lnTo>
                    <a:pt x="778764" y="7620"/>
                  </a:lnTo>
                  <a:lnTo>
                    <a:pt x="775716" y="3048"/>
                  </a:lnTo>
                  <a:lnTo>
                    <a:pt x="783336" y="3048"/>
                  </a:lnTo>
                  <a:lnTo>
                    <a:pt x="783336" y="7620"/>
                  </a:lnTo>
                  <a:close/>
                </a:path>
                <a:path w="783590" h="394970">
                  <a:moveTo>
                    <a:pt x="9144" y="390144"/>
                  </a:moveTo>
                  <a:lnTo>
                    <a:pt x="4572" y="387096"/>
                  </a:lnTo>
                  <a:lnTo>
                    <a:pt x="9144" y="387096"/>
                  </a:lnTo>
                  <a:lnTo>
                    <a:pt x="9144" y="390144"/>
                  </a:lnTo>
                  <a:close/>
                </a:path>
                <a:path w="783590" h="394970">
                  <a:moveTo>
                    <a:pt x="775716" y="390144"/>
                  </a:moveTo>
                  <a:lnTo>
                    <a:pt x="9144" y="390144"/>
                  </a:lnTo>
                  <a:lnTo>
                    <a:pt x="9144" y="387096"/>
                  </a:lnTo>
                  <a:lnTo>
                    <a:pt x="775716" y="387096"/>
                  </a:lnTo>
                  <a:lnTo>
                    <a:pt x="775716" y="390144"/>
                  </a:lnTo>
                  <a:close/>
                </a:path>
                <a:path w="783590" h="394970">
                  <a:moveTo>
                    <a:pt x="783336" y="390144"/>
                  </a:moveTo>
                  <a:lnTo>
                    <a:pt x="775716" y="390144"/>
                  </a:lnTo>
                  <a:lnTo>
                    <a:pt x="778764" y="387096"/>
                  </a:lnTo>
                  <a:lnTo>
                    <a:pt x="783336" y="387096"/>
                  </a:lnTo>
                  <a:lnTo>
                    <a:pt x="783336" y="390144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92" name="object 41"/>
          <p:cNvSpPr/>
          <p:nvPr/>
        </p:nvSpPr>
        <p:spPr>
          <a:xfrm>
            <a:off x="9280440" y="2903760"/>
            <a:ext cx="77400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7360" bIns="0" anchor="t">
            <a:spAutoFit/>
          </a:bodyPr>
          <a:p>
            <a:pPr marL="113760">
              <a:lnSpc>
                <a:spcPct val="100000"/>
              </a:lnSpc>
              <a:spcBef>
                <a:spcPts val="215"/>
              </a:spcBef>
              <a:buNone/>
            </a:pPr>
            <a:r>
              <a:rPr b="1" lang="en-US" sz="2100" spc="-1" strike="noStrike">
                <a:solidFill>
                  <a:srgbClr val="000000"/>
                </a:solidFill>
                <a:latin typeface="Calibri"/>
                <a:ea typeface="標楷體"/>
              </a:rPr>
              <a:t>bgpd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593" name="object 42"/>
          <p:cNvGrpSpPr/>
          <p:nvPr/>
        </p:nvGrpSpPr>
        <p:grpSpPr>
          <a:xfrm>
            <a:off x="10165680" y="2900520"/>
            <a:ext cx="671760" cy="394200"/>
            <a:chOff x="10165680" y="2900520"/>
            <a:chExt cx="671760" cy="394200"/>
          </a:xfrm>
        </p:grpSpPr>
        <p:sp>
          <p:nvSpPr>
            <p:cNvPr id="594" name="object 43"/>
            <p:cNvSpPr/>
            <p:nvPr/>
          </p:nvSpPr>
          <p:spPr>
            <a:xfrm>
              <a:off x="10168920" y="2903760"/>
              <a:ext cx="664200" cy="386640"/>
            </a:xfrm>
            <a:custGeom>
              <a:avLst/>
              <a:gdLst/>
              <a:ahLst/>
              <a:rect l="l" t="t" r="r" b="b"/>
              <a:pathLst>
                <a:path w="664845" h="387350">
                  <a:moveTo>
                    <a:pt x="664464" y="387096"/>
                  </a:moveTo>
                  <a:lnTo>
                    <a:pt x="0" y="387096"/>
                  </a:lnTo>
                  <a:lnTo>
                    <a:pt x="0" y="0"/>
                  </a:lnTo>
                  <a:lnTo>
                    <a:pt x="664464" y="0"/>
                  </a:lnTo>
                  <a:lnTo>
                    <a:pt x="664464" y="387096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95" name="object 44"/>
            <p:cNvSpPr/>
            <p:nvPr/>
          </p:nvSpPr>
          <p:spPr>
            <a:xfrm>
              <a:off x="10165680" y="2900520"/>
              <a:ext cx="671760" cy="394200"/>
            </a:xfrm>
            <a:custGeom>
              <a:avLst/>
              <a:gdLst/>
              <a:ahLst/>
              <a:rect l="l" t="t" r="r" b="b"/>
              <a:pathLst>
                <a:path w="672465" h="394970">
                  <a:moveTo>
                    <a:pt x="670560" y="394716"/>
                  </a:moveTo>
                  <a:lnTo>
                    <a:pt x="1524" y="394716"/>
                  </a:lnTo>
                  <a:lnTo>
                    <a:pt x="0" y="393192"/>
                  </a:lnTo>
                  <a:lnTo>
                    <a:pt x="0" y="1524"/>
                  </a:lnTo>
                  <a:lnTo>
                    <a:pt x="1524" y="0"/>
                  </a:lnTo>
                  <a:lnTo>
                    <a:pt x="670560" y="0"/>
                  </a:lnTo>
                  <a:lnTo>
                    <a:pt x="672084" y="1524"/>
                  </a:lnTo>
                  <a:lnTo>
                    <a:pt x="672084" y="3048"/>
                  </a:lnTo>
                  <a:lnTo>
                    <a:pt x="7620" y="3048"/>
                  </a:lnTo>
                  <a:lnTo>
                    <a:pt x="3048" y="7620"/>
                  </a:lnTo>
                  <a:lnTo>
                    <a:pt x="7620" y="7620"/>
                  </a:lnTo>
                  <a:lnTo>
                    <a:pt x="7620" y="387096"/>
                  </a:lnTo>
                  <a:lnTo>
                    <a:pt x="3048" y="387096"/>
                  </a:lnTo>
                  <a:lnTo>
                    <a:pt x="7620" y="390144"/>
                  </a:lnTo>
                  <a:lnTo>
                    <a:pt x="672084" y="390144"/>
                  </a:lnTo>
                  <a:lnTo>
                    <a:pt x="672084" y="393192"/>
                  </a:lnTo>
                  <a:lnTo>
                    <a:pt x="670560" y="394716"/>
                  </a:lnTo>
                  <a:close/>
                </a:path>
                <a:path w="672465" h="394970">
                  <a:moveTo>
                    <a:pt x="7620" y="7620"/>
                  </a:moveTo>
                  <a:lnTo>
                    <a:pt x="3048" y="7620"/>
                  </a:lnTo>
                  <a:lnTo>
                    <a:pt x="7620" y="3048"/>
                  </a:lnTo>
                  <a:lnTo>
                    <a:pt x="7620" y="7620"/>
                  </a:lnTo>
                  <a:close/>
                </a:path>
                <a:path w="672465" h="394970">
                  <a:moveTo>
                    <a:pt x="662940" y="7620"/>
                  </a:moveTo>
                  <a:lnTo>
                    <a:pt x="7620" y="7620"/>
                  </a:lnTo>
                  <a:lnTo>
                    <a:pt x="7620" y="3048"/>
                  </a:lnTo>
                  <a:lnTo>
                    <a:pt x="662940" y="3048"/>
                  </a:lnTo>
                  <a:lnTo>
                    <a:pt x="662940" y="7620"/>
                  </a:lnTo>
                  <a:close/>
                </a:path>
                <a:path w="672465" h="394970">
                  <a:moveTo>
                    <a:pt x="662940" y="390144"/>
                  </a:moveTo>
                  <a:lnTo>
                    <a:pt x="662940" y="3048"/>
                  </a:lnTo>
                  <a:lnTo>
                    <a:pt x="667512" y="7620"/>
                  </a:lnTo>
                  <a:lnTo>
                    <a:pt x="672084" y="7620"/>
                  </a:lnTo>
                  <a:lnTo>
                    <a:pt x="672084" y="387096"/>
                  </a:lnTo>
                  <a:lnTo>
                    <a:pt x="667512" y="387096"/>
                  </a:lnTo>
                  <a:lnTo>
                    <a:pt x="662940" y="390144"/>
                  </a:lnTo>
                  <a:close/>
                </a:path>
                <a:path w="672465" h="394970">
                  <a:moveTo>
                    <a:pt x="672084" y="7620"/>
                  </a:moveTo>
                  <a:lnTo>
                    <a:pt x="667512" y="7620"/>
                  </a:lnTo>
                  <a:lnTo>
                    <a:pt x="662940" y="3048"/>
                  </a:lnTo>
                  <a:lnTo>
                    <a:pt x="672084" y="3048"/>
                  </a:lnTo>
                  <a:lnTo>
                    <a:pt x="672084" y="7620"/>
                  </a:lnTo>
                  <a:close/>
                </a:path>
                <a:path w="672465" h="394970">
                  <a:moveTo>
                    <a:pt x="7620" y="390144"/>
                  </a:moveTo>
                  <a:lnTo>
                    <a:pt x="3048" y="387096"/>
                  </a:lnTo>
                  <a:lnTo>
                    <a:pt x="7620" y="387096"/>
                  </a:lnTo>
                  <a:lnTo>
                    <a:pt x="7620" y="390144"/>
                  </a:lnTo>
                  <a:close/>
                </a:path>
                <a:path w="672465" h="394970">
                  <a:moveTo>
                    <a:pt x="662940" y="390144"/>
                  </a:moveTo>
                  <a:lnTo>
                    <a:pt x="7620" y="390144"/>
                  </a:lnTo>
                  <a:lnTo>
                    <a:pt x="7620" y="387096"/>
                  </a:lnTo>
                  <a:lnTo>
                    <a:pt x="662940" y="387096"/>
                  </a:lnTo>
                  <a:lnTo>
                    <a:pt x="662940" y="390144"/>
                  </a:lnTo>
                  <a:close/>
                </a:path>
                <a:path w="672465" h="394970">
                  <a:moveTo>
                    <a:pt x="672084" y="390144"/>
                  </a:moveTo>
                  <a:lnTo>
                    <a:pt x="662940" y="390144"/>
                  </a:lnTo>
                  <a:lnTo>
                    <a:pt x="667512" y="387096"/>
                  </a:lnTo>
                  <a:lnTo>
                    <a:pt x="672084" y="387096"/>
                  </a:lnTo>
                  <a:lnTo>
                    <a:pt x="672084" y="390144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96" name="object 45"/>
          <p:cNvSpPr/>
          <p:nvPr/>
        </p:nvSpPr>
        <p:spPr>
          <a:xfrm>
            <a:off x="10168920" y="2903760"/>
            <a:ext cx="66420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8440" bIns="0" anchor="t">
            <a:spAutoFit/>
          </a:bodyPr>
          <a:p>
            <a:pPr marL="123120">
              <a:lnSpc>
                <a:spcPct val="100000"/>
              </a:lnSpc>
              <a:spcBef>
                <a:spcPts val="224"/>
              </a:spcBef>
              <a:buNone/>
            </a:pPr>
            <a:r>
              <a:rPr b="1" lang="en-US" sz="2100" spc="-7" strike="noStrike">
                <a:solidFill>
                  <a:srgbClr val="000000"/>
                </a:solidFill>
                <a:latin typeface="Calibri"/>
                <a:ea typeface="標楷體"/>
              </a:rPr>
              <a:t>ripd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597" name="object 46"/>
          <p:cNvGrpSpPr/>
          <p:nvPr/>
        </p:nvGrpSpPr>
        <p:grpSpPr>
          <a:xfrm>
            <a:off x="9236160" y="3920040"/>
            <a:ext cx="1218600" cy="596880"/>
            <a:chOff x="9236160" y="3920040"/>
            <a:chExt cx="1218600" cy="596880"/>
          </a:xfrm>
        </p:grpSpPr>
        <p:sp>
          <p:nvSpPr>
            <p:cNvPr id="598" name="object 47"/>
            <p:cNvSpPr/>
            <p:nvPr/>
          </p:nvSpPr>
          <p:spPr>
            <a:xfrm>
              <a:off x="9240840" y="3923280"/>
              <a:ext cx="1209600" cy="589320"/>
            </a:xfrm>
            <a:custGeom>
              <a:avLst/>
              <a:gdLst/>
              <a:ahLst/>
              <a:rect l="l" t="t" r="r" b="b"/>
              <a:pathLst>
                <a:path w="1210309" h="589914">
                  <a:moveTo>
                    <a:pt x="1210055" y="589787"/>
                  </a:moveTo>
                  <a:lnTo>
                    <a:pt x="0" y="589787"/>
                  </a:lnTo>
                  <a:lnTo>
                    <a:pt x="0" y="0"/>
                  </a:lnTo>
                  <a:lnTo>
                    <a:pt x="1210055" y="0"/>
                  </a:lnTo>
                  <a:lnTo>
                    <a:pt x="1210055" y="589787"/>
                  </a:lnTo>
                  <a:close/>
                </a:path>
              </a:pathLst>
            </a:custGeom>
            <a:solidFill>
              <a:srgbClr val="ccf7c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99" name="object 48"/>
            <p:cNvSpPr/>
            <p:nvPr/>
          </p:nvSpPr>
          <p:spPr>
            <a:xfrm>
              <a:off x="9236160" y="3920040"/>
              <a:ext cx="1218600" cy="596880"/>
            </a:xfrm>
            <a:custGeom>
              <a:avLst/>
              <a:gdLst/>
              <a:ahLst/>
              <a:rect l="l" t="t" r="r" b="b"/>
              <a:pathLst>
                <a:path w="1219200" h="597535">
                  <a:moveTo>
                    <a:pt x="1216152" y="597408"/>
                  </a:moveTo>
                  <a:lnTo>
                    <a:pt x="3048" y="597408"/>
                  </a:lnTo>
                  <a:lnTo>
                    <a:pt x="0" y="594360"/>
                  </a:lnTo>
                  <a:lnTo>
                    <a:pt x="0" y="1524"/>
                  </a:lnTo>
                  <a:lnTo>
                    <a:pt x="3048" y="0"/>
                  </a:lnTo>
                  <a:lnTo>
                    <a:pt x="1216152" y="0"/>
                  </a:lnTo>
                  <a:lnTo>
                    <a:pt x="1219200" y="1524"/>
                  </a:lnTo>
                  <a:lnTo>
                    <a:pt x="1219200" y="3048"/>
                  </a:lnTo>
                  <a:lnTo>
                    <a:pt x="9144" y="3048"/>
                  </a:lnTo>
                  <a:lnTo>
                    <a:pt x="4572" y="7620"/>
                  </a:lnTo>
                  <a:lnTo>
                    <a:pt x="9144" y="7620"/>
                  </a:lnTo>
                  <a:lnTo>
                    <a:pt x="9144" y="588264"/>
                  </a:lnTo>
                  <a:lnTo>
                    <a:pt x="4572" y="588264"/>
                  </a:lnTo>
                  <a:lnTo>
                    <a:pt x="9144" y="592835"/>
                  </a:lnTo>
                  <a:lnTo>
                    <a:pt x="1219200" y="592835"/>
                  </a:lnTo>
                  <a:lnTo>
                    <a:pt x="1219200" y="594360"/>
                  </a:lnTo>
                  <a:lnTo>
                    <a:pt x="1216152" y="597408"/>
                  </a:lnTo>
                  <a:close/>
                </a:path>
                <a:path w="1219200" h="597535">
                  <a:moveTo>
                    <a:pt x="9144" y="7620"/>
                  </a:moveTo>
                  <a:lnTo>
                    <a:pt x="4572" y="7620"/>
                  </a:lnTo>
                  <a:lnTo>
                    <a:pt x="9144" y="3048"/>
                  </a:lnTo>
                  <a:lnTo>
                    <a:pt x="9144" y="7620"/>
                  </a:lnTo>
                  <a:close/>
                </a:path>
                <a:path w="1219200" h="597535">
                  <a:moveTo>
                    <a:pt x="1210056" y="7620"/>
                  </a:moveTo>
                  <a:lnTo>
                    <a:pt x="9144" y="7620"/>
                  </a:lnTo>
                  <a:lnTo>
                    <a:pt x="9144" y="3048"/>
                  </a:lnTo>
                  <a:lnTo>
                    <a:pt x="1210056" y="3048"/>
                  </a:lnTo>
                  <a:lnTo>
                    <a:pt x="1210056" y="7620"/>
                  </a:lnTo>
                  <a:close/>
                </a:path>
                <a:path w="1219200" h="597535">
                  <a:moveTo>
                    <a:pt x="1210056" y="592835"/>
                  </a:moveTo>
                  <a:lnTo>
                    <a:pt x="1210056" y="3048"/>
                  </a:lnTo>
                  <a:lnTo>
                    <a:pt x="1214628" y="7620"/>
                  </a:lnTo>
                  <a:lnTo>
                    <a:pt x="1219200" y="7620"/>
                  </a:lnTo>
                  <a:lnTo>
                    <a:pt x="1219200" y="588264"/>
                  </a:lnTo>
                  <a:lnTo>
                    <a:pt x="1214628" y="588264"/>
                  </a:lnTo>
                  <a:lnTo>
                    <a:pt x="1210056" y="592835"/>
                  </a:lnTo>
                  <a:close/>
                </a:path>
                <a:path w="1219200" h="597535">
                  <a:moveTo>
                    <a:pt x="1219200" y="7620"/>
                  </a:moveTo>
                  <a:lnTo>
                    <a:pt x="1214628" y="7620"/>
                  </a:lnTo>
                  <a:lnTo>
                    <a:pt x="1210056" y="3048"/>
                  </a:lnTo>
                  <a:lnTo>
                    <a:pt x="1219200" y="3048"/>
                  </a:lnTo>
                  <a:lnTo>
                    <a:pt x="1219200" y="7620"/>
                  </a:lnTo>
                  <a:close/>
                </a:path>
                <a:path w="1219200" h="597535">
                  <a:moveTo>
                    <a:pt x="9144" y="592835"/>
                  </a:moveTo>
                  <a:lnTo>
                    <a:pt x="4572" y="588264"/>
                  </a:lnTo>
                  <a:lnTo>
                    <a:pt x="9144" y="588264"/>
                  </a:lnTo>
                  <a:lnTo>
                    <a:pt x="9144" y="592835"/>
                  </a:lnTo>
                  <a:close/>
                </a:path>
                <a:path w="1219200" h="597535">
                  <a:moveTo>
                    <a:pt x="1210056" y="592835"/>
                  </a:moveTo>
                  <a:lnTo>
                    <a:pt x="9144" y="592835"/>
                  </a:lnTo>
                  <a:lnTo>
                    <a:pt x="9144" y="588264"/>
                  </a:lnTo>
                  <a:lnTo>
                    <a:pt x="1210056" y="588264"/>
                  </a:lnTo>
                  <a:lnTo>
                    <a:pt x="1210056" y="592835"/>
                  </a:lnTo>
                  <a:close/>
                </a:path>
                <a:path w="1219200" h="597535">
                  <a:moveTo>
                    <a:pt x="1219200" y="592835"/>
                  </a:moveTo>
                  <a:lnTo>
                    <a:pt x="1210056" y="592835"/>
                  </a:lnTo>
                  <a:lnTo>
                    <a:pt x="1214628" y="588264"/>
                  </a:lnTo>
                  <a:lnTo>
                    <a:pt x="1219200" y="588264"/>
                  </a:lnTo>
                  <a:lnTo>
                    <a:pt x="1219200" y="592835"/>
                  </a:lnTo>
                  <a:close/>
                </a:path>
              </a:pathLst>
            </a:custGeom>
            <a:solidFill>
              <a:srgbClr val="243f6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00" name="object 49"/>
          <p:cNvSpPr/>
          <p:nvPr/>
        </p:nvSpPr>
        <p:spPr>
          <a:xfrm>
            <a:off x="9240840" y="3923280"/>
            <a:ext cx="1209600" cy="4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8600" bIns="0" anchor="t">
            <a:spAutoFit/>
          </a:bodyPr>
          <a:p>
            <a:pPr marL="324360">
              <a:lnSpc>
                <a:spcPct val="100000"/>
              </a:lnSpc>
              <a:spcBef>
                <a:spcPts val="1091"/>
              </a:spcBef>
              <a:buNone/>
            </a:pPr>
            <a:r>
              <a:rPr b="1" lang="en-US" sz="2100" spc="-7" strike="noStrike">
                <a:solidFill>
                  <a:srgbClr val="000000"/>
                </a:solidFill>
                <a:latin typeface="Calibri"/>
                <a:ea typeface="標楷體"/>
              </a:rPr>
              <a:t>zebra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601" name="object 50"/>
          <p:cNvGrpSpPr/>
          <p:nvPr/>
        </p:nvGrpSpPr>
        <p:grpSpPr>
          <a:xfrm>
            <a:off x="8771400" y="5308560"/>
            <a:ext cx="2174040" cy="618480"/>
            <a:chOff x="8771400" y="5308560"/>
            <a:chExt cx="2174040" cy="618480"/>
          </a:xfrm>
        </p:grpSpPr>
        <p:sp>
          <p:nvSpPr>
            <p:cNvPr id="602" name="object 51"/>
            <p:cNvSpPr/>
            <p:nvPr/>
          </p:nvSpPr>
          <p:spPr>
            <a:xfrm>
              <a:off x="8776080" y="5311440"/>
              <a:ext cx="2165400" cy="612000"/>
            </a:xfrm>
            <a:custGeom>
              <a:avLst/>
              <a:gdLst/>
              <a:ahLst/>
              <a:rect l="l" t="t" r="r" b="b"/>
              <a:pathLst>
                <a:path w="2165984" h="612775">
                  <a:moveTo>
                    <a:pt x="2165603" y="612648"/>
                  </a:moveTo>
                  <a:lnTo>
                    <a:pt x="0" y="612648"/>
                  </a:lnTo>
                  <a:lnTo>
                    <a:pt x="0" y="0"/>
                  </a:lnTo>
                  <a:lnTo>
                    <a:pt x="2165603" y="0"/>
                  </a:lnTo>
                  <a:lnTo>
                    <a:pt x="2165603" y="612648"/>
                  </a:lnTo>
                  <a:close/>
                </a:path>
              </a:pathLst>
            </a:cu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03" name="object 52"/>
            <p:cNvSpPr/>
            <p:nvPr/>
          </p:nvSpPr>
          <p:spPr>
            <a:xfrm>
              <a:off x="8771400" y="5308560"/>
              <a:ext cx="2174040" cy="618480"/>
            </a:xfrm>
            <a:custGeom>
              <a:avLst/>
              <a:gdLst/>
              <a:ahLst/>
              <a:rect l="l" t="t" r="r" b="b"/>
              <a:pathLst>
                <a:path w="2174875" h="619125">
                  <a:moveTo>
                    <a:pt x="2171700" y="618744"/>
                  </a:moveTo>
                  <a:lnTo>
                    <a:pt x="3048" y="618744"/>
                  </a:lnTo>
                  <a:lnTo>
                    <a:pt x="0" y="617220"/>
                  </a:lnTo>
                  <a:lnTo>
                    <a:pt x="0" y="1524"/>
                  </a:lnTo>
                  <a:lnTo>
                    <a:pt x="3048" y="0"/>
                  </a:lnTo>
                  <a:lnTo>
                    <a:pt x="2171700" y="0"/>
                  </a:lnTo>
                  <a:lnTo>
                    <a:pt x="2174748" y="1524"/>
                  </a:lnTo>
                  <a:lnTo>
                    <a:pt x="2174748" y="3048"/>
                  </a:lnTo>
                  <a:lnTo>
                    <a:pt x="9144" y="3048"/>
                  </a:lnTo>
                  <a:lnTo>
                    <a:pt x="4572" y="7620"/>
                  </a:lnTo>
                  <a:lnTo>
                    <a:pt x="9144" y="7620"/>
                  </a:lnTo>
                  <a:lnTo>
                    <a:pt x="9144" y="611124"/>
                  </a:lnTo>
                  <a:lnTo>
                    <a:pt x="4572" y="611124"/>
                  </a:lnTo>
                  <a:lnTo>
                    <a:pt x="9144" y="615696"/>
                  </a:lnTo>
                  <a:lnTo>
                    <a:pt x="2174748" y="615696"/>
                  </a:lnTo>
                  <a:lnTo>
                    <a:pt x="2174748" y="617220"/>
                  </a:lnTo>
                  <a:lnTo>
                    <a:pt x="2171700" y="618744"/>
                  </a:lnTo>
                  <a:close/>
                </a:path>
                <a:path w="2174875" h="619125">
                  <a:moveTo>
                    <a:pt x="9144" y="7620"/>
                  </a:moveTo>
                  <a:lnTo>
                    <a:pt x="4572" y="7620"/>
                  </a:lnTo>
                  <a:lnTo>
                    <a:pt x="9144" y="3048"/>
                  </a:lnTo>
                  <a:lnTo>
                    <a:pt x="9144" y="7620"/>
                  </a:lnTo>
                  <a:close/>
                </a:path>
                <a:path w="2174875" h="619125">
                  <a:moveTo>
                    <a:pt x="2165604" y="7620"/>
                  </a:moveTo>
                  <a:lnTo>
                    <a:pt x="9144" y="7620"/>
                  </a:lnTo>
                  <a:lnTo>
                    <a:pt x="9144" y="3048"/>
                  </a:lnTo>
                  <a:lnTo>
                    <a:pt x="2165604" y="3048"/>
                  </a:lnTo>
                  <a:lnTo>
                    <a:pt x="2165604" y="7620"/>
                  </a:lnTo>
                  <a:close/>
                </a:path>
                <a:path w="2174875" h="619125">
                  <a:moveTo>
                    <a:pt x="2165604" y="615696"/>
                  </a:moveTo>
                  <a:lnTo>
                    <a:pt x="2165604" y="3048"/>
                  </a:lnTo>
                  <a:lnTo>
                    <a:pt x="2170176" y="7620"/>
                  </a:lnTo>
                  <a:lnTo>
                    <a:pt x="2174748" y="7620"/>
                  </a:lnTo>
                  <a:lnTo>
                    <a:pt x="2174748" y="611124"/>
                  </a:lnTo>
                  <a:lnTo>
                    <a:pt x="2170176" y="611124"/>
                  </a:lnTo>
                  <a:lnTo>
                    <a:pt x="2165604" y="615696"/>
                  </a:lnTo>
                  <a:close/>
                </a:path>
                <a:path w="2174875" h="619125">
                  <a:moveTo>
                    <a:pt x="2174748" y="7620"/>
                  </a:moveTo>
                  <a:lnTo>
                    <a:pt x="2170176" y="7620"/>
                  </a:lnTo>
                  <a:lnTo>
                    <a:pt x="2165604" y="3048"/>
                  </a:lnTo>
                  <a:lnTo>
                    <a:pt x="2174748" y="3048"/>
                  </a:lnTo>
                  <a:lnTo>
                    <a:pt x="2174748" y="7620"/>
                  </a:lnTo>
                  <a:close/>
                </a:path>
                <a:path w="2174875" h="619125">
                  <a:moveTo>
                    <a:pt x="9144" y="615696"/>
                  </a:moveTo>
                  <a:lnTo>
                    <a:pt x="4572" y="611124"/>
                  </a:lnTo>
                  <a:lnTo>
                    <a:pt x="9144" y="611124"/>
                  </a:lnTo>
                  <a:lnTo>
                    <a:pt x="9144" y="615696"/>
                  </a:lnTo>
                  <a:close/>
                </a:path>
                <a:path w="2174875" h="619125">
                  <a:moveTo>
                    <a:pt x="2165604" y="615696"/>
                  </a:moveTo>
                  <a:lnTo>
                    <a:pt x="9144" y="615696"/>
                  </a:lnTo>
                  <a:lnTo>
                    <a:pt x="9144" y="611124"/>
                  </a:lnTo>
                  <a:lnTo>
                    <a:pt x="2165604" y="611124"/>
                  </a:lnTo>
                  <a:lnTo>
                    <a:pt x="2165604" y="615696"/>
                  </a:lnTo>
                  <a:close/>
                </a:path>
                <a:path w="2174875" h="619125">
                  <a:moveTo>
                    <a:pt x="2174748" y="615696"/>
                  </a:moveTo>
                  <a:lnTo>
                    <a:pt x="2165604" y="615696"/>
                  </a:lnTo>
                  <a:lnTo>
                    <a:pt x="2170176" y="611124"/>
                  </a:lnTo>
                  <a:lnTo>
                    <a:pt x="2174748" y="611124"/>
                  </a:lnTo>
                  <a:lnTo>
                    <a:pt x="2174748" y="61569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04" name="object 53"/>
          <p:cNvSpPr/>
          <p:nvPr/>
        </p:nvSpPr>
        <p:spPr>
          <a:xfrm>
            <a:off x="8776080" y="5311440"/>
            <a:ext cx="2165400" cy="12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6400" algn="ctr">
              <a:lnSpc>
                <a:spcPts val="2401"/>
              </a:lnSpc>
              <a:buNone/>
            </a:pPr>
            <a:r>
              <a:rPr b="1" lang="en-US" sz="2100" spc="-12" strike="noStrike">
                <a:solidFill>
                  <a:srgbClr val="000000"/>
                </a:solidFill>
                <a:latin typeface="Calibri"/>
                <a:ea typeface="標楷體"/>
              </a:rPr>
              <a:t>Routing</a:t>
            </a:r>
            <a:r>
              <a:rPr b="1" lang="en-US" sz="2100" spc="-35" strike="noStrike">
                <a:solidFill>
                  <a:srgbClr val="000000"/>
                </a:solidFill>
                <a:latin typeface="Calibri"/>
                <a:ea typeface="標楷體"/>
              </a:rPr>
              <a:t> </a:t>
            </a:r>
            <a:r>
              <a:rPr b="1" lang="en-US" sz="2100" spc="-32" strike="noStrike">
                <a:solidFill>
                  <a:srgbClr val="000000"/>
                </a:solidFill>
                <a:latin typeface="Calibri"/>
                <a:ea typeface="標楷體"/>
              </a:rPr>
              <a:t>Table/</a:t>
            </a:r>
            <a:endParaRPr b="0" lang="en-US" sz="2100" spc="-1" strike="noStrike">
              <a:latin typeface="Arial"/>
            </a:endParaRPr>
          </a:p>
          <a:p>
            <a:pPr marL="87120" algn="ctr">
              <a:lnSpc>
                <a:spcPts val="2409"/>
              </a:lnSpc>
              <a:spcBef>
                <a:spcPts val="11"/>
              </a:spcBef>
              <a:buNone/>
            </a:pPr>
            <a:r>
              <a:rPr b="1" lang="en-US" sz="2100" spc="-12" strike="noStrike">
                <a:solidFill>
                  <a:srgbClr val="000000"/>
                </a:solidFill>
                <a:latin typeface="Calibri"/>
                <a:ea typeface="標楷體"/>
              </a:rPr>
              <a:t>Forwarding</a:t>
            </a:r>
            <a:r>
              <a:rPr b="1" lang="en-US" sz="2100" spc="-15" strike="noStrike">
                <a:solidFill>
                  <a:srgbClr val="000000"/>
                </a:solidFill>
                <a:latin typeface="Calibri"/>
                <a:ea typeface="標楷體"/>
              </a:rPr>
              <a:t> </a:t>
            </a:r>
            <a:r>
              <a:rPr b="1" lang="en-US" sz="2100" spc="-41" strike="noStrike">
                <a:solidFill>
                  <a:srgbClr val="000000"/>
                </a:solidFill>
                <a:latin typeface="Calibri"/>
                <a:ea typeface="標楷體"/>
              </a:rPr>
              <a:t>Table</a:t>
            </a:r>
            <a:endParaRPr b="0" lang="en-US" sz="2100" spc="-1" strike="noStrike">
              <a:latin typeface="Arial"/>
            </a:endParaRPr>
          </a:p>
        </p:txBody>
      </p:sp>
      <p:grpSp>
        <p:nvGrpSpPr>
          <p:cNvPr id="605" name="object 54"/>
          <p:cNvGrpSpPr/>
          <p:nvPr/>
        </p:nvGrpSpPr>
        <p:grpSpPr>
          <a:xfrm>
            <a:off x="8795880" y="3290760"/>
            <a:ext cx="1704960" cy="2020320"/>
            <a:chOff x="8795880" y="3290760"/>
            <a:chExt cx="1704960" cy="2020320"/>
          </a:xfrm>
        </p:grpSpPr>
        <p:sp>
          <p:nvSpPr>
            <p:cNvPr id="606" name="object 55"/>
            <p:cNvSpPr/>
            <p:nvPr/>
          </p:nvSpPr>
          <p:spPr>
            <a:xfrm>
              <a:off x="8795880" y="3290760"/>
              <a:ext cx="1704960" cy="632520"/>
            </a:xfrm>
            <a:custGeom>
              <a:avLst/>
              <a:gdLst/>
              <a:ahLst/>
              <a:rect l="l" t="t" r="r" b="b"/>
              <a:pathLst>
                <a:path w="1705609" h="633095">
                  <a:moveTo>
                    <a:pt x="1705343" y="0"/>
                  </a:moveTo>
                  <a:lnTo>
                    <a:pt x="1598663" y="33528"/>
                  </a:lnTo>
                  <a:lnTo>
                    <a:pt x="1622323" y="58216"/>
                  </a:lnTo>
                  <a:lnTo>
                    <a:pt x="1110703" y="550887"/>
                  </a:lnTo>
                  <a:lnTo>
                    <a:pt x="1088123" y="527304"/>
                  </a:lnTo>
                  <a:lnTo>
                    <a:pt x="1050048" y="632396"/>
                  </a:lnTo>
                  <a:lnTo>
                    <a:pt x="1064844" y="556272"/>
                  </a:lnTo>
                  <a:lnTo>
                    <a:pt x="1071372" y="522744"/>
                  </a:lnTo>
                  <a:lnTo>
                    <a:pt x="1039241" y="531914"/>
                  </a:lnTo>
                  <a:lnTo>
                    <a:pt x="916000" y="92798"/>
                  </a:lnTo>
                  <a:lnTo>
                    <a:pt x="947928" y="83832"/>
                  </a:lnTo>
                  <a:lnTo>
                    <a:pt x="940993" y="76212"/>
                  </a:lnTo>
                  <a:lnTo>
                    <a:pt x="871728" y="12"/>
                  </a:lnTo>
                  <a:lnTo>
                    <a:pt x="850392" y="111264"/>
                  </a:lnTo>
                  <a:lnTo>
                    <a:pt x="882611" y="102196"/>
                  </a:lnTo>
                  <a:lnTo>
                    <a:pt x="1007567" y="540969"/>
                  </a:lnTo>
                  <a:lnTo>
                    <a:pt x="992797" y="545198"/>
                  </a:lnTo>
                  <a:lnTo>
                    <a:pt x="989076" y="539496"/>
                  </a:lnTo>
                  <a:lnTo>
                    <a:pt x="984377" y="547598"/>
                  </a:lnTo>
                  <a:lnTo>
                    <a:pt x="975360" y="550176"/>
                  </a:lnTo>
                  <a:lnTo>
                    <a:pt x="979957" y="555244"/>
                  </a:lnTo>
                  <a:lnTo>
                    <a:pt x="972464" y="568185"/>
                  </a:lnTo>
                  <a:lnTo>
                    <a:pt x="94983" y="57061"/>
                  </a:lnTo>
                  <a:lnTo>
                    <a:pt x="99771" y="48768"/>
                  </a:lnTo>
                  <a:lnTo>
                    <a:pt x="111252" y="28956"/>
                  </a:lnTo>
                  <a:lnTo>
                    <a:pt x="0" y="21336"/>
                  </a:lnTo>
                  <a:lnTo>
                    <a:pt x="60960" y="115824"/>
                  </a:lnTo>
                  <a:lnTo>
                    <a:pt x="78219" y="86017"/>
                  </a:lnTo>
                  <a:lnTo>
                    <a:pt x="955700" y="597141"/>
                  </a:lnTo>
                  <a:lnTo>
                    <a:pt x="938784" y="626364"/>
                  </a:lnTo>
                  <a:lnTo>
                    <a:pt x="1050023" y="632460"/>
                  </a:lnTo>
                  <a:lnTo>
                    <a:pt x="1156703" y="598932"/>
                  </a:lnTo>
                  <a:lnTo>
                    <a:pt x="1145032" y="586740"/>
                  </a:lnTo>
                  <a:lnTo>
                    <a:pt x="1133805" y="575017"/>
                  </a:lnTo>
                  <a:lnTo>
                    <a:pt x="1644713" y="81572"/>
                  </a:lnTo>
                  <a:lnTo>
                    <a:pt x="1668767" y="106680"/>
                  </a:lnTo>
                  <a:lnTo>
                    <a:pt x="1689150" y="47244"/>
                  </a:lnTo>
                  <a:lnTo>
                    <a:pt x="1705343" y="0"/>
                  </a:lnTo>
                  <a:close/>
                </a:path>
              </a:pathLst>
            </a:custGeom>
            <a:solidFill>
              <a:srgbClr val="dd6e0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07" name="object 56"/>
            <p:cNvSpPr/>
            <p:nvPr/>
          </p:nvSpPr>
          <p:spPr>
            <a:xfrm>
              <a:off x="9797040" y="4512960"/>
              <a:ext cx="109080" cy="798120"/>
            </a:xfrm>
            <a:custGeom>
              <a:avLst/>
              <a:gdLst/>
              <a:ahLst/>
              <a:rect l="l" t="t" r="r" b="b"/>
              <a:pathLst>
                <a:path w="109854" h="798829">
                  <a:moveTo>
                    <a:pt x="0" y="100584"/>
                  </a:moveTo>
                  <a:lnTo>
                    <a:pt x="48768" y="0"/>
                  </a:lnTo>
                  <a:lnTo>
                    <a:pt x="91815" y="82296"/>
                  </a:lnTo>
                  <a:lnTo>
                    <a:pt x="67056" y="82296"/>
                  </a:lnTo>
                  <a:lnTo>
                    <a:pt x="33528" y="83820"/>
                  </a:lnTo>
                  <a:lnTo>
                    <a:pt x="33802" y="100071"/>
                  </a:lnTo>
                  <a:lnTo>
                    <a:pt x="0" y="100584"/>
                  </a:lnTo>
                  <a:close/>
                </a:path>
                <a:path w="109854" h="798829">
                  <a:moveTo>
                    <a:pt x="33802" y="100071"/>
                  </a:moveTo>
                  <a:lnTo>
                    <a:pt x="33528" y="83820"/>
                  </a:lnTo>
                  <a:lnTo>
                    <a:pt x="67056" y="82296"/>
                  </a:lnTo>
                  <a:lnTo>
                    <a:pt x="67347" y="99563"/>
                  </a:lnTo>
                  <a:lnTo>
                    <a:pt x="33802" y="100071"/>
                  </a:lnTo>
                  <a:close/>
                </a:path>
                <a:path w="109854" h="798829">
                  <a:moveTo>
                    <a:pt x="67347" y="99563"/>
                  </a:moveTo>
                  <a:lnTo>
                    <a:pt x="67056" y="82296"/>
                  </a:lnTo>
                  <a:lnTo>
                    <a:pt x="91815" y="82296"/>
                  </a:lnTo>
                  <a:lnTo>
                    <a:pt x="100584" y="99060"/>
                  </a:lnTo>
                  <a:lnTo>
                    <a:pt x="67347" y="99563"/>
                  </a:lnTo>
                  <a:close/>
                </a:path>
                <a:path w="109854" h="798829">
                  <a:moveTo>
                    <a:pt x="43904" y="698989"/>
                  </a:moveTo>
                  <a:lnTo>
                    <a:pt x="33802" y="100071"/>
                  </a:lnTo>
                  <a:lnTo>
                    <a:pt x="67347" y="99563"/>
                  </a:lnTo>
                  <a:lnTo>
                    <a:pt x="77449" y="698481"/>
                  </a:lnTo>
                  <a:lnTo>
                    <a:pt x="43904" y="698989"/>
                  </a:lnTo>
                  <a:close/>
                </a:path>
                <a:path w="109854" h="798829">
                  <a:moveTo>
                    <a:pt x="100861" y="716280"/>
                  </a:moveTo>
                  <a:lnTo>
                    <a:pt x="44196" y="716280"/>
                  </a:lnTo>
                  <a:lnTo>
                    <a:pt x="77724" y="714756"/>
                  </a:lnTo>
                  <a:lnTo>
                    <a:pt x="77449" y="698481"/>
                  </a:lnTo>
                  <a:lnTo>
                    <a:pt x="109728" y="697992"/>
                  </a:lnTo>
                  <a:lnTo>
                    <a:pt x="100861" y="716280"/>
                  </a:lnTo>
                  <a:close/>
                </a:path>
                <a:path w="109854" h="798829">
                  <a:moveTo>
                    <a:pt x="44196" y="716280"/>
                  </a:moveTo>
                  <a:lnTo>
                    <a:pt x="43904" y="698989"/>
                  </a:lnTo>
                  <a:lnTo>
                    <a:pt x="77449" y="698481"/>
                  </a:lnTo>
                  <a:lnTo>
                    <a:pt x="77724" y="714756"/>
                  </a:lnTo>
                  <a:lnTo>
                    <a:pt x="44196" y="716280"/>
                  </a:lnTo>
                  <a:close/>
                </a:path>
                <a:path w="109854" h="798829">
                  <a:moveTo>
                    <a:pt x="60960" y="798575"/>
                  </a:moveTo>
                  <a:lnTo>
                    <a:pt x="9144" y="699516"/>
                  </a:lnTo>
                  <a:lnTo>
                    <a:pt x="43904" y="698989"/>
                  </a:lnTo>
                  <a:lnTo>
                    <a:pt x="44196" y="716280"/>
                  </a:lnTo>
                  <a:lnTo>
                    <a:pt x="100861" y="716280"/>
                  </a:lnTo>
                  <a:lnTo>
                    <a:pt x="60960" y="79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08" name="object 58"/>
          <p:cNvGrpSpPr/>
          <p:nvPr/>
        </p:nvGrpSpPr>
        <p:grpSpPr>
          <a:xfrm>
            <a:off x="9891360" y="3094200"/>
            <a:ext cx="1333440" cy="853200"/>
            <a:chOff x="9891360" y="3094200"/>
            <a:chExt cx="1333440" cy="853200"/>
          </a:xfrm>
        </p:grpSpPr>
        <p:sp>
          <p:nvSpPr>
            <p:cNvPr id="609" name="object 59"/>
            <p:cNvSpPr/>
            <p:nvPr/>
          </p:nvSpPr>
          <p:spPr>
            <a:xfrm>
              <a:off x="9891360" y="3501000"/>
              <a:ext cx="1221480" cy="446400"/>
            </a:xfrm>
            <a:custGeom>
              <a:avLst/>
              <a:gdLst/>
              <a:ahLst/>
              <a:rect l="l" t="t" r="r" b="b"/>
              <a:pathLst>
                <a:path w="1222375" h="447039">
                  <a:moveTo>
                    <a:pt x="1121547" y="31151"/>
                  </a:moveTo>
                  <a:lnTo>
                    <a:pt x="1110996" y="0"/>
                  </a:lnTo>
                  <a:lnTo>
                    <a:pt x="1222248" y="15240"/>
                  </a:lnTo>
                  <a:lnTo>
                    <a:pt x="1211580" y="25908"/>
                  </a:lnTo>
                  <a:lnTo>
                    <a:pt x="1136904" y="25908"/>
                  </a:lnTo>
                  <a:lnTo>
                    <a:pt x="1121547" y="31151"/>
                  </a:lnTo>
                  <a:close/>
                </a:path>
                <a:path w="1222375" h="447039">
                  <a:moveTo>
                    <a:pt x="1132369" y="63103"/>
                  </a:moveTo>
                  <a:lnTo>
                    <a:pt x="1121547" y="31151"/>
                  </a:lnTo>
                  <a:lnTo>
                    <a:pt x="1136904" y="25908"/>
                  </a:lnTo>
                  <a:lnTo>
                    <a:pt x="1147572" y="57912"/>
                  </a:lnTo>
                  <a:lnTo>
                    <a:pt x="1132369" y="63103"/>
                  </a:lnTo>
                  <a:close/>
                </a:path>
                <a:path w="1222375" h="447039">
                  <a:moveTo>
                    <a:pt x="1143000" y="94488"/>
                  </a:moveTo>
                  <a:lnTo>
                    <a:pt x="1132369" y="63103"/>
                  </a:lnTo>
                  <a:lnTo>
                    <a:pt x="1147572" y="57912"/>
                  </a:lnTo>
                  <a:lnTo>
                    <a:pt x="1136904" y="25908"/>
                  </a:lnTo>
                  <a:lnTo>
                    <a:pt x="1211580" y="25908"/>
                  </a:lnTo>
                  <a:lnTo>
                    <a:pt x="1143000" y="94488"/>
                  </a:lnTo>
                  <a:close/>
                </a:path>
                <a:path w="1222375" h="447039">
                  <a:moveTo>
                    <a:pt x="100700" y="415380"/>
                  </a:moveTo>
                  <a:lnTo>
                    <a:pt x="89878" y="383428"/>
                  </a:lnTo>
                  <a:lnTo>
                    <a:pt x="1121547" y="31151"/>
                  </a:lnTo>
                  <a:lnTo>
                    <a:pt x="1132369" y="63103"/>
                  </a:lnTo>
                  <a:lnTo>
                    <a:pt x="100700" y="415380"/>
                  </a:lnTo>
                  <a:close/>
                </a:path>
                <a:path w="1222375" h="447039">
                  <a:moveTo>
                    <a:pt x="111252" y="446532"/>
                  </a:moveTo>
                  <a:lnTo>
                    <a:pt x="0" y="431292"/>
                  </a:lnTo>
                  <a:lnTo>
                    <a:pt x="79248" y="352044"/>
                  </a:lnTo>
                  <a:lnTo>
                    <a:pt x="89878" y="383428"/>
                  </a:lnTo>
                  <a:lnTo>
                    <a:pt x="74676" y="388620"/>
                  </a:lnTo>
                  <a:lnTo>
                    <a:pt x="85343" y="420624"/>
                  </a:lnTo>
                  <a:lnTo>
                    <a:pt x="102476" y="420624"/>
                  </a:lnTo>
                  <a:lnTo>
                    <a:pt x="111252" y="446532"/>
                  </a:lnTo>
                  <a:close/>
                </a:path>
                <a:path w="1222375" h="447039">
                  <a:moveTo>
                    <a:pt x="85343" y="420624"/>
                  </a:moveTo>
                  <a:lnTo>
                    <a:pt x="74676" y="388620"/>
                  </a:lnTo>
                  <a:lnTo>
                    <a:pt x="89878" y="383428"/>
                  </a:lnTo>
                  <a:lnTo>
                    <a:pt x="100700" y="415380"/>
                  </a:lnTo>
                  <a:lnTo>
                    <a:pt x="85343" y="420624"/>
                  </a:lnTo>
                  <a:close/>
                </a:path>
                <a:path w="1222375" h="447039">
                  <a:moveTo>
                    <a:pt x="102476" y="420624"/>
                  </a:moveTo>
                  <a:lnTo>
                    <a:pt x="85343" y="420624"/>
                  </a:lnTo>
                  <a:lnTo>
                    <a:pt x="100700" y="415380"/>
                  </a:lnTo>
                  <a:lnTo>
                    <a:pt x="102476" y="420624"/>
                  </a:lnTo>
                  <a:close/>
                </a:path>
              </a:pathLst>
            </a:custGeom>
            <a:solidFill>
              <a:srgbClr val="dd6e0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0" name="object 60"/>
            <p:cNvSpPr/>
            <p:nvPr/>
          </p:nvSpPr>
          <p:spPr>
            <a:xfrm>
              <a:off x="10933920" y="3105000"/>
              <a:ext cx="31680" cy="31680"/>
            </a:xfrm>
            <a:custGeom>
              <a:avLst/>
              <a:gdLst/>
              <a:ahLst/>
              <a:rect l="l" t="t" r="r" b="b"/>
              <a:pathLst>
                <a:path w="32384" h="32385">
                  <a:moveTo>
                    <a:pt x="32003" y="32004"/>
                  </a:moveTo>
                  <a:lnTo>
                    <a:pt x="0" y="32004"/>
                  </a:lnTo>
                  <a:lnTo>
                    <a:pt x="0" y="0"/>
                  </a:lnTo>
                  <a:lnTo>
                    <a:pt x="32003" y="0"/>
                  </a:lnTo>
                  <a:lnTo>
                    <a:pt x="32003" y="32004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1" name="object 61"/>
            <p:cNvSpPr/>
            <p:nvPr/>
          </p:nvSpPr>
          <p:spPr>
            <a:xfrm>
              <a:off x="10929240" y="3100320"/>
              <a:ext cx="39240" cy="40680"/>
            </a:xfrm>
            <a:custGeom>
              <a:avLst/>
              <a:gdLst/>
              <a:ahLst/>
              <a:rect l="l" t="t" r="r" b="b"/>
              <a:pathLst>
                <a:path w="40004" h="41275">
                  <a:moveTo>
                    <a:pt x="38100" y="41148"/>
                  </a:moveTo>
                  <a:lnTo>
                    <a:pt x="1524" y="41148"/>
                  </a:lnTo>
                  <a:lnTo>
                    <a:pt x="0" y="38100"/>
                  </a:lnTo>
                  <a:lnTo>
                    <a:pt x="0" y="3048"/>
                  </a:lnTo>
                  <a:lnTo>
                    <a:pt x="1524" y="0"/>
                  </a:lnTo>
                  <a:lnTo>
                    <a:pt x="38100" y="0"/>
                  </a:lnTo>
                  <a:lnTo>
                    <a:pt x="39624" y="3048"/>
                  </a:lnTo>
                  <a:lnTo>
                    <a:pt x="39624" y="4572"/>
                  </a:lnTo>
                  <a:lnTo>
                    <a:pt x="9144" y="4572"/>
                  </a:lnTo>
                  <a:lnTo>
                    <a:pt x="4572" y="9144"/>
                  </a:lnTo>
                  <a:lnTo>
                    <a:pt x="9144" y="9144"/>
                  </a:lnTo>
                  <a:lnTo>
                    <a:pt x="9144" y="32004"/>
                  </a:lnTo>
                  <a:lnTo>
                    <a:pt x="4572" y="32004"/>
                  </a:lnTo>
                  <a:lnTo>
                    <a:pt x="9144" y="36576"/>
                  </a:lnTo>
                  <a:lnTo>
                    <a:pt x="39624" y="36576"/>
                  </a:lnTo>
                  <a:lnTo>
                    <a:pt x="39624" y="38100"/>
                  </a:lnTo>
                  <a:lnTo>
                    <a:pt x="38100" y="41148"/>
                  </a:lnTo>
                  <a:close/>
                </a:path>
                <a:path w="40004" h="41275">
                  <a:moveTo>
                    <a:pt x="9144" y="9144"/>
                  </a:moveTo>
                  <a:lnTo>
                    <a:pt x="4572" y="9144"/>
                  </a:lnTo>
                  <a:lnTo>
                    <a:pt x="9144" y="4572"/>
                  </a:lnTo>
                  <a:lnTo>
                    <a:pt x="9144" y="9144"/>
                  </a:lnTo>
                  <a:close/>
                </a:path>
                <a:path w="40004" h="41275">
                  <a:moveTo>
                    <a:pt x="32004" y="9144"/>
                  </a:moveTo>
                  <a:lnTo>
                    <a:pt x="9144" y="9144"/>
                  </a:lnTo>
                  <a:lnTo>
                    <a:pt x="9144" y="4572"/>
                  </a:lnTo>
                  <a:lnTo>
                    <a:pt x="32004" y="4572"/>
                  </a:lnTo>
                  <a:lnTo>
                    <a:pt x="32004" y="9144"/>
                  </a:lnTo>
                  <a:close/>
                </a:path>
                <a:path w="40004" h="41275">
                  <a:moveTo>
                    <a:pt x="32004" y="36576"/>
                  </a:moveTo>
                  <a:lnTo>
                    <a:pt x="32004" y="4572"/>
                  </a:lnTo>
                  <a:lnTo>
                    <a:pt x="36576" y="9144"/>
                  </a:lnTo>
                  <a:lnTo>
                    <a:pt x="39624" y="9144"/>
                  </a:lnTo>
                  <a:lnTo>
                    <a:pt x="39624" y="32004"/>
                  </a:lnTo>
                  <a:lnTo>
                    <a:pt x="36576" y="32004"/>
                  </a:lnTo>
                  <a:lnTo>
                    <a:pt x="32004" y="36576"/>
                  </a:lnTo>
                  <a:close/>
                </a:path>
                <a:path w="40004" h="41275">
                  <a:moveTo>
                    <a:pt x="39624" y="9144"/>
                  </a:moveTo>
                  <a:lnTo>
                    <a:pt x="36576" y="9144"/>
                  </a:lnTo>
                  <a:lnTo>
                    <a:pt x="32004" y="4572"/>
                  </a:lnTo>
                  <a:lnTo>
                    <a:pt x="39624" y="4572"/>
                  </a:lnTo>
                  <a:lnTo>
                    <a:pt x="39624" y="9144"/>
                  </a:lnTo>
                  <a:close/>
                </a:path>
                <a:path w="40004" h="41275">
                  <a:moveTo>
                    <a:pt x="9144" y="36576"/>
                  </a:moveTo>
                  <a:lnTo>
                    <a:pt x="4572" y="32004"/>
                  </a:lnTo>
                  <a:lnTo>
                    <a:pt x="9144" y="32004"/>
                  </a:lnTo>
                  <a:lnTo>
                    <a:pt x="9144" y="36576"/>
                  </a:lnTo>
                  <a:close/>
                </a:path>
                <a:path w="40004" h="41275">
                  <a:moveTo>
                    <a:pt x="32004" y="36576"/>
                  </a:moveTo>
                  <a:lnTo>
                    <a:pt x="9144" y="36576"/>
                  </a:lnTo>
                  <a:lnTo>
                    <a:pt x="9144" y="32004"/>
                  </a:lnTo>
                  <a:lnTo>
                    <a:pt x="32004" y="32004"/>
                  </a:lnTo>
                  <a:lnTo>
                    <a:pt x="32004" y="36576"/>
                  </a:lnTo>
                  <a:close/>
                </a:path>
                <a:path w="40004" h="41275">
                  <a:moveTo>
                    <a:pt x="39624" y="36576"/>
                  </a:moveTo>
                  <a:lnTo>
                    <a:pt x="32004" y="36576"/>
                  </a:lnTo>
                  <a:lnTo>
                    <a:pt x="36576" y="32004"/>
                  </a:lnTo>
                  <a:lnTo>
                    <a:pt x="39624" y="32004"/>
                  </a:lnTo>
                  <a:lnTo>
                    <a:pt x="39624" y="36576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2" name="object 62"/>
            <p:cNvSpPr/>
            <p:nvPr/>
          </p:nvSpPr>
          <p:spPr>
            <a:xfrm>
              <a:off x="11063520" y="3101760"/>
              <a:ext cx="31680" cy="29880"/>
            </a:xfrm>
            <a:custGeom>
              <a:avLst/>
              <a:gdLst/>
              <a:ahLst/>
              <a:rect l="l" t="t" r="r" b="b"/>
              <a:pathLst>
                <a:path w="32384" h="30479">
                  <a:moveTo>
                    <a:pt x="32003" y="30480"/>
                  </a:moveTo>
                  <a:lnTo>
                    <a:pt x="0" y="30480"/>
                  </a:lnTo>
                  <a:lnTo>
                    <a:pt x="0" y="0"/>
                  </a:lnTo>
                  <a:lnTo>
                    <a:pt x="32003" y="0"/>
                  </a:lnTo>
                  <a:lnTo>
                    <a:pt x="32003" y="30480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3" name="object 63"/>
            <p:cNvSpPr/>
            <p:nvPr/>
          </p:nvSpPr>
          <p:spPr>
            <a:xfrm>
              <a:off x="11058840" y="3097080"/>
              <a:ext cx="40680" cy="39240"/>
            </a:xfrm>
            <a:custGeom>
              <a:avLst/>
              <a:gdLst/>
              <a:ahLst/>
              <a:rect l="l" t="t" r="r" b="b"/>
              <a:pathLst>
                <a:path w="41275" h="40004">
                  <a:moveTo>
                    <a:pt x="38100" y="39624"/>
                  </a:moveTo>
                  <a:lnTo>
                    <a:pt x="3048" y="39624"/>
                  </a:lnTo>
                  <a:lnTo>
                    <a:pt x="0" y="38100"/>
                  </a:lnTo>
                  <a:lnTo>
                    <a:pt x="0" y="1524"/>
                  </a:lnTo>
                  <a:lnTo>
                    <a:pt x="3048" y="0"/>
                  </a:lnTo>
                  <a:lnTo>
                    <a:pt x="38100" y="0"/>
                  </a:lnTo>
                  <a:lnTo>
                    <a:pt x="41148" y="1524"/>
                  </a:lnTo>
                  <a:lnTo>
                    <a:pt x="41148" y="4572"/>
                  </a:lnTo>
                  <a:lnTo>
                    <a:pt x="9144" y="4572"/>
                  </a:lnTo>
                  <a:lnTo>
                    <a:pt x="4572" y="7620"/>
                  </a:lnTo>
                  <a:lnTo>
                    <a:pt x="9144" y="7620"/>
                  </a:lnTo>
                  <a:lnTo>
                    <a:pt x="9144" y="32004"/>
                  </a:lnTo>
                  <a:lnTo>
                    <a:pt x="4572" y="32004"/>
                  </a:lnTo>
                  <a:lnTo>
                    <a:pt x="9144" y="35052"/>
                  </a:lnTo>
                  <a:lnTo>
                    <a:pt x="41148" y="35052"/>
                  </a:lnTo>
                  <a:lnTo>
                    <a:pt x="41148" y="38100"/>
                  </a:lnTo>
                  <a:lnTo>
                    <a:pt x="38100" y="39624"/>
                  </a:lnTo>
                  <a:close/>
                </a:path>
                <a:path w="41275" h="40004">
                  <a:moveTo>
                    <a:pt x="9144" y="7620"/>
                  </a:moveTo>
                  <a:lnTo>
                    <a:pt x="4572" y="7620"/>
                  </a:lnTo>
                  <a:lnTo>
                    <a:pt x="9144" y="4572"/>
                  </a:lnTo>
                  <a:lnTo>
                    <a:pt x="9144" y="7620"/>
                  </a:lnTo>
                  <a:close/>
                </a:path>
                <a:path w="41275" h="40004">
                  <a:moveTo>
                    <a:pt x="32004" y="7620"/>
                  </a:moveTo>
                  <a:lnTo>
                    <a:pt x="9144" y="7620"/>
                  </a:lnTo>
                  <a:lnTo>
                    <a:pt x="9144" y="4572"/>
                  </a:lnTo>
                  <a:lnTo>
                    <a:pt x="32004" y="4572"/>
                  </a:lnTo>
                  <a:lnTo>
                    <a:pt x="32004" y="7620"/>
                  </a:lnTo>
                  <a:close/>
                </a:path>
                <a:path w="41275" h="40004">
                  <a:moveTo>
                    <a:pt x="32004" y="35052"/>
                  </a:moveTo>
                  <a:lnTo>
                    <a:pt x="32004" y="4572"/>
                  </a:lnTo>
                  <a:lnTo>
                    <a:pt x="36576" y="7620"/>
                  </a:lnTo>
                  <a:lnTo>
                    <a:pt x="41148" y="7620"/>
                  </a:lnTo>
                  <a:lnTo>
                    <a:pt x="41148" y="32004"/>
                  </a:lnTo>
                  <a:lnTo>
                    <a:pt x="36576" y="32004"/>
                  </a:lnTo>
                  <a:lnTo>
                    <a:pt x="32004" y="35052"/>
                  </a:lnTo>
                  <a:close/>
                </a:path>
                <a:path w="41275" h="40004">
                  <a:moveTo>
                    <a:pt x="41148" y="7620"/>
                  </a:moveTo>
                  <a:lnTo>
                    <a:pt x="36576" y="7620"/>
                  </a:lnTo>
                  <a:lnTo>
                    <a:pt x="32004" y="4572"/>
                  </a:lnTo>
                  <a:lnTo>
                    <a:pt x="41148" y="4572"/>
                  </a:lnTo>
                  <a:lnTo>
                    <a:pt x="41148" y="7620"/>
                  </a:lnTo>
                  <a:close/>
                </a:path>
                <a:path w="41275" h="40004">
                  <a:moveTo>
                    <a:pt x="9144" y="35052"/>
                  </a:moveTo>
                  <a:lnTo>
                    <a:pt x="4572" y="32004"/>
                  </a:lnTo>
                  <a:lnTo>
                    <a:pt x="9144" y="32004"/>
                  </a:lnTo>
                  <a:lnTo>
                    <a:pt x="9144" y="35052"/>
                  </a:lnTo>
                  <a:close/>
                </a:path>
                <a:path w="41275" h="40004">
                  <a:moveTo>
                    <a:pt x="32004" y="35052"/>
                  </a:moveTo>
                  <a:lnTo>
                    <a:pt x="9144" y="35052"/>
                  </a:lnTo>
                  <a:lnTo>
                    <a:pt x="9144" y="32004"/>
                  </a:lnTo>
                  <a:lnTo>
                    <a:pt x="32004" y="32004"/>
                  </a:lnTo>
                  <a:lnTo>
                    <a:pt x="32004" y="35052"/>
                  </a:lnTo>
                  <a:close/>
                </a:path>
                <a:path w="41275" h="40004">
                  <a:moveTo>
                    <a:pt x="41148" y="35052"/>
                  </a:moveTo>
                  <a:lnTo>
                    <a:pt x="32004" y="35052"/>
                  </a:lnTo>
                  <a:lnTo>
                    <a:pt x="36576" y="32004"/>
                  </a:lnTo>
                  <a:lnTo>
                    <a:pt x="41148" y="32004"/>
                  </a:lnTo>
                  <a:lnTo>
                    <a:pt x="41148" y="35052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4" name="object 64"/>
            <p:cNvSpPr/>
            <p:nvPr/>
          </p:nvSpPr>
          <p:spPr>
            <a:xfrm>
              <a:off x="11189880" y="3098880"/>
              <a:ext cx="29880" cy="29880"/>
            </a:xfrm>
            <a:custGeom>
              <a:avLst/>
              <a:gdLst/>
              <a:ahLst/>
              <a:rect l="l" t="t" r="r" b="b"/>
              <a:pathLst>
                <a:path w="30479" h="30479">
                  <a:moveTo>
                    <a:pt x="30480" y="30479"/>
                  </a:moveTo>
                  <a:lnTo>
                    <a:pt x="0" y="30479"/>
                  </a:lnTo>
                  <a:lnTo>
                    <a:pt x="0" y="0"/>
                  </a:lnTo>
                  <a:lnTo>
                    <a:pt x="30480" y="0"/>
                  </a:lnTo>
                  <a:lnTo>
                    <a:pt x="30480" y="30479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5" name="object 65"/>
            <p:cNvSpPr/>
            <p:nvPr/>
          </p:nvSpPr>
          <p:spPr>
            <a:xfrm>
              <a:off x="11185560" y="3094200"/>
              <a:ext cx="39240" cy="39240"/>
            </a:xfrm>
            <a:custGeom>
              <a:avLst/>
              <a:gdLst/>
              <a:ahLst/>
              <a:rect l="l" t="t" r="r" b="b"/>
              <a:pathLst>
                <a:path w="40004" h="40004">
                  <a:moveTo>
                    <a:pt x="38100" y="39624"/>
                  </a:moveTo>
                  <a:lnTo>
                    <a:pt x="1524" y="39624"/>
                  </a:lnTo>
                  <a:lnTo>
                    <a:pt x="0" y="38100"/>
                  </a:lnTo>
                  <a:lnTo>
                    <a:pt x="0" y="1524"/>
                  </a:lnTo>
                  <a:lnTo>
                    <a:pt x="1524" y="0"/>
                  </a:lnTo>
                  <a:lnTo>
                    <a:pt x="38100" y="0"/>
                  </a:lnTo>
                  <a:lnTo>
                    <a:pt x="39624" y="1524"/>
                  </a:lnTo>
                  <a:lnTo>
                    <a:pt x="39624" y="4572"/>
                  </a:lnTo>
                  <a:lnTo>
                    <a:pt x="7620" y="4572"/>
                  </a:lnTo>
                  <a:lnTo>
                    <a:pt x="4572" y="7620"/>
                  </a:lnTo>
                  <a:lnTo>
                    <a:pt x="7620" y="7620"/>
                  </a:lnTo>
                  <a:lnTo>
                    <a:pt x="7620" y="32004"/>
                  </a:lnTo>
                  <a:lnTo>
                    <a:pt x="4572" y="32004"/>
                  </a:lnTo>
                  <a:lnTo>
                    <a:pt x="7620" y="35052"/>
                  </a:lnTo>
                  <a:lnTo>
                    <a:pt x="39624" y="35052"/>
                  </a:lnTo>
                  <a:lnTo>
                    <a:pt x="39624" y="38100"/>
                  </a:lnTo>
                  <a:lnTo>
                    <a:pt x="38100" y="39624"/>
                  </a:lnTo>
                  <a:close/>
                </a:path>
                <a:path w="40004" h="40004">
                  <a:moveTo>
                    <a:pt x="7620" y="7620"/>
                  </a:moveTo>
                  <a:lnTo>
                    <a:pt x="4572" y="7620"/>
                  </a:lnTo>
                  <a:lnTo>
                    <a:pt x="7620" y="4572"/>
                  </a:lnTo>
                  <a:lnTo>
                    <a:pt x="7620" y="7620"/>
                  </a:lnTo>
                  <a:close/>
                </a:path>
                <a:path w="40004" h="40004">
                  <a:moveTo>
                    <a:pt x="32004" y="7620"/>
                  </a:moveTo>
                  <a:lnTo>
                    <a:pt x="7620" y="7620"/>
                  </a:lnTo>
                  <a:lnTo>
                    <a:pt x="7620" y="4572"/>
                  </a:lnTo>
                  <a:lnTo>
                    <a:pt x="32004" y="4572"/>
                  </a:lnTo>
                  <a:lnTo>
                    <a:pt x="32004" y="7620"/>
                  </a:lnTo>
                  <a:close/>
                </a:path>
                <a:path w="40004" h="40004">
                  <a:moveTo>
                    <a:pt x="32004" y="35052"/>
                  </a:moveTo>
                  <a:lnTo>
                    <a:pt x="32004" y="4572"/>
                  </a:lnTo>
                  <a:lnTo>
                    <a:pt x="35052" y="7620"/>
                  </a:lnTo>
                  <a:lnTo>
                    <a:pt x="39624" y="7620"/>
                  </a:lnTo>
                  <a:lnTo>
                    <a:pt x="39624" y="32004"/>
                  </a:lnTo>
                  <a:lnTo>
                    <a:pt x="35052" y="32004"/>
                  </a:lnTo>
                  <a:lnTo>
                    <a:pt x="32004" y="35052"/>
                  </a:lnTo>
                  <a:close/>
                </a:path>
                <a:path w="40004" h="40004">
                  <a:moveTo>
                    <a:pt x="39624" y="7620"/>
                  </a:moveTo>
                  <a:lnTo>
                    <a:pt x="35052" y="7620"/>
                  </a:lnTo>
                  <a:lnTo>
                    <a:pt x="32004" y="4572"/>
                  </a:lnTo>
                  <a:lnTo>
                    <a:pt x="39624" y="4572"/>
                  </a:lnTo>
                  <a:lnTo>
                    <a:pt x="39624" y="7620"/>
                  </a:lnTo>
                  <a:close/>
                </a:path>
                <a:path w="40004" h="40004">
                  <a:moveTo>
                    <a:pt x="7620" y="35052"/>
                  </a:moveTo>
                  <a:lnTo>
                    <a:pt x="4572" y="32004"/>
                  </a:lnTo>
                  <a:lnTo>
                    <a:pt x="7620" y="32004"/>
                  </a:lnTo>
                  <a:lnTo>
                    <a:pt x="7620" y="35052"/>
                  </a:lnTo>
                  <a:close/>
                </a:path>
                <a:path w="40004" h="40004">
                  <a:moveTo>
                    <a:pt x="32004" y="35052"/>
                  </a:moveTo>
                  <a:lnTo>
                    <a:pt x="7620" y="35052"/>
                  </a:lnTo>
                  <a:lnTo>
                    <a:pt x="7620" y="32004"/>
                  </a:lnTo>
                  <a:lnTo>
                    <a:pt x="32004" y="32004"/>
                  </a:lnTo>
                  <a:lnTo>
                    <a:pt x="32004" y="35052"/>
                  </a:lnTo>
                  <a:close/>
                </a:path>
                <a:path w="40004" h="40004">
                  <a:moveTo>
                    <a:pt x="39624" y="35052"/>
                  </a:moveTo>
                  <a:lnTo>
                    <a:pt x="32004" y="35052"/>
                  </a:lnTo>
                  <a:lnTo>
                    <a:pt x="35052" y="32004"/>
                  </a:lnTo>
                  <a:lnTo>
                    <a:pt x="39624" y="32004"/>
                  </a:lnTo>
                  <a:lnTo>
                    <a:pt x="39624" y="35052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6" name="object 66"/>
            <p:cNvSpPr/>
            <p:nvPr/>
          </p:nvSpPr>
          <p:spPr>
            <a:xfrm>
              <a:off x="10539360" y="3476520"/>
              <a:ext cx="29880" cy="29880"/>
            </a:xfrm>
            <a:custGeom>
              <a:avLst/>
              <a:gdLst/>
              <a:ahLst/>
              <a:rect l="l" t="t" r="r" b="b"/>
              <a:pathLst>
                <a:path w="30479" h="30479">
                  <a:moveTo>
                    <a:pt x="30480" y="30480"/>
                  </a:moveTo>
                  <a:lnTo>
                    <a:pt x="0" y="30480"/>
                  </a:lnTo>
                  <a:lnTo>
                    <a:pt x="0" y="0"/>
                  </a:lnTo>
                  <a:lnTo>
                    <a:pt x="30480" y="0"/>
                  </a:lnTo>
                  <a:lnTo>
                    <a:pt x="30480" y="30480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7" name="object 67"/>
            <p:cNvSpPr/>
            <p:nvPr/>
          </p:nvSpPr>
          <p:spPr>
            <a:xfrm>
              <a:off x="10534680" y="3472200"/>
              <a:ext cx="39240" cy="39240"/>
            </a:xfrm>
            <a:custGeom>
              <a:avLst/>
              <a:gdLst/>
              <a:ahLst/>
              <a:rect l="l" t="t" r="r" b="b"/>
              <a:pathLst>
                <a:path w="40004" h="40004">
                  <a:moveTo>
                    <a:pt x="38100" y="39624"/>
                  </a:moveTo>
                  <a:lnTo>
                    <a:pt x="1524" y="39624"/>
                  </a:lnTo>
                  <a:lnTo>
                    <a:pt x="0" y="38100"/>
                  </a:lnTo>
                  <a:lnTo>
                    <a:pt x="0" y="1524"/>
                  </a:lnTo>
                  <a:lnTo>
                    <a:pt x="1524" y="0"/>
                  </a:lnTo>
                  <a:lnTo>
                    <a:pt x="38100" y="0"/>
                  </a:lnTo>
                  <a:lnTo>
                    <a:pt x="39624" y="1524"/>
                  </a:lnTo>
                  <a:lnTo>
                    <a:pt x="39624" y="4572"/>
                  </a:lnTo>
                  <a:lnTo>
                    <a:pt x="7620" y="4572"/>
                  </a:lnTo>
                  <a:lnTo>
                    <a:pt x="4572" y="7620"/>
                  </a:lnTo>
                  <a:lnTo>
                    <a:pt x="7620" y="7620"/>
                  </a:lnTo>
                  <a:lnTo>
                    <a:pt x="7620" y="30480"/>
                  </a:lnTo>
                  <a:lnTo>
                    <a:pt x="4572" y="30480"/>
                  </a:lnTo>
                  <a:lnTo>
                    <a:pt x="7620" y="35052"/>
                  </a:lnTo>
                  <a:lnTo>
                    <a:pt x="39624" y="35052"/>
                  </a:lnTo>
                  <a:lnTo>
                    <a:pt x="39624" y="38100"/>
                  </a:lnTo>
                  <a:lnTo>
                    <a:pt x="38100" y="39624"/>
                  </a:lnTo>
                  <a:close/>
                </a:path>
                <a:path w="40004" h="40004">
                  <a:moveTo>
                    <a:pt x="7620" y="7620"/>
                  </a:moveTo>
                  <a:lnTo>
                    <a:pt x="4572" y="7620"/>
                  </a:lnTo>
                  <a:lnTo>
                    <a:pt x="7620" y="4572"/>
                  </a:lnTo>
                  <a:lnTo>
                    <a:pt x="7620" y="7620"/>
                  </a:lnTo>
                  <a:close/>
                </a:path>
                <a:path w="40004" h="40004">
                  <a:moveTo>
                    <a:pt x="32004" y="7620"/>
                  </a:moveTo>
                  <a:lnTo>
                    <a:pt x="7620" y="7620"/>
                  </a:lnTo>
                  <a:lnTo>
                    <a:pt x="7620" y="4572"/>
                  </a:lnTo>
                  <a:lnTo>
                    <a:pt x="32004" y="4572"/>
                  </a:lnTo>
                  <a:lnTo>
                    <a:pt x="32004" y="7620"/>
                  </a:lnTo>
                  <a:close/>
                </a:path>
                <a:path w="40004" h="40004">
                  <a:moveTo>
                    <a:pt x="32004" y="35052"/>
                  </a:moveTo>
                  <a:lnTo>
                    <a:pt x="32004" y="4572"/>
                  </a:lnTo>
                  <a:lnTo>
                    <a:pt x="35052" y="7620"/>
                  </a:lnTo>
                  <a:lnTo>
                    <a:pt x="39624" y="7620"/>
                  </a:lnTo>
                  <a:lnTo>
                    <a:pt x="39624" y="30480"/>
                  </a:lnTo>
                  <a:lnTo>
                    <a:pt x="35052" y="30480"/>
                  </a:lnTo>
                  <a:lnTo>
                    <a:pt x="32004" y="35052"/>
                  </a:lnTo>
                  <a:close/>
                </a:path>
                <a:path w="40004" h="40004">
                  <a:moveTo>
                    <a:pt x="39624" y="7620"/>
                  </a:moveTo>
                  <a:lnTo>
                    <a:pt x="35052" y="7620"/>
                  </a:lnTo>
                  <a:lnTo>
                    <a:pt x="32004" y="4572"/>
                  </a:lnTo>
                  <a:lnTo>
                    <a:pt x="39624" y="4572"/>
                  </a:lnTo>
                  <a:lnTo>
                    <a:pt x="39624" y="7620"/>
                  </a:lnTo>
                  <a:close/>
                </a:path>
                <a:path w="40004" h="40004">
                  <a:moveTo>
                    <a:pt x="7620" y="35052"/>
                  </a:moveTo>
                  <a:lnTo>
                    <a:pt x="4572" y="30480"/>
                  </a:lnTo>
                  <a:lnTo>
                    <a:pt x="7620" y="30480"/>
                  </a:lnTo>
                  <a:lnTo>
                    <a:pt x="7620" y="35052"/>
                  </a:lnTo>
                  <a:close/>
                </a:path>
                <a:path w="40004" h="40004">
                  <a:moveTo>
                    <a:pt x="32004" y="35052"/>
                  </a:moveTo>
                  <a:lnTo>
                    <a:pt x="7620" y="35052"/>
                  </a:lnTo>
                  <a:lnTo>
                    <a:pt x="7620" y="30480"/>
                  </a:lnTo>
                  <a:lnTo>
                    <a:pt x="32004" y="30480"/>
                  </a:lnTo>
                  <a:lnTo>
                    <a:pt x="32004" y="35052"/>
                  </a:lnTo>
                  <a:close/>
                </a:path>
                <a:path w="40004" h="40004">
                  <a:moveTo>
                    <a:pt x="39624" y="35052"/>
                  </a:moveTo>
                  <a:lnTo>
                    <a:pt x="32004" y="35052"/>
                  </a:lnTo>
                  <a:lnTo>
                    <a:pt x="35052" y="30480"/>
                  </a:lnTo>
                  <a:lnTo>
                    <a:pt x="39624" y="30480"/>
                  </a:lnTo>
                  <a:lnTo>
                    <a:pt x="39624" y="35052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8" name="object 68"/>
            <p:cNvSpPr/>
            <p:nvPr/>
          </p:nvSpPr>
          <p:spPr>
            <a:xfrm>
              <a:off x="10668600" y="3472200"/>
              <a:ext cx="31680" cy="31680"/>
            </a:xfrm>
            <a:custGeom>
              <a:avLst/>
              <a:gdLst/>
              <a:ahLst/>
              <a:rect l="l" t="t" r="r" b="b"/>
              <a:pathLst>
                <a:path w="32384" h="32385">
                  <a:moveTo>
                    <a:pt x="32003" y="32004"/>
                  </a:moveTo>
                  <a:lnTo>
                    <a:pt x="0" y="32004"/>
                  </a:lnTo>
                  <a:lnTo>
                    <a:pt x="0" y="0"/>
                  </a:lnTo>
                  <a:lnTo>
                    <a:pt x="32003" y="0"/>
                  </a:lnTo>
                  <a:lnTo>
                    <a:pt x="32003" y="32004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9" name="object 69"/>
            <p:cNvSpPr/>
            <p:nvPr/>
          </p:nvSpPr>
          <p:spPr>
            <a:xfrm>
              <a:off x="10664280" y="3467520"/>
              <a:ext cx="39240" cy="40680"/>
            </a:xfrm>
            <a:custGeom>
              <a:avLst/>
              <a:gdLst/>
              <a:ahLst/>
              <a:rect l="l" t="t" r="r" b="b"/>
              <a:pathLst>
                <a:path w="40004" h="41275">
                  <a:moveTo>
                    <a:pt x="38100" y="41148"/>
                  </a:moveTo>
                  <a:lnTo>
                    <a:pt x="1524" y="41148"/>
                  </a:lnTo>
                  <a:lnTo>
                    <a:pt x="0" y="38100"/>
                  </a:lnTo>
                  <a:lnTo>
                    <a:pt x="0" y="3048"/>
                  </a:lnTo>
                  <a:lnTo>
                    <a:pt x="1524" y="0"/>
                  </a:lnTo>
                  <a:lnTo>
                    <a:pt x="38100" y="0"/>
                  </a:lnTo>
                  <a:lnTo>
                    <a:pt x="39624" y="3048"/>
                  </a:lnTo>
                  <a:lnTo>
                    <a:pt x="39624" y="4572"/>
                  </a:lnTo>
                  <a:lnTo>
                    <a:pt x="9144" y="4572"/>
                  </a:lnTo>
                  <a:lnTo>
                    <a:pt x="4572" y="9144"/>
                  </a:lnTo>
                  <a:lnTo>
                    <a:pt x="9144" y="9144"/>
                  </a:lnTo>
                  <a:lnTo>
                    <a:pt x="9144" y="32004"/>
                  </a:lnTo>
                  <a:lnTo>
                    <a:pt x="4572" y="32004"/>
                  </a:lnTo>
                  <a:lnTo>
                    <a:pt x="9144" y="36576"/>
                  </a:lnTo>
                  <a:lnTo>
                    <a:pt x="39624" y="36576"/>
                  </a:lnTo>
                  <a:lnTo>
                    <a:pt x="39624" y="38100"/>
                  </a:lnTo>
                  <a:lnTo>
                    <a:pt x="38100" y="41148"/>
                  </a:lnTo>
                  <a:close/>
                </a:path>
                <a:path w="40004" h="41275">
                  <a:moveTo>
                    <a:pt x="9144" y="9144"/>
                  </a:moveTo>
                  <a:lnTo>
                    <a:pt x="4572" y="9144"/>
                  </a:lnTo>
                  <a:lnTo>
                    <a:pt x="9144" y="4572"/>
                  </a:lnTo>
                  <a:lnTo>
                    <a:pt x="9144" y="9144"/>
                  </a:lnTo>
                  <a:close/>
                </a:path>
                <a:path w="40004" h="41275">
                  <a:moveTo>
                    <a:pt x="32004" y="9144"/>
                  </a:moveTo>
                  <a:lnTo>
                    <a:pt x="9144" y="9144"/>
                  </a:lnTo>
                  <a:lnTo>
                    <a:pt x="9144" y="4572"/>
                  </a:lnTo>
                  <a:lnTo>
                    <a:pt x="32004" y="4572"/>
                  </a:lnTo>
                  <a:lnTo>
                    <a:pt x="32004" y="9144"/>
                  </a:lnTo>
                  <a:close/>
                </a:path>
                <a:path w="40004" h="41275">
                  <a:moveTo>
                    <a:pt x="32004" y="36576"/>
                  </a:moveTo>
                  <a:lnTo>
                    <a:pt x="32004" y="4572"/>
                  </a:lnTo>
                  <a:lnTo>
                    <a:pt x="36576" y="9144"/>
                  </a:lnTo>
                  <a:lnTo>
                    <a:pt x="39624" y="9144"/>
                  </a:lnTo>
                  <a:lnTo>
                    <a:pt x="39624" y="32004"/>
                  </a:lnTo>
                  <a:lnTo>
                    <a:pt x="36576" y="32004"/>
                  </a:lnTo>
                  <a:lnTo>
                    <a:pt x="32004" y="36576"/>
                  </a:lnTo>
                  <a:close/>
                </a:path>
                <a:path w="40004" h="41275">
                  <a:moveTo>
                    <a:pt x="39624" y="9144"/>
                  </a:moveTo>
                  <a:lnTo>
                    <a:pt x="36576" y="9144"/>
                  </a:lnTo>
                  <a:lnTo>
                    <a:pt x="32004" y="4572"/>
                  </a:lnTo>
                  <a:lnTo>
                    <a:pt x="39624" y="4572"/>
                  </a:lnTo>
                  <a:lnTo>
                    <a:pt x="39624" y="9144"/>
                  </a:lnTo>
                  <a:close/>
                </a:path>
                <a:path w="40004" h="41275">
                  <a:moveTo>
                    <a:pt x="9144" y="36576"/>
                  </a:moveTo>
                  <a:lnTo>
                    <a:pt x="4572" y="32004"/>
                  </a:lnTo>
                  <a:lnTo>
                    <a:pt x="9144" y="32004"/>
                  </a:lnTo>
                  <a:lnTo>
                    <a:pt x="9144" y="36576"/>
                  </a:lnTo>
                  <a:close/>
                </a:path>
                <a:path w="40004" h="41275">
                  <a:moveTo>
                    <a:pt x="32004" y="36576"/>
                  </a:moveTo>
                  <a:lnTo>
                    <a:pt x="9144" y="36576"/>
                  </a:lnTo>
                  <a:lnTo>
                    <a:pt x="9144" y="32004"/>
                  </a:lnTo>
                  <a:lnTo>
                    <a:pt x="32004" y="32004"/>
                  </a:lnTo>
                  <a:lnTo>
                    <a:pt x="32004" y="36576"/>
                  </a:lnTo>
                  <a:close/>
                </a:path>
                <a:path w="40004" h="41275">
                  <a:moveTo>
                    <a:pt x="39624" y="36576"/>
                  </a:moveTo>
                  <a:lnTo>
                    <a:pt x="32004" y="36576"/>
                  </a:lnTo>
                  <a:lnTo>
                    <a:pt x="36576" y="32004"/>
                  </a:lnTo>
                  <a:lnTo>
                    <a:pt x="39624" y="32004"/>
                  </a:lnTo>
                  <a:lnTo>
                    <a:pt x="39624" y="36576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20" name="object 70"/>
            <p:cNvSpPr/>
            <p:nvPr/>
          </p:nvSpPr>
          <p:spPr>
            <a:xfrm>
              <a:off x="10793880" y="3468960"/>
              <a:ext cx="31680" cy="31680"/>
            </a:xfrm>
            <a:custGeom>
              <a:avLst/>
              <a:gdLst/>
              <a:ahLst/>
              <a:rect l="l" t="t" r="r" b="b"/>
              <a:pathLst>
                <a:path w="32384" h="32385">
                  <a:moveTo>
                    <a:pt x="32003" y="32003"/>
                  </a:moveTo>
                  <a:lnTo>
                    <a:pt x="0" y="32003"/>
                  </a:lnTo>
                  <a:lnTo>
                    <a:pt x="0" y="0"/>
                  </a:lnTo>
                  <a:lnTo>
                    <a:pt x="32003" y="0"/>
                  </a:lnTo>
                  <a:lnTo>
                    <a:pt x="32003" y="32003"/>
                  </a:lnTo>
                  <a:close/>
                </a:path>
              </a:pathLst>
            </a:custGeom>
            <a:solidFill>
              <a:srgbClr val="ffd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21" name="object 71"/>
            <p:cNvSpPr/>
            <p:nvPr/>
          </p:nvSpPr>
          <p:spPr>
            <a:xfrm>
              <a:off x="10790640" y="3464640"/>
              <a:ext cx="39240" cy="40680"/>
            </a:xfrm>
            <a:custGeom>
              <a:avLst/>
              <a:gdLst/>
              <a:ahLst/>
              <a:rect l="l" t="t" r="r" b="b"/>
              <a:pathLst>
                <a:path w="40004" h="41275">
                  <a:moveTo>
                    <a:pt x="38100" y="41148"/>
                  </a:moveTo>
                  <a:lnTo>
                    <a:pt x="1524" y="41148"/>
                  </a:lnTo>
                  <a:lnTo>
                    <a:pt x="0" y="38100"/>
                  </a:lnTo>
                  <a:lnTo>
                    <a:pt x="0" y="3048"/>
                  </a:lnTo>
                  <a:lnTo>
                    <a:pt x="1524" y="0"/>
                  </a:lnTo>
                  <a:lnTo>
                    <a:pt x="38100" y="0"/>
                  </a:lnTo>
                  <a:lnTo>
                    <a:pt x="39624" y="3048"/>
                  </a:lnTo>
                  <a:lnTo>
                    <a:pt x="39624" y="4572"/>
                  </a:lnTo>
                  <a:lnTo>
                    <a:pt x="7620" y="4572"/>
                  </a:lnTo>
                  <a:lnTo>
                    <a:pt x="3048" y="9144"/>
                  </a:lnTo>
                  <a:lnTo>
                    <a:pt x="7620" y="9144"/>
                  </a:lnTo>
                  <a:lnTo>
                    <a:pt x="7620" y="32004"/>
                  </a:lnTo>
                  <a:lnTo>
                    <a:pt x="3048" y="32004"/>
                  </a:lnTo>
                  <a:lnTo>
                    <a:pt x="7620" y="36576"/>
                  </a:lnTo>
                  <a:lnTo>
                    <a:pt x="39624" y="36576"/>
                  </a:lnTo>
                  <a:lnTo>
                    <a:pt x="39624" y="38100"/>
                  </a:lnTo>
                  <a:lnTo>
                    <a:pt x="38100" y="41148"/>
                  </a:lnTo>
                  <a:close/>
                </a:path>
                <a:path w="40004" h="41275">
                  <a:moveTo>
                    <a:pt x="7620" y="9144"/>
                  </a:moveTo>
                  <a:lnTo>
                    <a:pt x="3048" y="9144"/>
                  </a:lnTo>
                  <a:lnTo>
                    <a:pt x="7620" y="4572"/>
                  </a:lnTo>
                  <a:lnTo>
                    <a:pt x="7620" y="9144"/>
                  </a:lnTo>
                  <a:close/>
                </a:path>
                <a:path w="40004" h="41275">
                  <a:moveTo>
                    <a:pt x="30480" y="9144"/>
                  </a:moveTo>
                  <a:lnTo>
                    <a:pt x="7620" y="9144"/>
                  </a:lnTo>
                  <a:lnTo>
                    <a:pt x="7620" y="4572"/>
                  </a:lnTo>
                  <a:lnTo>
                    <a:pt x="30480" y="4572"/>
                  </a:lnTo>
                  <a:lnTo>
                    <a:pt x="30480" y="9144"/>
                  </a:lnTo>
                  <a:close/>
                </a:path>
                <a:path w="40004" h="41275">
                  <a:moveTo>
                    <a:pt x="30480" y="36576"/>
                  </a:moveTo>
                  <a:lnTo>
                    <a:pt x="30480" y="4572"/>
                  </a:lnTo>
                  <a:lnTo>
                    <a:pt x="35052" y="9144"/>
                  </a:lnTo>
                  <a:lnTo>
                    <a:pt x="39624" y="9144"/>
                  </a:lnTo>
                  <a:lnTo>
                    <a:pt x="39624" y="32004"/>
                  </a:lnTo>
                  <a:lnTo>
                    <a:pt x="35052" y="32004"/>
                  </a:lnTo>
                  <a:lnTo>
                    <a:pt x="30480" y="36576"/>
                  </a:lnTo>
                  <a:close/>
                </a:path>
                <a:path w="40004" h="41275">
                  <a:moveTo>
                    <a:pt x="39624" y="9144"/>
                  </a:moveTo>
                  <a:lnTo>
                    <a:pt x="35052" y="9144"/>
                  </a:lnTo>
                  <a:lnTo>
                    <a:pt x="30480" y="4572"/>
                  </a:lnTo>
                  <a:lnTo>
                    <a:pt x="39624" y="4572"/>
                  </a:lnTo>
                  <a:lnTo>
                    <a:pt x="39624" y="9144"/>
                  </a:lnTo>
                  <a:close/>
                </a:path>
                <a:path w="40004" h="41275">
                  <a:moveTo>
                    <a:pt x="7620" y="36576"/>
                  </a:moveTo>
                  <a:lnTo>
                    <a:pt x="3048" y="32004"/>
                  </a:lnTo>
                  <a:lnTo>
                    <a:pt x="7620" y="32004"/>
                  </a:lnTo>
                  <a:lnTo>
                    <a:pt x="7620" y="36576"/>
                  </a:lnTo>
                  <a:close/>
                </a:path>
                <a:path w="40004" h="41275">
                  <a:moveTo>
                    <a:pt x="30480" y="36576"/>
                  </a:moveTo>
                  <a:lnTo>
                    <a:pt x="7620" y="36576"/>
                  </a:lnTo>
                  <a:lnTo>
                    <a:pt x="7620" y="32004"/>
                  </a:lnTo>
                  <a:lnTo>
                    <a:pt x="30480" y="32004"/>
                  </a:lnTo>
                  <a:lnTo>
                    <a:pt x="30480" y="36576"/>
                  </a:lnTo>
                  <a:close/>
                </a:path>
                <a:path w="40004" h="41275">
                  <a:moveTo>
                    <a:pt x="39624" y="36576"/>
                  </a:moveTo>
                  <a:lnTo>
                    <a:pt x="30480" y="36576"/>
                  </a:lnTo>
                  <a:lnTo>
                    <a:pt x="35052" y="32004"/>
                  </a:lnTo>
                  <a:lnTo>
                    <a:pt x="39624" y="32004"/>
                  </a:lnTo>
                  <a:lnTo>
                    <a:pt x="39624" y="36576"/>
                  </a:lnTo>
                  <a:close/>
                </a:path>
              </a:pathLst>
            </a:custGeom>
            <a:solidFill>
              <a:srgbClr val="b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22" name="直線接點 77"/>
          <p:cNvSpPr/>
          <p:nvPr/>
        </p:nvSpPr>
        <p:spPr>
          <a:xfrm flipV="1">
            <a:off x="8673480" y="4907880"/>
            <a:ext cx="2496240" cy="3960"/>
          </a:xfrm>
          <a:prstGeom prst="line">
            <a:avLst/>
          </a:prstGeom>
          <a:ln w="28575">
            <a:solidFill>
              <a:srgbClr val="ff0000"/>
            </a:solidFill>
            <a:prstDash val="dash"/>
            <a:round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/>
        </p:style>
      </p:sp>
      <p:sp>
        <p:nvSpPr>
          <p:cNvPr id="623" name="文字方塊 82"/>
          <p:cNvSpPr/>
          <p:nvPr/>
        </p:nvSpPr>
        <p:spPr>
          <a:xfrm>
            <a:off x="10223280" y="4456080"/>
            <a:ext cx="1079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100" spc="-1" strike="noStrike">
                <a:solidFill>
                  <a:srgbClr val="ff0000"/>
                </a:solidFill>
                <a:latin typeface="Calibri"/>
                <a:ea typeface="標楷體"/>
              </a:rPr>
              <a:t>User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624" name="文字方塊 83"/>
          <p:cNvSpPr/>
          <p:nvPr/>
        </p:nvSpPr>
        <p:spPr>
          <a:xfrm>
            <a:off x="10223280" y="4912560"/>
            <a:ext cx="1079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100" spc="-1" strike="noStrike">
                <a:solidFill>
                  <a:srgbClr val="ff0000"/>
                </a:solidFill>
                <a:latin typeface="Calibri"/>
                <a:ea typeface="標楷體"/>
              </a:rPr>
              <a:t>Kernel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Enabling FPM Module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2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To enable FPM, you have to set –M fpm in zebra_options at /etc/frr/daemons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627" name="圖片 3" descr=""/>
          <p:cNvPicPr/>
          <p:nvPr/>
        </p:nvPicPr>
        <p:blipFill>
          <a:blip r:embed="rId1"/>
          <a:stretch/>
        </p:blipFill>
        <p:spPr>
          <a:xfrm>
            <a:off x="3746880" y="1644120"/>
            <a:ext cx="5104080" cy="4544280"/>
          </a:xfrm>
          <a:prstGeom prst="rect">
            <a:avLst/>
          </a:prstGeom>
          <a:ln w="0">
            <a:noFill/>
          </a:ln>
        </p:spPr>
      </p:pic>
      <p:sp>
        <p:nvSpPr>
          <p:cNvPr id="628" name="矩形 4"/>
          <p:cNvSpPr/>
          <p:nvPr/>
        </p:nvSpPr>
        <p:spPr>
          <a:xfrm>
            <a:off x="4050720" y="1911240"/>
            <a:ext cx="691920" cy="250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9" name="矩形 5"/>
          <p:cNvSpPr/>
          <p:nvPr/>
        </p:nvSpPr>
        <p:spPr>
          <a:xfrm>
            <a:off x="4050720" y="6048360"/>
            <a:ext cx="3473280" cy="171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0" name="圖片 16" descr=""/>
          <p:cNvPicPr/>
          <p:nvPr/>
        </p:nvPicPr>
        <p:blipFill>
          <a:blip r:embed="rId1"/>
          <a:stretch/>
        </p:blipFill>
        <p:spPr>
          <a:xfrm>
            <a:off x="6465240" y="2349000"/>
            <a:ext cx="3701160" cy="3612600"/>
          </a:xfrm>
          <a:prstGeom prst="rect">
            <a:avLst/>
          </a:prstGeom>
          <a:ln w="0">
            <a:noFill/>
          </a:ln>
        </p:spPr>
      </p:pic>
      <p:sp>
        <p:nvSpPr>
          <p:cNvPr id="63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FRRouting Configuration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3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Configurations in /etc/frr/frr.conf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633" name="圖片 6" descr=""/>
          <p:cNvPicPr/>
          <p:nvPr/>
        </p:nvPicPr>
        <p:blipFill>
          <a:blip r:embed="rId2"/>
          <a:stretch/>
        </p:blipFill>
        <p:spPr>
          <a:xfrm>
            <a:off x="800280" y="1416960"/>
            <a:ext cx="3966480" cy="4857120"/>
          </a:xfrm>
          <a:prstGeom prst="rect">
            <a:avLst/>
          </a:prstGeom>
          <a:ln w="0">
            <a:noFill/>
          </a:ln>
        </p:spPr>
      </p:pic>
      <p:sp>
        <p:nvSpPr>
          <p:cNvPr id="634" name="矩形 7"/>
          <p:cNvSpPr/>
          <p:nvPr/>
        </p:nvSpPr>
        <p:spPr>
          <a:xfrm>
            <a:off x="6911280" y="2383920"/>
            <a:ext cx="2920680" cy="14612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文字方塊 8"/>
          <p:cNvSpPr/>
          <p:nvPr/>
        </p:nvSpPr>
        <p:spPr>
          <a:xfrm>
            <a:off x="2328120" y="2878200"/>
            <a:ext cx="433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Peer Group (template) for neighbors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6" name="矩形 10"/>
          <p:cNvSpPr/>
          <p:nvPr/>
        </p:nvSpPr>
        <p:spPr>
          <a:xfrm>
            <a:off x="1117800" y="4155480"/>
            <a:ext cx="3079440" cy="194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7" name="文字方塊 11"/>
          <p:cNvSpPr/>
          <p:nvPr/>
        </p:nvSpPr>
        <p:spPr>
          <a:xfrm>
            <a:off x="3989880" y="4068360"/>
            <a:ext cx="2159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Use the template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8" name="矩形 12"/>
          <p:cNvSpPr/>
          <p:nvPr/>
        </p:nvSpPr>
        <p:spPr>
          <a:xfrm>
            <a:off x="1102680" y="4524840"/>
            <a:ext cx="3664080" cy="194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文字方塊 13"/>
          <p:cNvSpPr/>
          <p:nvPr/>
        </p:nvSpPr>
        <p:spPr>
          <a:xfrm>
            <a:off x="4615560" y="4437720"/>
            <a:ext cx="190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BGP Passwords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40" name="矩形 14"/>
          <p:cNvSpPr/>
          <p:nvPr/>
        </p:nvSpPr>
        <p:spPr>
          <a:xfrm>
            <a:off x="1102680" y="4922280"/>
            <a:ext cx="2358360" cy="194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文字方塊 15"/>
          <p:cNvSpPr/>
          <p:nvPr/>
        </p:nvSpPr>
        <p:spPr>
          <a:xfrm>
            <a:off x="3717000" y="4894200"/>
            <a:ext cx="25574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Don’t advertise the prefix that you received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42" name="矩形 17"/>
          <p:cNvSpPr/>
          <p:nvPr/>
        </p:nvSpPr>
        <p:spPr>
          <a:xfrm>
            <a:off x="1127520" y="3172680"/>
            <a:ext cx="3141000" cy="7797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3" name="文字方塊 18"/>
          <p:cNvSpPr/>
          <p:nvPr/>
        </p:nvSpPr>
        <p:spPr>
          <a:xfrm>
            <a:off x="6510960" y="2014560"/>
            <a:ext cx="4615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Announce IPv4 prefix on IPv4 Interface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44" name="矩形 19"/>
          <p:cNvSpPr/>
          <p:nvPr/>
        </p:nvSpPr>
        <p:spPr>
          <a:xfrm>
            <a:off x="6874560" y="4068360"/>
            <a:ext cx="3242520" cy="14612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文字方塊 20"/>
          <p:cNvSpPr/>
          <p:nvPr/>
        </p:nvSpPr>
        <p:spPr>
          <a:xfrm>
            <a:off x="8237160" y="5555520"/>
            <a:ext cx="2813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Same as IPv6 Interface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46" name="矩形 3"/>
          <p:cNvSpPr/>
          <p:nvPr/>
        </p:nvSpPr>
        <p:spPr>
          <a:xfrm>
            <a:off x="2259360" y="3172680"/>
            <a:ext cx="889920" cy="194040"/>
          </a:xfrm>
          <a:prstGeom prst="rect">
            <a:avLst/>
          </a:prstGeom>
          <a:solidFill>
            <a:srgbClr val="f2dcdb">
              <a:alpha val="50000"/>
            </a:srgbClr>
          </a:solidFill>
          <a:ln w="9525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7" name="矩形 21"/>
          <p:cNvSpPr/>
          <p:nvPr/>
        </p:nvSpPr>
        <p:spPr>
          <a:xfrm>
            <a:off x="1128240" y="2172600"/>
            <a:ext cx="3401640" cy="2653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8" name="文字方塊 22"/>
          <p:cNvSpPr/>
          <p:nvPr/>
        </p:nvSpPr>
        <p:spPr>
          <a:xfrm>
            <a:off x="3673800" y="1803240"/>
            <a:ext cx="197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FPM connection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49" name="矩形 23"/>
          <p:cNvSpPr/>
          <p:nvPr/>
        </p:nvSpPr>
        <p:spPr>
          <a:xfrm>
            <a:off x="2896560" y="4148640"/>
            <a:ext cx="889920" cy="194040"/>
          </a:xfrm>
          <a:prstGeom prst="rect">
            <a:avLst/>
          </a:prstGeom>
          <a:solidFill>
            <a:srgbClr val="f2dcdb">
              <a:alpha val="50000"/>
            </a:srgbClr>
          </a:solidFill>
          <a:ln w="9525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0" name="文字方塊 24"/>
          <p:cNvSpPr/>
          <p:nvPr/>
        </p:nvSpPr>
        <p:spPr>
          <a:xfrm>
            <a:off x="3073680" y="6090120"/>
            <a:ext cx="9832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NOTE* Older versions of FRRouting might not work, this is just an example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5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Gateway Traffic Handling Example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Any packets within the domain only knows about the gateway’s MAC.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After analyzing the information (IP), it will change the according MAC and sends the packet out.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55" name="矩形 3"/>
          <p:cNvSpPr/>
          <p:nvPr/>
        </p:nvSpPr>
        <p:spPr>
          <a:xfrm>
            <a:off x="1845360" y="4723200"/>
            <a:ext cx="1640520" cy="6436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A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656" name="圖片 35" descr=""/>
          <p:cNvPicPr/>
          <p:nvPr/>
        </p:nvPicPr>
        <p:blipFill>
          <a:blip r:embed="rId1"/>
          <a:stretch/>
        </p:blipFill>
        <p:spPr>
          <a:xfrm>
            <a:off x="4555440" y="488340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657" name="直線單箭頭接點 5"/>
          <p:cNvSpPr/>
          <p:nvPr/>
        </p:nvSpPr>
        <p:spPr>
          <a:xfrm flipV="1">
            <a:off x="3486240" y="5043960"/>
            <a:ext cx="10684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5715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658" name="圖片 37" descr=""/>
          <p:cNvPicPr/>
          <p:nvPr/>
        </p:nvPicPr>
        <p:blipFill>
          <a:blip r:embed="rId2"/>
          <a:stretch/>
        </p:blipFill>
        <p:spPr>
          <a:xfrm>
            <a:off x="7219080" y="488340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659" name="直線單箭頭接點 38"/>
          <p:cNvSpPr/>
          <p:nvPr/>
        </p:nvSpPr>
        <p:spPr>
          <a:xfrm>
            <a:off x="5029560" y="5045400"/>
            <a:ext cx="21884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5715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矩形 41"/>
          <p:cNvSpPr/>
          <p:nvPr/>
        </p:nvSpPr>
        <p:spPr>
          <a:xfrm>
            <a:off x="8762040" y="4723200"/>
            <a:ext cx="1640520" cy="6436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B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661" name="直線單箭頭接點 42"/>
          <p:cNvSpPr/>
          <p:nvPr/>
        </p:nvSpPr>
        <p:spPr>
          <a:xfrm flipV="1">
            <a:off x="7693200" y="5043960"/>
            <a:ext cx="10684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5715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62" name="文字方塊 13"/>
          <p:cNvSpPr/>
          <p:nvPr/>
        </p:nvSpPr>
        <p:spPr>
          <a:xfrm>
            <a:off x="2256840" y="3785400"/>
            <a:ext cx="85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MAC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63" name="文字方塊 49"/>
          <p:cNvSpPr/>
          <p:nvPr/>
        </p:nvSpPr>
        <p:spPr>
          <a:xfrm>
            <a:off x="2293200" y="3309480"/>
            <a:ext cx="785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IP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64" name="文字方塊 52"/>
          <p:cNvSpPr/>
          <p:nvPr/>
        </p:nvSpPr>
        <p:spPr>
          <a:xfrm>
            <a:off x="4399200" y="5207040"/>
            <a:ext cx="785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1f497d"/>
                </a:solidFill>
                <a:latin typeface="Calibri"/>
                <a:ea typeface="標楷體"/>
              </a:rPr>
              <a:t>R1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65" name="文字方塊 53"/>
          <p:cNvSpPr/>
          <p:nvPr/>
        </p:nvSpPr>
        <p:spPr>
          <a:xfrm>
            <a:off x="7062120" y="5207040"/>
            <a:ext cx="785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1f497d"/>
                </a:solidFill>
                <a:latin typeface="Calibri"/>
                <a:ea typeface="標楷體"/>
              </a:rPr>
              <a:t>R2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666" name="群組 15"/>
          <p:cNvGrpSpPr/>
          <p:nvPr/>
        </p:nvGrpSpPr>
        <p:grpSpPr>
          <a:xfrm>
            <a:off x="3211200" y="2833200"/>
            <a:ext cx="1572840" cy="1611000"/>
            <a:chOff x="3211200" y="2833200"/>
            <a:chExt cx="1572840" cy="1611000"/>
          </a:xfrm>
        </p:grpSpPr>
        <p:sp>
          <p:nvSpPr>
            <p:cNvPr id="667" name="矩形 12"/>
            <p:cNvSpPr/>
            <p:nvPr/>
          </p:nvSpPr>
          <p:spPr>
            <a:xfrm>
              <a:off x="3211200" y="4219560"/>
              <a:ext cx="1572840" cy="22464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68" name="矩形 47"/>
            <p:cNvSpPr/>
            <p:nvPr/>
          </p:nvSpPr>
          <p:spPr>
            <a:xfrm>
              <a:off x="3211200" y="375804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A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69" name="矩形 51"/>
            <p:cNvSpPr/>
            <p:nvPr/>
          </p:nvSpPr>
          <p:spPr>
            <a:xfrm>
              <a:off x="3997800" y="375804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R1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70" name="矩形 54"/>
            <p:cNvSpPr/>
            <p:nvPr/>
          </p:nvSpPr>
          <p:spPr>
            <a:xfrm>
              <a:off x="3211200" y="329652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A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71" name="矩形 55"/>
            <p:cNvSpPr/>
            <p:nvPr/>
          </p:nvSpPr>
          <p:spPr>
            <a:xfrm>
              <a:off x="3997800" y="329652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B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72" name="文字方塊 58"/>
            <p:cNvSpPr/>
            <p:nvPr/>
          </p:nvSpPr>
          <p:spPr>
            <a:xfrm>
              <a:off x="3211200" y="283464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c0504d"/>
                  </a:solidFill>
                  <a:latin typeface="Calibri"/>
                  <a:ea typeface="標楷體"/>
                </a:rPr>
                <a:t>src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73" name="文字方塊 59"/>
            <p:cNvSpPr/>
            <p:nvPr/>
          </p:nvSpPr>
          <p:spPr>
            <a:xfrm>
              <a:off x="3997800" y="283320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c0504d"/>
                  </a:solidFill>
                  <a:latin typeface="Calibri"/>
                  <a:ea typeface="標楷體"/>
                </a:rPr>
                <a:t>dst</a:t>
              </a:r>
              <a:endParaRPr b="0" lang="en-US" sz="2400" spc="-1" strike="noStrike">
                <a:latin typeface="Arial"/>
              </a:endParaRPr>
            </a:p>
          </p:txBody>
        </p:sp>
      </p:grpSp>
      <p:grpSp>
        <p:nvGrpSpPr>
          <p:cNvPr id="674" name="群組 93"/>
          <p:cNvGrpSpPr/>
          <p:nvPr/>
        </p:nvGrpSpPr>
        <p:grpSpPr>
          <a:xfrm>
            <a:off x="5337720" y="2833200"/>
            <a:ext cx="1572840" cy="1611000"/>
            <a:chOff x="5337720" y="2833200"/>
            <a:chExt cx="1572840" cy="1611000"/>
          </a:xfrm>
        </p:grpSpPr>
        <p:sp>
          <p:nvSpPr>
            <p:cNvPr id="675" name="矩形 94"/>
            <p:cNvSpPr/>
            <p:nvPr/>
          </p:nvSpPr>
          <p:spPr>
            <a:xfrm>
              <a:off x="5337720" y="4219560"/>
              <a:ext cx="1572840" cy="22464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矩形 95"/>
            <p:cNvSpPr/>
            <p:nvPr/>
          </p:nvSpPr>
          <p:spPr>
            <a:xfrm>
              <a:off x="5337720" y="375804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R1’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77" name="矩形 96"/>
            <p:cNvSpPr/>
            <p:nvPr/>
          </p:nvSpPr>
          <p:spPr>
            <a:xfrm>
              <a:off x="6124320" y="375804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R2’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78" name="矩形 97"/>
            <p:cNvSpPr/>
            <p:nvPr/>
          </p:nvSpPr>
          <p:spPr>
            <a:xfrm>
              <a:off x="5337720" y="329652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A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79" name="矩形 98"/>
            <p:cNvSpPr/>
            <p:nvPr/>
          </p:nvSpPr>
          <p:spPr>
            <a:xfrm>
              <a:off x="6124320" y="329652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B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80" name="文字方塊 99"/>
            <p:cNvSpPr/>
            <p:nvPr/>
          </p:nvSpPr>
          <p:spPr>
            <a:xfrm>
              <a:off x="5337720" y="283464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c0504d"/>
                  </a:solidFill>
                  <a:latin typeface="Calibri"/>
                  <a:ea typeface="標楷體"/>
                </a:rPr>
                <a:t>src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81" name="文字方塊 100"/>
            <p:cNvSpPr/>
            <p:nvPr/>
          </p:nvSpPr>
          <p:spPr>
            <a:xfrm>
              <a:off x="6124320" y="283320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c0504d"/>
                  </a:solidFill>
                  <a:latin typeface="Calibri"/>
                  <a:ea typeface="標楷體"/>
                </a:rPr>
                <a:t>dst</a:t>
              </a:r>
              <a:endParaRPr b="0" lang="en-US" sz="2400" spc="-1" strike="noStrike">
                <a:latin typeface="Arial"/>
              </a:endParaRPr>
            </a:p>
          </p:txBody>
        </p:sp>
      </p:grpSp>
      <p:grpSp>
        <p:nvGrpSpPr>
          <p:cNvPr id="682" name="群組 101"/>
          <p:cNvGrpSpPr/>
          <p:nvPr/>
        </p:nvGrpSpPr>
        <p:grpSpPr>
          <a:xfrm>
            <a:off x="7463880" y="2837520"/>
            <a:ext cx="1572840" cy="1611360"/>
            <a:chOff x="7463880" y="2837520"/>
            <a:chExt cx="1572840" cy="1611360"/>
          </a:xfrm>
        </p:grpSpPr>
        <p:sp>
          <p:nvSpPr>
            <p:cNvPr id="683" name="矩形 102"/>
            <p:cNvSpPr/>
            <p:nvPr/>
          </p:nvSpPr>
          <p:spPr>
            <a:xfrm>
              <a:off x="7463880" y="4224240"/>
              <a:ext cx="1572840" cy="22464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矩形 103"/>
            <p:cNvSpPr/>
            <p:nvPr/>
          </p:nvSpPr>
          <p:spPr>
            <a:xfrm>
              <a:off x="7463880" y="376236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R2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85" name="矩形 104"/>
            <p:cNvSpPr/>
            <p:nvPr/>
          </p:nvSpPr>
          <p:spPr>
            <a:xfrm>
              <a:off x="8250840" y="376236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B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86" name="矩形 105"/>
            <p:cNvSpPr/>
            <p:nvPr/>
          </p:nvSpPr>
          <p:spPr>
            <a:xfrm>
              <a:off x="7463880" y="330084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A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87" name="矩形 106"/>
            <p:cNvSpPr/>
            <p:nvPr/>
          </p:nvSpPr>
          <p:spPr>
            <a:xfrm>
              <a:off x="8250840" y="3300840"/>
              <a:ext cx="785880" cy="460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B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88" name="文字方塊 107"/>
            <p:cNvSpPr/>
            <p:nvPr/>
          </p:nvSpPr>
          <p:spPr>
            <a:xfrm>
              <a:off x="7463880" y="283932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c0504d"/>
                  </a:solidFill>
                  <a:latin typeface="Calibri"/>
                  <a:ea typeface="標楷體"/>
                </a:rPr>
                <a:t>src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689" name="文字方塊 108"/>
            <p:cNvSpPr/>
            <p:nvPr/>
          </p:nvSpPr>
          <p:spPr>
            <a:xfrm>
              <a:off x="8250840" y="283752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c0504d"/>
                  </a:solidFill>
                  <a:latin typeface="Calibri"/>
                  <a:ea typeface="標楷體"/>
                </a:rPr>
                <a:t>dst</a:t>
              </a:r>
              <a:endParaRPr b="0" lang="en-US" sz="2400" spc="-1" strike="noStrike">
                <a:latin typeface="Arial"/>
              </a:endParaRPr>
            </a:p>
          </p:txBody>
        </p:sp>
      </p:grpSp>
      <p:sp>
        <p:nvSpPr>
          <p:cNvPr id="690" name="矩形 20"/>
          <p:cNvSpPr/>
          <p:nvPr/>
        </p:nvSpPr>
        <p:spPr>
          <a:xfrm>
            <a:off x="1127520" y="2613600"/>
            <a:ext cx="3656520" cy="3336840"/>
          </a:xfrm>
          <a:prstGeom prst="rect">
            <a:avLst/>
          </a:prstGeom>
          <a:solidFill>
            <a:srgbClr val="fdeada">
              <a:alpha val="30000"/>
            </a:srgb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e46c0a"/>
                </a:solidFill>
                <a:latin typeface="Times New Roman"/>
                <a:ea typeface="標楷體"/>
              </a:rPr>
              <a:t>DOMAIN A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691" name="矩形 117"/>
          <p:cNvSpPr/>
          <p:nvPr/>
        </p:nvSpPr>
        <p:spPr>
          <a:xfrm>
            <a:off x="7463880" y="2613600"/>
            <a:ext cx="3529080" cy="3336840"/>
          </a:xfrm>
          <a:prstGeom prst="rect">
            <a:avLst/>
          </a:prstGeom>
          <a:solidFill>
            <a:srgbClr val="fdeada">
              <a:alpha val="30000"/>
            </a:srgb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e46c0a"/>
                </a:solidFill>
                <a:latin typeface="Times New Roman"/>
                <a:ea typeface="標楷體"/>
              </a:rPr>
              <a:t>DOMAIN B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Transit Traffics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Transit traffics are in fact two interdomain traffics.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694" name="群組 3"/>
          <p:cNvGrpSpPr/>
          <p:nvPr/>
        </p:nvGrpSpPr>
        <p:grpSpPr>
          <a:xfrm>
            <a:off x="1729800" y="2324520"/>
            <a:ext cx="8557920" cy="4082400"/>
            <a:chOff x="1729800" y="2324520"/>
            <a:chExt cx="8557920" cy="4082400"/>
          </a:xfrm>
        </p:grpSpPr>
        <p:sp>
          <p:nvSpPr>
            <p:cNvPr id="695" name="矩形 97"/>
            <p:cNvSpPr/>
            <p:nvPr/>
          </p:nvSpPr>
          <p:spPr>
            <a:xfrm flipH="1">
              <a:off x="1729440" y="3633120"/>
              <a:ext cx="3529080" cy="1584360"/>
            </a:xfrm>
            <a:prstGeom prst="rect">
              <a:avLst/>
            </a:prstGeom>
            <a:solidFill>
              <a:srgbClr val="fdeada">
                <a:alpha val="30000"/>
              </a:srgb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2800" spc="-1" strike="noStrike">
                  <a:solidFill>
                    <a:srgbClr val="e46c0a"/>
                  </a:solidFill>
                  <a:latin typeface="Times New Roman"/>
                  <a:ea typeface="標楷體"/>
                </a:rPr>
                <a:t>DOMAIN A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696" name="矩形 35"/>
            <p:cNvSpPr/>
            <p:nvPr/>
          </p:nvSpPr>
          <p:spPr>
            <a:xfrm flipH="1">
              <a:off x="7925400" y="3092400"/>
              <a:ext cx="1640520" cy="6436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Host B</a:t>
              </a:r>
              <a:endParaRPr b="0" lang="en-US" sz="2800" spc="-1" strike="noStrike">
                <a:latin typeface="Arial"/>
              </a:endParaRPr>
            </a:p>
          </p:txBody>
        </p:sp>
        <p:pic>
          <p:nvPicPr>
            <p:cNvPr id="697" name="圖片 36" descr=""/>
            <p:cNvPicPr/>
            <p:nvPr/>
          </p:nvPicPr>
          <p:blipFill>
            <a:blip r:embed="rId1"/>
            <a:stretch/>
          </p:blipFill>
          <p:spPr>
            <a:xfrm flipH="1">
              <a:off x="6383520" y="3252600"/>
              <a:ext cx="473400" cy="322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98" name="直線單箭頭接點 37"/>
            <p:cNvSpPr/>
            <p:nvPr/>
          </p:nvSpPr>
          <p:spPr>
            <a:xfrm flipH="1" flipV="1">
              <a:off x="6856200" y="3413160"/>
              <a:ext cx="1068480" cy="3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solidFill>
              <a:schemeClr val="accent1"/>
            </a:solidFill>
            <a:ln w="57150">
              <a:solidFill>
                <a:srgbClr val="000000"/>
              </a:solidFill>
              <a:round/>
              <a:headEnd len="med" type="triangle" w="med"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99" name="圖片 38" descr=""/>
            <p:cNvPicPr/>
            <p:nvPr/>
          </p:nvPicPr>
          <p:blipFill>
            <a:blip r:embed="rId2"/>
            <a:stretch/>
          </p:blipFill>
          <p:spPr>
            <a:xfrm flipH="1">
              <a:off x="5023080" y="4296600"/>
              <a:ext cx="473400" cy="322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00" name="直線單箭頭接點 39"/>
            <p:cNvSpPr/>
            <p:nvPr/>
          </p:nvSpPr>
          <p:spPr>
            <a:xfrm flipH="1">
              <a:off x="5495760" y="3414600"/>
              <a:ext cx="885600" cy="1042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solidFill>
              <a:schemeClr val="accent1"/>
            </a:solidFill>
            <a:ln w="57150">
              <a:solidFill>
                <a:srgbClr val="000000"/>
              </a:solidFill>
              <a:round/>
              <a:headEnd len="med" type="triangle" w="med"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文字方塊 44"/>
            <p:cNvSpPr/>
            <p:nvPr/>
          </p:nvSpPr>
          <p:spPr>
            <a:xfrm flipH="1">
              <a:off x="6225840" y="357660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1f497d"/>
                  </a:solidFill>
                  <a:latin typeface="Calibri"/>
                  <a:ea typeface="標楷體"/>
                </a:rPr>
                <a:t>R1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702" name="文字方塊 45"/>
            <p:cNvSpPr/>
            <p:nvPr/>
          </p:nvSpPr>
          <p:spPr>
            <a:xfrm flipH="1">
              <a:off x="4865760" y="462024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1f497d"/>
                  </a:solidFill>
                  <a:latin typeface="Calibri"/>
                  <a:ea typeface="標楷體"/>
                </a:rPr>
                <a:t>R2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703" name="矩形 96"/>
            <p:cNvSpPr/>
            <p:nvPr/>
          </p:nvSpPr>
          <p:spPr>
            <a:xfrm flipH="1">
              <a:off x="6618960" y="2449800"/>
              <a:ext cx="3656520" cy="1584360"/>
            </a:xfrm>
            <a:prstGeom prst="rect">
              <a:avLst/>
            </a:prstGeom>
            <a:solidFill>
              <a:srgbClr val="fdeada">
                <a:alpha val="30000"/>
              </a:srgb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2800" spc="-1" strike="noStrike">
                  <a:solidFill>
                    <a:srgbClr val="e46c0a"/>
                  </a:solidFill>
                  <a:latin typeface="Times New Roman"/>
                  <a:ea typeface="標楷體"/>
                </a:rPr>
                <a:t>DOMAIN B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704" name="矩形 100"/>
            <p:cNvSpPr/>
            <p:nvPr/>
          </p:nvSpPr>
          <p:spPr>
            <a:xfrm flipH="1">
              <a:off x="7925400" y="5175720"/>
              <a:ext cx="1640520" cy="6436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Host C</a:t>
              </a:r>
              <a:endParaRPr b="0" lang="en-US" sz="2800" spc="-1" strike="noStrike">
                <a:latin typeface="Arial"/>
              </a:endParaRPr>
            </a:p>
          </p:txBody>
        </p:sp>
        <p:pic>
          <p:nvPicPr>
            <p:cNvPr id="705" name="圖片 101" descr=""/>
            <p:cNvPicPr/>
            <p:nvPr/>
          </p:nvPicPr>
          <p:blipFill>
            <a:blip r:embed="rId3"/>
            <a:stretch/>
          </p:blipFill>
          <p:spPr>
            <a:xfrm flipH="1">
              <a:off x="6383520" y="5335920"/>
              <a:ext cx="473400" cy="322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06" name="直線單箭頭接點 102"/>
            <p:cNvSpPr/>
            <p:nvPr/>
          </p:nvSpPr>
          <p:spPr>
            <a:xfrm flipH="1" flipV="1">
              <a:off x="6856200" y="5496480"/>
              <a:ext cx="1068480" cy="3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solidFill>
              <a:schemeClr val="accent1"/>
            </a:solidFill>
            <a:ln w="57150">
              <a:solidFill>
                <a:srgbClr val="000000"/>
              </a:solidFill>
              <a:round/>
              <a:headEnd len="med" type="triangle" w="med"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文字方塊 103"/>
            <p:cNvSpPr/>
            <p:nvPr/>
          </p:nvSpPr>
          <p:spPr>
            <a:xfrm flipH="1">
              <a:off x="6225840" y="5659560"/>
              <a:ext cx="785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400" spc="-1" strike="noStrike">
                  <a:solidFill>
                    <a:srgbClr val="1f497d"/>
                  </a:solidFill>
                  <a:latin typeface="Calibri"/>
                  <a:ea typeface="標楷體"/>
                </a:rPr>
                <a:t>R4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708" name="直線單箭頭接點 107"/>
            <p:cNvSpPr/>
            <p:nvPr/>
          </p:nvSpPr>
          <p:spPr>
            <a:xfrm flipH="1" flipV="1">
              <a:off x="5495760" y="4457520"/>
              <a:ext cx="885600" cy="10386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solidFill>
              <a:schemeClr val="accent1"/>
            </a:solidFill>
            <a:ln w="57150">
              <a:solidFill>
                <a:srgbClr val="000000"/>
              </a:solidFill>
              <a:round/>
              <a:headEnd len="med" type="triangle" w="med"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矩形 104"/>
            <p:cNvSpPr/>
            <p:nvPr/>
          </p:nvSpPr>
          <p:spPr>
            <a:xfrm flipH="1">
              <a:off x="6630840" y="4536360"/>
              <a:ext cx="3656520" cy="1584360"/>
            </a:xfrm>
            <a:prstGeom prst="rect">
              <a:avLst/>
            </a:prstGeom>
            <a:solidFill>
              <a:srgbClr val="fdeada">
                <a:alpha val="30000"/>
              </a:srgbClr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2800" spc="-1" strike="noStrike">
                  <a:solidFill>
                    <a:srgbClr val="e46c0a"/>
                  </a:solidFill>
                  <a:latin typeface="Times New Roman"/>
                  <a:ea typeface="標楷體"/>
                </a:rPr>
                <a:t>DOMAIN C</a:t>
              </a:r>
              <a:endParaRPr b="0" lang="en-US" sz="2800" spc="-1" strike="noStrike">
                <a:latin typeface="Arial"/>
              </a:endParaRPr>
            </a:p>
          </p:txBody>
        </p:sp>
        <p:grpSp>
          <p:nvGrpSpPr>
            <p:cNvPr id="710" name="群組 28"/>
            <p:cNvGrpSpPr/>
            <p:nvPr/>
          </p:nvGrpSpPr>
          <p:grpSpPr>
            <a:xfrm>
              <a:off x="4264560" y="2324520"/>
              <a:ext cx="1572840" cy="1611360"/>
              <a:chOff x="4264560" y="2324520"/>
              <a:chExt cx="1572840" cy="1611360"/>
            </a:xfrm>
          </p:grpSpPr>
          <p:sp>
            <p:nvSpPr>
              <p:cNvPr id="711" name="矩形 29"/>
              <p:cNvSpPr/>
              <p:nvPr/>
            </p:nvSpPr>
            <p:spPr>
              <a:xfrm flipH="1">
                <a:off x="4264200" y="3711240"/>
                <a:ext cx="1572840" cy="22464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12" name="矩形 30"/>
              <p:cNvSpPr/>
              <p:nvPr/>
            </p:nvSpPr>
            <p:spPr>
              <a:xfrm flipH="1">
                <a:off x="5050800" y="324936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R1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13" name="矩形 31"/>
              <p:cNvSpPr/>
              <p:nvPr/>
            </p:nvSpPr>
            <p:spPr>
              <a:xfrm flipH="1">
                <a:off x="4264200" y="324936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R2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14" name="矩形 32"/>
              <p:cNvSpPr/>
              <p:nvPr/>
            </p:nvSpPr>
            <p:spPr>
              <a:xfrm flipH="1">
                <a:off x="5050800" y="278784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B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15" name="矩形 33"/>
              <p:cNvSpPr/>
              <p:nvPr/>
            </p:nvSpPr>
            <p:spPr>
              <a:xfrm flipH="1">
                <a:off x="4264200" y="278784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C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16" name="文字方塊 34"/>
              <p:cNvSpPr/>
              <p:nvPr/>
            </p:nvSpPr>
            <p:spPr>
              <a:xfrm flipH="1">
                <a:off x="5050800" y="2326320"/>
                <a:ext cx="785880" cy="45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400" spc="-1" strike="noStrike">
                    <a:solidFill>
                      <a:srgbClr val="c0504d"/>
                    </a:solidFill>
                    <a:latin typeface="Calibri"/>
                    <a:ea typeface="標楷體"/>
                  </a:rPr>
                  <a:t>src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17" name="文字方塊 40"/>
              <p:cNvSpPr/>
              <p:nvPr/>
            </p:nvSpPr>
            <p:spPr>
              <a:xfrm flipH="1">
                <a:off x="4264200" y="2324520"/>
                <a:ext cx="785880" cy="45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400" spc="-1" strike="noStrike">
                    <a:solidFill>
                      <a:srgbClr val="c0504d"/>
                    </a:solidFill>
                    <a:latin typeface="Calibri"/>
                    <a:ea typeface="標楷體"/>
                  </a:rPr>
                  <a:t>dst</a:t>
                </a:r>
                <a:endParaRPr b="0" lang="en-US" sz="2400" spc="-1" strike="noStrike">
                  <a:latin typeface="Arial"/>
                </a:endParaRPr>
              </a:p>
            </p:txBody>
          </p:sp>
        </p:grpSp>
        <p:grpSp>
          <p:nvGrpSpPr>
            <p:cNvPr id="718" name="群組 42"/>
            <p:cNvGrpSpPr/>
            <p:nvPr/>
          </p:nvGrpSpPr>
          <p:grpSpPr>
            <a:xfrm>
              <a:off x="4428720" y="4795560"/>
              <a:ext cx="1572840" cy="1611360"/>
              <a:chOff x="4428720" y="4795560"/>
              <a:chExt cx="1572840" cy="1611360"/>
            </a:xfrm>
          </p:grpSpPr>
          <p:sp>
            <p:nvSpPr>
              <p:cNvPr id="719" name="矩形 43"/>
              <p:cNvSpPr/>
              <p:nvPr/>
            </p:nvSpPr>
            <p:spPr>
              <a:xfrm flipH="1">
                <a:off x="4428360" y="6182280"/>
                <a:ext cx="1572840" cy="22464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0" name="矩形 46"/>
              <p:cNvSpPr/>
              <p:nvPr/>
            </p:nvSpPr>
            <p:spPr>
              <a:xfrm flipH="1">
                <a:off x="5215320" y="572076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R2’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21" name="矩形 47"/>
              <p:cNvSpPr/>
              <p:nvPr/>
            </p:nvSpPr>
            <p:spPr>
              <a:xfrm flipH="1">
                <a:off x="4428360" y="572076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R4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22" name="矩形 48"/>
              <p:cNvSpPr/>
              <p:nvPr/>
            </p:nvSpPr>
            <p:spPr>
              <a:xfrm flipH="1">
                <a:off x="5215320" y="525888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B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23" name="矩形 49"/>
              <p:cNvSpPr/>
              <p:nvPr/>
            </p:nvSpPr>
            <p:spPr>
              <a:xfrm flipH="1">
                <a:off x="4428360" y="5258880"/>
                <a:ext cx="785880" cy="4608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24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C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24" name="文字方塊 50"/>
              <p:cNvSpPr/>
              <p:nvPr/>
            </p:nvSpPr>
            <p:spPr>
              <a:xfrm flipH="1">
                <a:off x="5215320" y="4797360"/>
                <a:ext cx="785880" cy="45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400" spc="-1" strike="noStrike">
                    <a:solidFill>
                      <a:srgbClr val="c0504d"/>
                    </a:solidFill>
                    <a:latin typeface="Calibri"/>
                    <a:ea typeface="標楷體"/>
                  </a:rPr>
                  <a:t>src</a:t>
                </a:r>
                <a:endParaRPr b="0" lang="en-US" sz="2400" spc="-1" strike="noStrike">
                  <a:latin typeface="Arial"/>
                </a:endParaRPr>
              </a:p>
            </p:txBody>
          </p:sp>
          <p:sp>
            <p:nvSpPr>
              <p:cNvPr id="725" name="文字方塊 51"/>
              <p:cNvSpPr/>
              <p:nvPr/>
            </p:nvSpPr>
            <p:spPr>
              <a:xfrm flipH="1">
                <a:off x="4428360" y="4795560"/>
                <a:ext cx="785880" cy="45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400" spc="-1" strike="noStrike">
                    <a:solidFill>
                      <a:srgbClr val="c0504d"/>
                    </a:solidFill>
                    <a:latin typeface="Calibri"/>
                    <a:ea typeface="標楷體"/>
                  </a:rPr>
                  <a:t>dst</a:t>
                </a:r>
                <a:endParaRPr b="0" lang="en-US" sz="2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27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Linux Network Brief Introduction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Network Namespaces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Provide a way to create isolated network environments within a Linux system.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Allow processes to have their own network stack, including interfaces, routing tables, and firewall rules.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Each Container have it’s own Network Namespace.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 network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Bridge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is a kernel created logical L2 switch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Veth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devices, short for virtual Ethernet devices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Use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veth pairs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to connect Network Namespaces or Bridges together.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Linux Network Brief Introduction (cont.)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31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Mapping to physical instruments.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Namespace = node (computer/server)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Veth pair = 2 network interface cards (NIC) that connects to each other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Bridge = switch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If you want to connect your computer to a switch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Create a veth pair (Create 2 NIC that connects to each other)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Connect one NIC to your namespace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Connect the other one to your bridge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32" name="矩形 3"/>
          <p:cNvSpPr/>
          <p:nvPr/>
        </p:nvSpPr>
        <p:spPr>
          <a:xfrm>
            <a:off x="1175760" y="5528520"/>
            <a:ext cx="3290760" cy="664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Bridge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733" name="矩形 4"/>
          <p:cNvSpPr/>
          <p:nvPr/>
        </p:nvSpPr>
        <p:spPr>
          <a:xfrm>
            <a:off x="4071960" y="5576040"/>
            <a:ext cx="671400" cy="569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97d"/>
                </a:solidFill>
                <a:latin typeface="Times New Roman"/>
                <a:ea typeface="標楷體"/>
              </a:rPr>
              <a:t>Veth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34" name="矩形 5"/>
          <p:cNvSpPr/>
          <p:nvPr/>
        </p:nvSpPr>
        <p:spPr>
          <a:xfrm>
            <a:off x="6764040" y="5528520"/>
            <a:ext cx="3290760" cy="664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Namespace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735" name="矩形 6"/>
          <p:cNvSpPr/>
          <p:nvPr/>
        </p:nvSpPr>
        <p:spPr>
          <a:xfrm>
            <a:off x="6427800" y="5576040"/>
            <a:ext cx="671400" cy="569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97d"/>
                </a:solidFill>
                <a:latin typeface="Times New Roman"/>
                <a:ea typeface="標楷體"/>
              </a:rPr>
              <a:t>Veth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36" name="直線接點 8"/>
          <p:cNvSpPr/>
          <p:nvPr/>
        </p:nvSpPr>
        <p:spPr>
          <a:xfrm>
            <a:off x="4744080" y="5860800"/>
            <a:ext cx="1683720" cy="360"/>
          </a:xfrm>
          <a:prstGeom prst="line">
            <a:avLst/>
          </a:prstGeom>
          <a:ln w="9525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Linux Network Brief Introduction (cont.)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38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Mapping to physical instruments.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Namespace = node (computer/server)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Veth pair = 2 network interface cards (NIC) that connects to each other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Bridge = switch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How to find a container’s namespace (ns)?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Locate docker pid</a:t>
            </a:r>
            <a:endParaRPr b="0" lang="en-US" sz="2400" spc="-1" strike="noStrike">
              <a:latin typeface="Arial"/>
            </a:endParaRPr>
          </a:p>
          <a:p>
            <a:pPr marL="288000" algn="just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It is at file `/proc/$pid/ns/net`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Similarly you can connect two namespaces (containers) with the same mechanism.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39" name="矩形 3"/>
          <p:cNvSpPr/>
          <p:nvPr/>
        </p:nvSpPr>
        <p:spPr>
          <a:xfrm>
            <a:off x="1175760" y="5528520"/>
            <a:ext cx="3290760" cy="664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Container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740" name="矩形 4"/>
          <p:cNvSpPr/>
          <p:nvPr/>
        </p:nvSpPr>
        <p:spPr>
          <a:xfrm>
            <a:off x="4071960" y="5576040"/>
            <a:ext cx="671400" cy="569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97d"/>
                </a:solidFill>
                <a:latin typeface="Times New Roman"/>
                <a:ea typeface="標楷體"/>
              </a:rPr>
              <a:t>Veth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41" name="矩形 5"/>
          <p:cNvSpPr/>
          <p:nvPr/>
        </p:nvSpPr>
        <p:spPr>
          <a:xfrm>
            <a:off x="6764040" y="5528520"/>
            <a:ext cx="3290760" cy="664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Container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742" name="矩形 6"/>
          <p:cNvSpPr/>
          <p:nvPr/>
        </p:nvSpPr>
        <p:spPr>
          <a:xfrm>
            <a:off x="6427800" y="5576040"/>
            <a:ext cx="671400" cy="569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97d"/>
                </a:solidFill>
                <a:latin typeface="Times New Roman"/>
                <a:ea typeface="標楷體"/>
              </a:rPr>
              <a:t>Veth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43" name="直線接點 8"/>
          <p:cNvSpPr/>
          <p:nvPr/>
        </p:nvSpPr>
        <p:spPr>
          <a:xfrm>
            <a:off x="4744080" y="5860800"/>
            <a:ext cx="1683720" cy="360"/>
          </a:xfrm>
          <a:prstGeom prst="line">
            <a:avLst/>
          </a:prstGeom>
          <a:ln w="9525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744" name="圖片 10" descr=""/>
          <p:cNvPicPr/>
          <p:nvPr/>
        </p:nvPicPr>
        <p:blipFill>
          <a:blip r:embed="rId1"/>
          <a:srcRect l="1198" t="0" r="0" b="36316"/>
          <a:stretch/>
        </p:blipFill>
        <p:spPr>
          <a:xfrm>
            <a:off x="1127520" y="3900240"/>
            <a:ext cx="10234440" cy="43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Ubuntu IP Command Introduction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52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Normally, we can use `ip netns exec` command to execute commands inside a namespace; however, it will only search ns for directories in `/var/run/netns`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Two ways to run `ip netns exec` in container namespace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Create a soft link `ln -sfT /proc/$pid/ns/net /var/run/netns/$pid`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Use nsenter command `</a:t>
            </a: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nsenter -t $pid -n &lt;command&gt;`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Useful ip commands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`ip link add &lt;name&gt; type &lt;type&gt;`: Create a NIC by the type.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`ip link set &lt;name&gt; up`: Bring up (enable) the NIC.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`ip address add &lt;ip&gt; dev &lt;name&gt;`: Add an ip address to the NIC.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`ip route show`: Show current routes.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`ip route add {&lt;ip&gt; | default} via {ip}: Add a route.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Docker Network Namespace Introduction</a:t>
            </a:r>
            <a:endParaRPr b="0" lang="en-US" sz="3600" spc="-1" strike="noStrike">
              <a:latin typeface="Arial"/>
            </a:endParaRPr>
          </a:p>
        </p:txBody>
      </p:sp>
      <p:grpSp>
        <p:nvGrpSpPr>
          <p:cNvPr id="748" name="群組 8"/>
          <p:cNvGrpSpPr/>
          <p:nvPr/>
        </p:nvGrpSpPr>
        <p:grpSpPr>
          <a:xfrm>
            <a:off x="1127520" y="1229760"/>
            <a:ext cx="7290720" cy="4831920"/>
            <a:chOff x="1127520" y="1229760"/>
            <a:chExt cx="7290720" cy="4831920"/>
          </a:xfrm>
        </p:grpSpPr>
        <p:pic>
          <p:nvPicPr>
            <p:cNvPr id="749" name="圖片 4" descr=""/>
            <p:cNvPicPr/>
            <p:nvPr/>
          </p:nvPicPr>
          <p:blipFill>
            <a:blip r:embed="rId1"/>
            <a:srcRect l="0" t="26862" r="0" b="0"/>
            <a:stretch/>
          </p:blipFill>
          <p:spPr>
            <a:xfrm>
              <a:off x="1135080" y="2075400"/>
              <a:ext cx="7283160" cy="3986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750" name="圖片 7" descr=""/>
            <p:cNvPicPr/>
            <p:nvPr/>
          </p:nvPicPr>
          <p:blipFill>
            <a:blip r:embed="rId2"/>
            <a:srcRect l="0" t="0" r="0" b="84235"/>
            <a:stretch/>
          </p:blipFill>
          <p:spPr>
            <a:xfrm>
              <a:off x="1127520" y="1229760"/>
              <a:ext cx="7283160" cy="8589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751" name="文字方塊 9"/>
          <p:cNvSpPr/>
          <p:nvPr/>
        </p:nvSpPr>
        <p:spPr>
          <a:xfrm>
            <a:off x="6995520" y="1158840"/>
            <a:ext cx="4596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Create a container named sdnfv-demo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2" name="文字方塊 10"/>
          <p:cNvSpPr/>
          <p:nvPr/>
        </p:nvSpPr>
        <p:spPr>
          <a:xfrm>
            <a:off x="8132400" y="1474560"/>
            <a:ext cx="3421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Find the pid of the container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3" name="文字方塊 11"/>
          <p:cNvSpPr/>
          <p:nvPr/>
        </p:nvSpPr>
        <p:spPr>
          <a:xfrm>
            <a:off x="6660360" y="1782000"/>
            <a:ext cx="6104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Make soft link so that ip netns can find container ns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4" name="文字方塊 12"/>
          <p:cNvSpPr/>
          <p:nvPr/>
        </p:nvSpPr>
        <p:spPr>
          <a:xfrm>
            <a:off x="6983280" y="3745080"/>
            <a:ext cx="518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Create a dummy NIC using netns command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5" name="文字方塊 13"/>
          <p:cNvSpPr/>
          <p:nvPr/>
        </p:nvSpPr>
        <p:spPr>
          <a:xfrm>
            <a:off x="4208760" y="4718880"/>
            <a:ext cx="4129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NIC is created inside the container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6" name="矩形 14"/>
          <p:cNvSpPr/>
          <p:nvPr/>
        </p:nvSpPr>
        <p:spPr>
          <a:xfrm>
            <a:off x="1127520" y="5119200"/>
            <a:ext cx="6842520" cy="310320"/>
          </a:xfrm>
          <a:prstGeom prst="rect">
            <a:avLst/>
          </a:prstGeom>
          <a:solidFill>
            <a:srgbClr val="f2dcdb">
              <a:alpha val="50000"/>
            </a:srgbClr>
          </a:solidFill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文字方塊 15"/>
          <p:cNvSpPr/>
          <p:nvPr/>
        </p:nvSpPr>
        <p:spPr>
          <a:xfrm>
            <a:off x="8305200" y="2653920"/>
            <a:ext cx="3915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Show interface information of ns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8" name="矩形 16"/>
          <p:cNvSpPr/>
          <p:nvPr/>
        </p:nvSpPr>
        <p:spPr>
          <a:xfrm>
            <a:off x="1032480" y="2089080"/>
            <a:ext cx="7467840" cy="17474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矩形 17"/>
          <p:cNvSpPr/>
          <p:nvPr/>
        </p:nvSpPr>
        <p:spPr>
          <a:xfrm>
            <a:off x="1032480" y="4014720"/>
            <a:ext cx="6994800" cy="21456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0" name="文字方塊 18"/>
          <p:cNvSpPr/>
          <p:nvPr/>
        </p:nvSpPr>
        <p:spPr>
          <a:xfrm>
            <a:off x="7515360" y="4339800"/>
            <a:ext cx="5182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Show interface information of the container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Tunnel and VXLAN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52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 Tunnel send data over a network by encapsulating packets within other packets.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Commonly used to connect different networks, provide secure communication, bypass firewalls.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Applications</a:t>
            </a:r>
            <a:endParaRPr b="0" lang="en-US" sz="2400" spc="-1" strike="noStrike">
              <a:latin typeface="Arial"/>
            </a:endParaRPr>
          </a:p>
          <a:p>
            <a:pPr lvl="2" marL="792000" indent="-2160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Virtual Private Networks (VPN)</a:t>
            </a:r>
            <a:endParaRPr b="0" lang="en-US" sz="2400" spc="-1" strike="noStrike">
              <a:latin typeface="Arial"/>
            </a:endParaRPr>
          </a:p>
          <a:p>
            <a:pPr lvl="2" marL="792000" indent="-2160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Generic Routing Encapsulation (GRE)</a:t>
            </a:r>
            <a:endParaRPr b="0" lang="en-US" sz="2400" spc="-1" strike="noStrike">
              <a:latin typeface="Arial"/>
            </a:endParaRPr>
          </a:p>
          <a:p>
            <a:pPr lvl="2" marL="792000" indent="-2160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Virtual Extensible LAN (VXLAN)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Types</a:t>
            </a:r>
            <a:endParaRPr b="0" lang="en-US" sz="2400" spc="-1" strike="noStrike">
              <a:latin typeface="Arial"/>
            </a:endParaRPr>
          </a:p>
          <a:p>
            <a:pPr lvl="2" marL="792000" indent="-2160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Layer 2: Transmit data that is higher or equal to Layer 2</a:t>
            </a:r>
            <a:endParaRPr b="0" lang="en-US" sz="2400" spc="-1" strike="noStrike">
              <a:latin typeface="Arial"/>
            </a:endParaRPr>
          </a:p>
          <a:p>
            <a:pPr lvl="2" marL="792000" indent="-2160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Layer 3: Transmit data that is higher or equal to Layer 3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VXLAN (L2 Tunnel)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Designed to help build large, scalable L2 networks over existing L3 networks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TA will provide a Wireguard configuration file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1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Remember, the last number of your IP is your ID (x)</a:t>
            </a:r>
            <a:endParaRPr b="0" lang="en-US" sz="18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Run the follow command to install wireguard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Copy the configuration file to wg0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Bring up the Wireguard interface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Check if Wireguard is good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Wireguard gateway 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VXLAN Target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764" name="圖片 11" descr=""/>
          <p:cNvPicPr/>
          <p:nvPr/>
        </p:nvPicPr>
        <p:blipFill>
          <a:blip r:embed="rId1"/>
          <a:srcRect l="0" t="0" r="0" b="63948"/>
          <a:stretch/>
        </p:blipFill>
        <p:spPr>
          <a:xfrm>
            <a:off x="1438920" y="5870520"/>
            <a:ext cx="4683960" cy="536040"/>
          </a:xfrm>
          <a:prstGeom prst="rect">
            <a:avLst/>
          </a:prstGeom>
          <a:ln w="0">
            <a:noFill/>
          </a:ln>
        </p:spPr>
      </p:pic>
      <p:sp>
        <p:nvSpPr>
          <p:cNvPr id="765" name="PlaceHolder 2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Wireguard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766" name="圖片 3" descr=""/>
          <p:cNvPicPr/>
          <p:nvPr/>
        </p:nvPicPr>
        <p:blipFill>
          <a:blip r:embed="rId2"/>
          <a:stretch/>
        </p:blipFill>
        <p:spPr>
          <a:xfrm>
            <a:off x="6766920" y="1365480"/>
            <a:ext cx="4723920" cy="4713840"/>
          </a:xfrm>
          <a:prstGeom prst="rect">
            <a:avLst/>
          </a:prstGeom>
          <a:ln w="0">
            <a:noFill/>
          </a:ln>
        </p:spPr>
      </p:pic>
      <p:pic>
        <p:nvPicPr>
          <p:cNvPr id="767" name="圖片 4" descr=""/>
          <p:cNvPicPr/>
          <p:nvPr/>
        </p:nvPicPr>
        <p:blipFill>
          <a:blip r:embed="rId3"/>
          <a:srcRect l="0" t="0" r="8921" b="0"/>
          <a:stretch/>
        </p:blipFill>
        <p:spPr>
          <a:xfrm>
            <a:off x="867240" y="2311560"/>
            <a:ext cx="5827680" cy="315720"/>
          </a:xfrm>
          <a:prstGeom prst="rect">
            <a:avLst/>
          </a:prstGeom>
          <a:ln w="0">
            <a:noFill/>
          </a:ln>
        </p:spPr>
      </p:pic>
      <p:pic>
        <p:nvPicPr>
          <p:cNvPr id="768" name="圖片 5" descr=""/>
          <p:cNvPicPr/>
          <p:nvPr/>
        </p:nvPicPr>
        <p:blipFill>
          <a:blip r:embed="rId4"/>
          <a:stretch/>
        </p:blipFill>
        <p:spPr>
          <a:xfrm>
            <a:off x="867240" y="3182040"/>
            <a:ext cx="5827680" cy="246240"/>
          </a:xfrm>
          <a:prstGeom prst="rect">
            <a:avLst/>
          </a:prstGeom>
          <a:ln w="0">
            <a:noFill/>
          </a:ln>
        </p:spPr>
      </p:pic>
      <p:pic>
        <p:nvPicPr>
          <p:cNvPr id="769" name="圖片 6" descr=""/>
          <p:cNvPicPr/>
          <p:nvPr/>
        </p:nvPicPr>
        <p:blipFill>
          <a:blip r:embed="rId5"/>
          <a:stretch/>
        </p:blipFill>
        <p:spPr>
          <a:xfrm>
            <a:off x="867240" y="3996000"/>
            <a:ext cx="5348880" cy="217080"/>
          </a:xfrm>
          <a:prstGeom prst="rect">
            <a:avLst/>
          </a:prstGeom>
          <a:ln w="0">
            <a:noFill/>
          </a:ln>
        </p:spPr>
      </p:pic>
      <p:pic>
        <p:nvPicPr>
          <p:cNvPr id="770" name="圖片 7" descr=""/>
          <p:cNvPicPr/>
          <p:nvPr/>
        </p:nvPicPr>
        <p:blipFill>
          <a:blip r:embed="rId6"/>
          <a:srcRect l="0" t="0" r="0" b="66093"/>
          <a:stretch/>
        </p:blipFill>
        <p:spPr>
          <a:xfrm>
            <a:off x="1438920" y="5046120"/>
            <a:ext cx="4683960" cy="476280"/>
          </a:xfrm>
          <a:prstGeom prst="rect">
            <a:avLst/>
          </a:prstGeom>
          <a:ln w="0">
            <a:noFill/>
          </a:ln>
        </p:spPr>
      </p:pic>
      <p:sp>
        <p:nvSpPr>
          <p:cNvPr id="771" name="矩形 8"/>
          <p:cNvSpPr/>
          <p:nvPr/>
        </p:nvSpPr>
        <p:spPr>
          <a:xfrm>
            <a:off x="4660560" y="5861160"/>
            <a:ext cx="280440" cy="243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2" name="矩形 9"/>
          <p:cNvSpPr/>
          <p:nvPr/>
        </p:nvSpPr>
        <p:spPr>
          <a:xfrm>
            <a:off x="8252280" y="4166280"/>
            <a:ext cx="178200" cy="187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3" name="文字方塊 10"/>
          <p:cNvSpPr/>
          <p:nvPr/>
        </p:nvSpPr>
        <p:spPr>
          <a:xfrm>
            <a:off x="8294400" y="4075560"/>
            <a:ext cx="2197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This is your ID (x)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4" name="矩形 12"/>
          <p:cNvSpPr/>
          <p:nvPr/>
        </p:nvSpPr>
        <p:spPr>
          <a:xfrm>
            <a:off x="3913560" y="5002200"/>
            <a:ext cx="1147680" cy="187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5" name="文字方塊 13"/>
          <p:cNvSpPr/>
          <p:nvPr/>
        </p:nvSpPr>
        <p:spPr>
          <a:xfrm>
            <a:off x="4784760" y="5793840"/>
            <a:ext cx="1700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This is your x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6" name="文字方塊 14"/>
          <p:cNvSpPr/>
          <p:nvPr/>
        </p:nvSpPr>
        <p:spPr>
          <a:xfrm>
            <a:off x="4027680" y="4676760"/>
            <a:ext cx="3101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This is Wireguard gateway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7" name="矩形 15"/>
          <p:cNvSpPr/>
          <p:nvPr/>
        </p:nvSpPr>
        <p:spPr>
          <a:xfrm>
            <a:off x="8502480" y="5492520"/>
            <a:ext cx="359280" cy="153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文字方塊 16"/>
          <p:cNvSpPr/>
          <p:nvPr/>
        </p:nvSpPr>
        <p:spPr>
          <a:xfrm>
            <a:off x="7059960" y="5032440"/>
            <a:ext cx="4501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0000"/>
                </a:solidFill>
                <a:latin typeface="Calibri"/>
                <a:ea typeface="標楷體"/>
              </a:rPr>
              <a:t>Some wireguard version requires port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The largest size (in bytes) of a network packet that can be transmitted over a particular interface or network medium without fragmentation.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Default to 1500 Bytes.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What Happens if Packet Size Exceeds the MTU?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Fragmentation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Drop (Especially IPv6)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Suggested subtraction of MTU due to encapsulation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VXLAN: 50 Bytes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Wireguard: 80 Bytes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  <p:sp>
        <p:nvSpPr>
          <p:cNvPr id="780" name="PlaceHolder 2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Maximum Transmission Unit (MTU)</a:t>
            </a:r>
            <a:endParaRPr b="0" lang="en-US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Autonomous System (AS)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AS Types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783" name="群組 10"/>
          <p:cNvGrpSpPr/>
          <p:nvPr/>
        </p:nvGrpSpPr>
        <p:grpSpPr>
          <a:xfrm>
            <a:off x="3094920" y="2269800"/>
            <a:ext cx="1760040" cy="1092240"/>
            <a:chOff x="3094920" y="2269800"/>
            <a:chExt cx="1760040" cy="1092240"/>
          </a:xfrm>
        </p:grpSpPr>
        <p:sp>
          <p:nvSpPr>
            <p:cNvPr id="784" name="橢圓 5"/>
            <p:cNvSpPr/>
            <p:nvPr/>
          </p:nvSpPr>
          <p:spPr>
            <a:xfrm>
              <a:off x="3094920" y="2357640"/>
              <a:ext cx="494640" cy="494640"/>
            </a:xfrm>
            <a:prstGeom prst="ellipse">
              <a:avLst/>
            </a:prstGeom>
            <a:solidFill>
              <a:srgbClr val="3297f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橢圓 6"/>
            <p:cNvSpPr/>
            <p:nvPr/>
          </p:nvSpPr>
          <p:spPr>
            <a:xfrm>
              <a:off x="4185000" y="2269800"/>
              <a:ext cx="669960" cy="66996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直線接點 8"/>
            <p:cNvSpPr/>
            <p:nvPr/>
          </p:nvSpPr>
          <p:spPr>
            <a:xfrm>
              <a:off x="3589920" y="2604960"/>
              <a:ext cx="594720" cy="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文字方塊 9"/>
            <p:cNvSpPr/>
            <p:nvPr/>
          </p:nvSpPr>
          <p:spPr>
            <a:xfrm>
              <a:off x="3094920" y="2967480"/>
              <a:ext cx="176004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3297fc"/>
                  </a:solidFill>
                  <a:latin typeface="Calibri"/>
                  <a:ea typeface="標楷體"/>
                </a:rPr>
                <a:t>Stub</a:t>
              </a:r>
              <a:endParaRPr b="0" lang="en-US" sz="2000" spc="-1" strike="noStrike">
                <a:latin typeface="Arial"/>
              </a:endParaRPr>
            </a:p>
          </p:txBody>
        </p:sp>
      </p:grpSp>
      <p:grpSp>
        <p:nvGrpSpPr>
          <p:cNvPr id="788" name="群組 11"/>
          <p:cNvGrpSpPr/>
          <p:nvPr/>
        </p:nvGrpSpPr>
        <p:grpSpPr>
          <a:xfrm>
            <a:off x="7669440" y="1657080"/>
            <a:ext cx="1760040" cy="2124000"/>
            <a:chOff x="7669440" y="1657080"/>
            <a:chExt cx="1760040" cy="2124000"/>
          </a:xfrm>
        </p:grpSpPr>
        <p:sp>
          <p:nvSpPr>
            <p:cNvPr id="789" name="橢圓 12"/>
            <p:cNvSpPr/>
            <p:nvPr/>
          </p:nvSpPr>
          <p:spPr>
            <a:xfrm>
              <a:off x="7669440" y="2136600"/>
              <a:ext cx="494640" cy="494640"/>
            </a:xfrm>
            <a:prstGeom prst="ellipse">
              <a:avLst/>
            </a:prstGeom>
            <a:solidFill>
              <a:srgbClr val="3297f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橢圓 13"/>
            <p:cNvSpPr/>
            <p:nvPr/>
          </p:nvSpPr>
          <p:spPr>
            <a:xfrm>
              <a:off x="8849880" y="2440800"/>
              <a:ext cx="579240" cy="5792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直線接點 14"/>
            <p:cNvSpPr/>
            <p:nvPr/>
          </p:nvSpPr>
          <p:spPr>
            <a:xfrm>
              <a:off x="8164440" y="2383920"/>
              <a:ext cx="685080" cy="34668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文字方塊 15"/>
            <p:cNvSpPr/>
            <p:nvPr/>
          </p:nvSpPr>
          <p:spPr>
            <a:xfrm>
              <a:off x="7669440" y="3081600"/>
              <a:ext cx="176004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3297fc"/>
                  </a:solidFill>
                  <a:latin typeface="Calibri"/>
                  <a:ea typeface="標楷體"/>
                </a:rPr>
                <a:t>Multi Homed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793" name="橢圓 18"/>
            <p:cNvSpPr/>
            <p:nvPr/>
          </p:nvSpPr>
          <p:spPr>
            <a:xfrm>
              <a:off x="8849880" y="1657080"/>
              <a:ext cx="579240" cy="5792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直線接點 19"/>
            <p:cNvSpPr/>
            <p:nvPr/>
          </p:nvSpPr>
          <p:spPr>
            <a:xfrm flipV="1">
              <a:off x="8164440" y="1946880"/>
              <a:ext cx="685080" cy="43704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95" name="群組 33"/>
          <p:cNvGrpSpPr/>
          <p:nvPr/>
        </p:nvGrpSpPr>
        <p:grpSpPr>
          <a:xfrm>
            <a:off x="2549520" y="4426920"/>
            <a:ext cx="3164760" cy="1213920"/>
            <a:chOff x="2549520" y="4426920"/>
            <a:chExt cx="3164760" cy="1213920"/>
          </a:xfrm>
        </p:grpSpPr>
        <p:grpSp>
          <p:nvGrpSpPr>
            <p:cNvPr id="796" name="群組 26"/>
            <p:cNvGrpSpPr/>
            <p:nvPr/>
          </p:nvGrpSpPr>
          <p:grpSpPr>
            <a:xfrm>
              <a:off x="2549520" y="4548960"/>
              <a:ext cx="2306880" cy="1091880"/>
              <a:chOff x="2549520" y="4548960"/>
              <a:chExt cx="2306880" cy="1091880"/>
            </a:xfrm>
          </p:grpSpPr>
          <p:sp>
            <p:nvSpPr>
              <p:cNvPr id="797" name="橢圓 27"/>
              <p:cNvSpPr/>
              <p:nvPr/>
            </p:nvSpPr>
            <p:spPr>
              <a:xfrm>
                <a:off x="2549520" y="4636440"/>
                <a:ext cx="494640" cy="49464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98" name="橢圓 28"/>
              <p:cNvSpPr/>
              <p:nvPr/>
            </p:nvSpPr>
            <p:spPr>
              <a:xfrm>
                <a:off x="3639960" y="4548960"/>
                <a:ext cx="669960" cy="669960"/>
              </a:xfrm>
              <a:prstGeom prst="ellipse">
                <a:avLst/>
              </a:prstGeom>
              <a:solidFill>
                <a:srgbClr val="3297fc"/>
              </a:solidFill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99" name="直線接點 29"/>
              <p:cNvSpPr/>
              <p:nvPr/>
            </p:nvSpPr>
            <p:spPr>
              <a:xfrm>
                <a:off x="3044880" y="4883760"/>
                <a:ext cx="594720" cy="36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00" name="文字方塊 30"/>
              <p:cNvSpPr/>
              <p:nvPr/>
            </p:nvSpPr>
            <p:spPr>
              <a:xfrm>
                <a:off x="3096360" y="5246280"/>
                <a:ext cx="176004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000" spc="-1" strike="noStrike">
                    <a:solidFill>
                      <a:srgbClr val="3297fc"/>
                    </a:solidFill>
                    <a:latin typeface="Calibri"/>
                    <a:ea typeface="標楷體"/>
                  </a:rPr>
                  <a:t>Transit</a:t>
                </a:r>
                <a:endParaRPr b="0" lang="en-US" sz="2000" spc="-1" strike="noStrike">
                  <a:latin typeface="Arial"/>
                </a:endParaRPr>
              </a:p>
            </p:txBody>
          </p:sp>
          <p:sp>
            <p:nvSpPr>
              <p:cNvPr id="801" name="直線接點 34"/>
              <p:cNvSpPr/>
              <p:nvPr/>
            </p:nvSpPr>
            <p:spPr>
              <a:xfrm>
                <a:off x="4310280" y="4883760"/>
                <a:ext cx="490320" cy="36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pic>
          <p:nvPicPr>
            <p:cNvPr id="802" name="圖形 32" descr="雲"/>
            <p:cNvPicPr/>
            <p:nvPr/>
          </p:nvPicPr>
          <p:blipFill>
            <a:blip r:embed="rId1"/>
            <a:stretch/>
          </p:blipFill>
          <p:spPr>
            <a:xfrm>
              <a:off x="4800600" y="4426920"/>
              <a:ext cx="913680" cy="913680"/>
            </a:xfrm>
            <a:prstGeom prst="rect">
              <a:avLst/>
            </a:prstGeom>
            <a:ln w="0">
              <a:noFill/>
            </a:ln>
          </p:spPr>
        </p:pic>
      </p:grpSp>
      <p:grpSp>
        <p:nvGrpSpPr>
          <p:cNvPr id="803" name="群組 38"/>
          <p:cNvGrpSpPr/>
          <p:nvPr/>
        </p:nvGrpSpPr>
        <p:grpSpPr>
          <a:xfrm>
            <a:off x="7176600" y="3710880"/>
            <a:ext cx="2745720" cy="2234880"/>
            <a:chOff x="7176600" y="3710880"/>
            <a:chExt cx="2745720" cy="2234880"/>
          </a:xfrm>
        </p:grpSpPr>
        <p:sp>
          <p:nvSpPr>
            <p:cNvPr id="804" name="橢圓 40"/>
            <p:cNvSpPr/>
            <p:nvPr/>
          </p:nvSpPr>
          <p:spPr>
            <a:xfrm>
              <a:off x="7176600" y="4636440"/>
              <a:ext cx="494640" cy="4946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橢圓 41"/>
            <p:cNvSpPr/>
            <p:nvPr/>
          </p:nvSpPr>
          <p:spPr>
            <a:xfrm>
              <a:off x="8267040" y="4548960"/>
              <a:ext cx="669960" cy="669960"/>
            </a:xfrm>
            <a:prstGeom prst="ellipse">
              <a:avLst/>
            </a:prstGeom>
            <a:solidFill>
              <a:srgbClr val="3297f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6" name="直線接點 42"/>
            <p:cNvSpPr/>
            <p:nvPr/>
          </p:nvSpPr>
          <p:spPr>
            <a:xfrm>
              <a:off x="7671960" y="4883760"/>
              <a:ext cx="594720" cy="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文字方塊 43"/>
            <p:cNvSpPr/>
            <p:nvPr/>
          </p:nvSpPr>
          <p:spPr>
            <a:xfrm>
              <a:off x="7176600" y="5246280"/>
              <a:ext cx="2745360" cy="69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3297fc"/>
                  </a:solidFill>
                  <a:latin typeface="Calibri"/>
                  <a:ea typeface="標楷體"/>
                </a:rPr>
                <a:t>Internet Exchange Point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808" name="直線接點 44"/>
            <p:cNvSpPr/>
            <p:nvPr/>
          </p:nvSpPr>
          <p:spPr>
            <a:xfrm>
              <a:off x="8937360" y="4883760"/>
              <a:ext cx="490320" cy="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9" name="橢圓 45"/>
            <p:cNvSpPr/>
            <p:nvPr/>
          </p:nvSpPr>
          <p:spPr>
            <a:xfrm>
              <a:off x="9427680" y="4636440"/>
              <a:ext cx="494640" cy="4946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0" name="橢圓 47"/>
            <p:cNvSpPr/>
            <p:nvPr/>
          </p:nvSpPr>
          <p:spPr>
            <a:xfrm>
              <a:off x="7613280" y="4014360"/>
              <a:ext cx="494640" cy="4946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1" name="橢圓 48"/>
            <p:cNvSpPr/>
            <p:nvPr/>
          </p:nvSpPr>
          <p:spPr>
            <a:xfrm>
              <a:off x="8354520" y="3710880"/>
              <a:ext cx="494640" cy="4946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2" name="橢圓 49"/>
            <p:cNvSpPr/>
            <p:nvPr/>
          </p:nvSpPr>
          <p:spPr>
            <a:xfrm>
              <a:off x="9080280" y="4016880"/>
              <a:ext cx="494640" cy="4946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3" name="直線接點 50"/>
            <p:cNvSpPr/>
            <p:nvPr/>
          </p:nvSpPr>
          <p:spPr>
            <a:xfrm>
              <a:off x="8035920" y="4436640"/>
              <a:ext cx="329040" cy="21024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4" name="直線接點 53"/>
            <p:cNvSpPr/>
            <p:nvPr/>
          </p:nvSpPr>
          <p:spPr>
            <a:xfrm>
              <a:off x="8602200" y="4206240"/>
              <a:ext cx="360" cy="342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5" name="直線接點 56"/>
            <p:cNvSpPr/>
            <p:nvPr/>
          </p:nvSpPr>
          <p:spPr>
            <a:xfrm flipH="1">
              <a:off x="8839080" y="4439520"/>
              <a:ext cx="313560" cy="207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16" name="橢圓 36"/>
          <p:cNvSpPr/>
          <p:nvPr/>
        </p:nvSpPr>
        <p:spPr>
          <a:xfrm>
            <a:off x="5133600" y="2272680"/>
            <a:ext cx="579240" cy="57924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橢圓 37"/>
          <p:cNvSpPr/>
          <p:nvPr/>
        </p:nvSpPr>
        <p:spPr>
          <a:xfrm>
            <a:off x="4485240" y="1467360"/>
            <a:ext cx="579240" cy="57924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advTm="160000" p14:dur="2000"/>
    </mc:Choice>
    <mc:Fallback>
      <p:transition spd="slow" advTm="160000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ISP Characteristic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19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Internet Service Provider (ISP)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 company or organization that provides individuals, enterprises, and other entities access to the internet.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Key Concepts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Internet Access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Internet Service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 Addresses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If you have been assigned an IP from NYCU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How does the Internet world routes packets to your IP’s location? 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How does others know the way to find you in the Internet world?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Goal: A vrouter in a small ISP and that manages internet resources.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177000" p14:dur="2000"/>
    </mc:Choice>
    <mc:Fallback>
      <p:transition spd="slow" advTm="177000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ISP Service Requirements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21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Service requirements for customers.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Routers to exchange other AS’s route.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Layer 2 modification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Packet handling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Service requirements for other ISPs.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Packet handling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Quality of Service (QoS)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125000" p14:dur="2000"/>
    </mc:Choice>
    <mc:Fallback>
      <p:transition spd="slow" advTm="125000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Configuration Requirements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are running an AS65xx0 and announcing prefixes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172.16.x.0/24.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2a0b:4e07:c4:xx::/64</a:t>
            </a: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help to transit prefixes announced by AS65xx1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172.17.x.0/24.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2a0b:4e07:c4:1xx::/64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IXP is AS65000 at 192.168.70.253/24 and fd70::fe/64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have to announce the prefixes you know to the IXP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can connect the IXP via</a:t>
            </a:r>
            <a:endParaRPr b="0" lang="en-US" sz="2400" spc="-1" strike="noStrike">
              <a:latin typeface="Arial"/>
            </a:endParaRPr>
          </a:p>
          <a:p>
            <a:pPr lvl="2" marL="792000" indent="-2160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192.168.70.x/24</a:t>
            </a:r>
            <a:endParaRPr b="0" lang="en-US" sz="2400" spc="-1" strike="noStrike">
              <a:latin typeface="Arial"/>
            </a:endParaRPr>
          </a:p>
          <a:p>
            <a:pPr lvl="2" marL="792000" indent="-2160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fd70::x/64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BGP Password is winlab.nycu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97000" p14:dur="2000"/>
    </mc:Choice>
    <mc:Fallback>
      <p:transition spd="slow" advTm="97000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OVS and VXLAN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2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can consider OVS as a bridge.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can create veth pairs and connect your container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can create VXLAN Tunnel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Let’s see if we can create a tunnel using `ovs-vsctl` and `ip` commands.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</p:txBody>
      </p:sp>
      <p:sp>
        <p:nvSpPr>
          <p:cNvPr id="826" name="矩形 8"/>
          <p:cNvSpPr/>
          <p:nvPr/>
        </p:nvSpPr>
        <p:spPr>
          <a:xfrm>
            <a:off x="1544760" y="3694680"/>
            <a:ext cx="3290760" cy="664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Dummy NIC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27" name="矩形 9"/>
          <p:cNvSpPr/>
          <p:nvPr/>
        </p:nvSpPr>
        <p:spPr>
          <a:xfrm>
            <a:off x="4441320" y="3742200"/>
            <a:ext cx="671400" cy="569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97d"/>
                </a:solidFill>
                <a:latin typeface="Times New Roman"/>
                <a:ea typeface="標楷體"/>
              </a:rPr>
              <a:t>Veth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28" name="矩形 10"/>
          <p:cNvSpPr/>
          <p:nvPr/>
        </p:nvSpPr>
        <p:spPr>
          <a:xfrm>
            <a:off x="7133040" y="3694680"/>
            <a:ext cx="3290760" cy="664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OvS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29" name="矩形 11"/>
          <p:cNvSpPr/>
          <p:nvPr/>
        </p:nvSpPr>
        <p:spPr>
          <a:xfrm>
            <a:off x="6797160" y="3742200"/>
            <a:ext cx="671400" cy="569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97d"/>
                </a:solidFill>
                <a:latin typeface="Times New Roman"/>
                <a:ea typeface="標楷體"/>
              </a:rPr>
              <a:t>Veth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30" name="直線接點 12"/>
          <p:cNvSpPr/>
          <p:nvPr/>
        </p:nvSpPr>
        <p:spPr>
          <a:xfrm>
            <a:off x="5113080" y="4026960"/>
            <a:ext cx="1683720" cy="360"/>
          </a:xfrm>
          <a:prstGeom prst="line">
            <a:avLst/>
          </a:prstGeom>
          <a:ln w="9525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31" name="文字方塊 13"/>
          <p:cNvSpPr/>
          <p:nvPr/>
        </p:nvSpPr>
        <p:spPr>
          <a:xfrm>
            <a:off x="2854080" y="3344400"/>
            <a:ext cx="242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192.168.100.1/24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advTm="86000" p14:dur="2000"/>
    </mc:Choice>
    <mc:Fallback>
      <p:transition spd="slow" advTm="86000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OVS and VXLAN (cont.)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833" name="圖片 3" descr=""/>
          <p:cNvPicPr/>
          <p:nvPr/>
        </p:nvPicPr>
        <p:blipFill>
          <a:blip r:embed="rId1"/>
          <a:stretch/>
        </p:blipFill>
        <p:spPr>
          <a:xfrm>
            <a:off x="700560" y="2171520"/>
            <a:ext cx="10507320" cy="2514240"/>
          </a:xfrm>
          <a:prstGeom prst="rect">
            <a:avLst/>
          </a:prstGeom>
          <a:ln w="0">
            <a:noFill/>
          </a:ln>
        </p:spPr>
      </p:pic>
      <p:sp>
        <p:nvSpPr>
          <p:cNvPr id="834" name="矩形 14"/>
          <p:cNvSpPr/>
          <p:nvPr/>
        </p:nvSpPr>
        <p:spPr>
          <a:xfrm>
            <a:off x="3827520" y="2171520"/>
            <a:ext cx="979920" cy="187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文字方塊 4"/>
          <p:cNvSpPr/>
          <p:nvPr/>
        </p:nvSpPr>
        <p:spPr>
          <a:xfrm>
            <a:off x="1203120" y="1496520"/>
            <a:ext cx="5140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Create a ovs switch named br-ta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6" name="直線單箭頭接點 6"/>
          <p:cNvSpPr/>
          <p:nvPr/>
        </p:nvSpPr>
        <p:spPr>
          <a:xfrm>
            <a:off x="3773160" y="1958040"/>
            <a:ext cx="543960" cy="212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1905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文字方塊 15"/>
          <p:cNvSpPr/>
          <p:nvPr/>
        </p:nvSpPr>
        <p:spPr>
          <a:xfrm>
            <a:off x="5996880" y="1496520"/>
            <a:ext cx="2640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Set ovs protocol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8" name="矩形 16"/>
          <p:cNvSpPr/>
          <p:nvPr/>
        </p:nvSpPr>
        <p:spPr>
          <a:xfrm>
            <a:off x="6225120" y="2171520"/>
            <a:ext cx="1546560" cy="187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直線單箭頭接點 17"/>
          <p:cNvSpPr/>
          <p:nvPr/>
        </p:nvSpPr>
        <p:spPr>
          <a:xfrm flipH="1">
            <a:off x="6998040" y="1958040"/>
            <a:ext cx="318240" cy="212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1905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0" name="矩形 20"/>
          <p:cNvSpPr/>
          <p:nvPr/>
        </p:nvSpPr>
        <p:spPr>
          <a:xfrm>
            <a:off x="9508320" y="2171520"/>
            <a:ext cx="1699560" cy="187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文字方塊 21"/>
          <p:cNvSpPr/>
          <p:nvPr/>
        </p:nvSpPr>
        <p:spPr>
          <a:xfrm>
            <a:off x="8919360" y="1496520"/>
            <a:ext cx="2852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Set ovs controller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42" name="直線單箭頭接點 22"/>
          <p:cNvSpPr/>
          <p:nvPr/>
        </p:nvSpPr>
        <p:spPr>
          <a:xfrm>
            <a:off x="10345680" y="1958040"/>
            <a:ext cx="11880" cy="212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1905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3" name="矩形 25"/>
          <p:cNvSpPr/>
          <p:nvPr/>
        </p:nvSpPr>
        <p:spPr>
          <a:xfrm>
            <a:off x="3827520" y="2359800"/>
            <a:ext cx="1970640" cy="153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直線單箭頭接點 26"/>
          <p:cNvSpPr/>
          <p:nvPr/>
        </p:nvSpPr>
        <p:spPr>
          <a:xfrm flipH="1" flipV="1">
            <a:off x="5798160" y="2436120"/>
            <a:ext cx="604440" cy="8906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1905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5" name="文字方塊 34"/>
          <p:cNvSpPr/>
          <p:nvPr/>
        </p:nvSpPr>
        <p:spPr>
          <a:xfrm>
            <a:off x="4969800" y="3328200"/>
            <a:ext cx="286740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ff0000"/>
                </a:solidFill>
                <a:latin typeface="Calibri"/>
                <a:ea typeface="標楷體"/>
              </a:rPr>
              <a:t>Create a VXLAN port name TO_TA_VXLAN on ovs swtich br-ta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6" name="文字方塊 42"/>
          <p:cNvSpPr/>
          <p:nvPr/>
        </p:nvSpPr>
        <p:spPr>
          <a:xfrm>
            <a:off x="8016120" y="2789280"/>
            <a:ext cx="31204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ff0000"/>
                </a:solidFill>
                <a:latin typeface="Calibri"/>
                <a:ea typeface="標楷體"/>
              </a:rPr>
              <a:t>Set VXLAN connected to IP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7" name="矩形 43"/>
          <p:cNvSpPr/>
          <p:nvPr/>
        </p:nvSpPr>
        <p:spPr>
          <a:xfrm>
            <a:off x="9296280" y="2359800"/>
            <a:ext cx="1911600" cy="153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8" name="直線單箭頭接點 44"/>
          <p:cNvSpPr/>
          <p:nvPr/>
        </p:nvSpPr>
        <p:spPr>
          <a:xfrm flipV="1">
            <a:off x="9576720" y="2513520"/>
            <a:ext cx="675000" cy="2743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1905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OVS and VXLAN (cont.)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50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can use docker to create an onos controller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If you have finish lest step, you shall see two switches connected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851" name="圖片 3" descr=""/>
          <p:cNvPicPr/>
          <p:nvPr/>
        </p:nvPicPr>
        <p:blipFill>
          <a:blip r:embed="rId1"/>
          <a:stretch/>
        </p:blipFill>
        <p:spPr>
          <a:xfrm>
            <a:off x="1127520" y="1446480"/>
            <a:ext cx="10434600" cy="184680"/>
          </a:xfrm>
          <a:prstGeom prst="rect">
            <a:avLst/>
          </a:prstGeom>
          <a:ln w="0">
            <a:noFill/>
          </a:ln>
        </p:spPr>
      </p:pic>
      <p:pic>
        <p:nvPicPr>
          <p:cNvPr id="852" name="圖片 4" descr=""/>
          <p:cNvPicPr/>
          <p:nvPr/>
        </p:nvPicPr>
        <p:blipFill>
          <a:blip r:embed="rId2"/>
          <a:stretch/>
        </p:blipFill>
        <p:spPr>
          <a:xfrm>
            <a:off x="2552400" y="2367720"/>
            <a:ext cx="7230240" cy="3821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advTm="63000" p14:dur="2000"/>
    </mc:Choice>
    <mc:Fallback>
      <p:transition spd="slow" advTm="63000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3" name="圖片 32" descr=""/>
          <p:cNvPicPr/>
          <p:nvPr/>
        </p:nvPicPr>
        <p:blipFill>
          <a:blip r:embed="rId1"/>
          <a:stretch/>
        </p:blipFill>
        <p:spPr>
          <a:xfrm>
            <a:off x="4698000" y="3451320"/>
            <a:ext cx="473400" cy="322920"/>
          </a:xfrm>
          <a:prstGeom prst="rect">
            <a:avLst/>
          </a:prstGeom>
          <a:ln w="0">
            <a:noFill/>
          </a:ln>
        </p:spPr>
      </p:pic>
      <p:pic>
        <p:nvPicPr>
          <p:cNvPr id="854" name="圖片 33" descr=""/>
          <p:cNvPicPr/>
          <p:nvPr/>
        </p:nvPicPr>
        <p:blipFill>
          <a:blip r:embed="rId2"/>
          <a:stretch/>
        </p:blipFill>
        <p:spPr>
          <a:xfrm>
            <a:off x="9530640" y="4011840"/>
            <a:ext cx="473400" cy="322920"/>
          </a:xfrm>
          <a:prstGeom prst="rect">
            <a:avLst/>
          </a:prstGeom>
          <a:ln w="0">
            <a:noFill/>
          </a:ln>
        </p:spPr>
      </p:pic>
      <p:pic>
        <p:nvPicPr>
          <p:cNvPr id="855" name="圖片 34" descr=""/>
          <p:cNvPicPr/>
          <p:nvPr/>
        </p:nvPicPr>
        <p:blipFill>
          <a:blip r:embed="rId3"/>
          <a:stretch/>
        </p:blipFill>
        <p:spPr>
          <a:xfrm>
            <a:off x="5055480" y="431028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856" name="矩形 7"/>
          <p:cNvSpPr/>
          <p:nvPr/>
        </p:nvSpPr>
        <p:spPr>
          <a:xfrm>
            <a:off x="4635000" y="1475280"/>
            <a:ext cx="5525280" cy="46375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文字方塊 12"/>
          <p:cNvSpPr/>
          <p:nvPr/>
        </p:nvSpPr>
        <p:spPr>
          <a:xfrm>
            <a:off x="4434480" y="1475280"/>
            <a:ext cx="1694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AS65030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58" name="矩形 88"/>
          <p:cNvSpPr/>
          <p:nvPr/>
        </p:nvSpPr>
        <p:spPr>
          <a:xfrm>
            <a:off x="8658000" y="2845440"/>
            <a:ext cx="1242000" cy="4158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ONOS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59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Topology Template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60" name="直線接點 31"/>
          <p:cNvSpPr/>
          <p:nvPr/>
        </p:nvSpPr>
        <p:spPr>
          <a:xfrm>
            <a:off x="3753720" y="3624840"/>
            <a:ext cx="1309680" cy="13320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1" name="矩形 4"/>
          <p:cNvSpPr/>
          <p:nvPr/>
        </p:nvSpPr>
        <p:spPr>
          <a:xfrm>
            <a:off x="641160" y="3163680"/>
            <a:ext cx="2881800" cy="878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2" name="文字方塊 11"/>
          <p:cNvSpPr/>
          <p:nvPr/>
        </p:nvSpPr>
        <p:spPr>
          <a:xfrm>
            <a:off x="424080" y="3163320"/>
            <a:ext cx="1944360" cy="516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c0504d"/>
                </a:solidFill>
                <a:latin typeface="Calibri"/>
                <a:ea typeface="標楷體"/>
              </a:rPr>
              <a:t>AS65031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63" name="矩形 66"/>
          <p:cNvSpPr/>
          <p:nvPr/>
        </p:nvSpPr>
        <p:spPr>
          <a:xfrm>
            <a:off x="732960" y="3665160"/>
            <a:ext cx="1428840" cy="3229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3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64" name="直線接點 69"/>
          <p:cNvSpPr/>
          <p:nvPr/>
        </p:nvSpPr>
        <p:spPr>
          <a:xfrm flipV="1">
            <a:off x="2162160" y="3624840"/>
            <a:ext cx="1117440" cy="20232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5" name="文字方塊 2"/>
          <p:cNvSpPr/>
          <p:nvPr/>
        </p:nvSpPr>
        <p:spPr>
          <a:xfrm>
            <a:off x="557640" y="2355120"/>
            <a:ext cx="3209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172.17.xx.1/24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2a0b:4e07:c4:1xx::1/64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866" name="圖片 104" descr=""/>
          <p:cNvPicPr/>
          <p:nvPr/>
        </p:nvPicPr>
        <p:blipFill>
          <a:blip r:embed="rId4"/>
          <a:stretch/>
        </p:blipFill>
        <p:spPr>
          <a:xfrm>
            <a:off x="3279600" y="346320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867" name="文字方塊 105"/>
          <p:cNvSpPr/>
          <p:nvPr/>
        </p:nvSpPr>
        <p:spPr>
          <a:xfrm>
            <a:off x="59040" y="4030200"/>
            <a:ext cx="3209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172.17.xx.2/24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2a0b:4e07:c4:1xx::2/64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8" name="矩形 108"/>
          <p:cNvSpPr/>
          <p:nvPr/>
        </p:nvSpPr>
        <p:spPr>
          <a:xfrm>
            <a:off x="5063760" y="3532680"/>
            <a:ext cx="1515600" cy="4503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OVS1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69" name="矩形 109"/>
          <p:cNvSpPr/>
          <p:nvPr/>
        </p:nvSpPr>
        <p:spPr>
          <a:xfrm>
            <a:off x="5529600" y="5083200"/>
            <a:ext cx="1515600" cy="4503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OVS2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70" name="直線接點 111"/>
          <p:cNvSpPr/>
          <p:nvPr/>
        </p:nvSpPr>
        <p:spPr>
          <a:xfrm>
            <a:off x="5821560" y="3983760"/>
            <a:ext cx="466200" cy="109944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1" name="文字方塊 116"/>
          <p:cNvSpPr/>
          <p:nvPr/>
        </p:nvSpPr>
        <p:spPr>
          <a:xfrm>
            <a:off x="8289000" y="2474640"/>
            <a:ext cx="242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192.168.100.2/24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72" name="直線接點 117"/>
          <p:cNvSpPr/>
          <p:nvPr/>
        </p:nvSpPr>
        <p:spPr>
          <a:xfrm flipV="1">
            <a:off x="6579720" y="3261960"/>
            <a:ext cx="2699280" cy="496080"/>
          </a:xfrm>
          <a:prstGeom prst="line">
            <a:avLst/>
          </a:prstGeom>
          <a:ln w="19050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直線接點 119"/>
          <p:cNvSpPr/>
          <p:nvPr/>
        </p:nvSpPr>
        <p:spPr>
          <a:xfrm flipV="1">
            <a:off x="7045920" y="3261960"/>
            <a:ext cx="2233080" cy="2046600"/>
          </a:xfrm>
          <a:prstGeom prst="line">
            <a:avLst/>
          </a:prstGeom>
          <a:ln w="19050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4" name="矩形 148"/>
          <p:cNvSpPr/>
          <p:nvPr/>
        </p:nvSpPr>
        <p:spPr>
          <a:xfrm>
            <a:off x="6467040" y="2775960"/>
            <a:ext cx="1802160" cy="4622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FRRouting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75" name="直線接點 149"/>
          <p:cNvSpPr/>
          <p:nvPr/>
        </p:nvSpPr>
        <p:spPr>
          <a:xfrm flipV="1">
            <a:off x="6579720" y="3238560"/>
            <a:ext cx="788760" cy="51948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直線單箭頭接點 123"/>
          <p:cNvSpPr/>
          <p:nvPr/>
        </p:nvSpPr>
        <p:spPr>
          <a:xfrm>
            <a:off x="2162520" y="3001320"/>
            <a:ext cx="1116720" cy="6228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77" name="文字方塊 156"/>
          <p:cNvSpPr/>
          <p:nvPr/>
        </p:nvSpPr>
        <p:spPr>
          <a:xfrm>
            <a:off x="2871360" y="4214880"/>
            <a:ext cx="2267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192.168.63.2/24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fd63::2/64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78" name="直線單箭頭接點 157"/>
          <p:cNvSpPr/>
          <p:nvPr/>
        </p:nvSpPr>
        <p:spPr>
          <a:xfrm flipH="1" flipV="1">
            <a:off x="3753000" y="3624480"/>
            <a:ext cx="250560" cy="5889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79" name="文字方塊 197"/>
          <p:cNvSpPr/>
          <p:nvPr/>
        </p:nvSpPr>
        <p:spPr>
          <a:xfrm>
            <a:off x="2786760" y="5394240"/>
            <a:ext cx="305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172.16.xx.2/24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2a0b:4e07:c4:xx::2/64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0" name="矩形 198"/>
          <p:cNvSpPr/>
          <p:nvPr/>
        </p:nvSpPr>
        <p:spPr>
          <a:xfrm>
            <a:off x="3524040" y="5045400"/>
            <a:ext cx="13968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81" name="直線接點 199"/>
          <p:cNvSpPr/>
          <p:nvPr/>
        </p:nvSpPr>
        <p:spPr>
          <a:xfrm>
            <a:off x="4921560" y="5225760"/>
            <a:ext cx="607680" cy="8280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2" name="文字方塊 18"/>
          <p:cNvSpPr/>
          <p:nvPr/>
        </p:nvSpPr>
        <p:spPr>
          <a:xfrm>
            <a:off x="5880600" y="1205640"/>
            <a:ext cx="5233680" cy="1312920"/>
          </a:xfrm>
          <a:prstGeom prst="rect">
            <a:avLst/>
          </a:prstGeom>
          <a:noFill/>
          <a:ln w="28575">
            <a:solidFill>
              <a:srgbClr val="e46c0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2" spcCol="0" wrap="none"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192.168.63.1/24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192.168.70.xx/24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172.16.xx.1/24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192.168.100.3/24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fd63::1/64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fd70::xx/64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2a0b:4e07:c4:xx::1/64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  <p:sp>
        <p:nvSpPr>
          <p:cNvPr id="883" name="直線單箭頭接點 68"/>
          <p:cNvSpPr/>
          <p:nvPr/>
        </p:nvSpPr>
        <p:spPr>
          <a:xfrm>
            <a:off x="7368840" y="2542320"/>
            <a:ext cx="360" cy="232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2857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84" name="矩形 23"/>
          <p:cNvSpPr/>
          <p:nvPr/>
        </p:nvSpPr>
        <p:spPr>
          <a:xfrm>
            <a:off x="4447080" y="3550320"/>
            <a:ext cx="367920" cy="293760"/>
          </a:xfrm>
          <a:prstGeom prst="rect">
            <a:avLst/>
          </a:prstGeom>
          <a:solidFill>
            <a:srgbClr val="ff0000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885" name="群組 58"/>
          <p:cNvGrpSpPr/>
          <p:nvPr/>
        </p:nvGrpSpPr>
        <p:grpSpPr>
          <a:xfrm>
            <a:off x="6131160" y="5534280"/>
            <a:ext cx="284760" cy="925200"/>
            <a:chOff x="6131160" y="5534280"/>
            <a:chExt cx="284760" cy="925200"/>
          </a:xfrm>
        </p:grpSpPr>
        <p:sp>
          <p:nvSpPr>
            <p:cNvPr id="886" name="直線接點 59"/>
            <p:cNvSpPr/>
            <p:nvPr/>
          </p:nvSpPr>
          <p:spPr>
            <a:xfrm flipV="1">
              <a:off x="6287760" y="5534280"/>
              <a:ext cx="360" cy="92520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87" name="矩形 60"/>
            <p:cNvSpPr/>
            <p:nvPr/>
          </p:nvSpPr>
          <p:spPr>
            <a:xfrm rot="16200000">
              <a:off x="5860440" y="5899320"/>
              <a:ext cx="825840" cy="2847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VXLAN</a:t>
              </a:r>
              <a:endParaRPr b="0" lang="en-US" sz="1400" spc="-1" strike="noStrike">
                <a:latin typeface="Arial"/>
              </a:endParaRPr>
            </a:p>
          </p:txBody>
        </p:sp>
      </p:grpSp>
      <p:sp>
        <p:nvSpPr>
          <p:cNvPr id="888" name="矩形 61"/>
          <p:cNvSpPr/>
          <p:nvPr/>
        </p:nvSpPr>
        <p:spPr>
          <a:xfrm>
            <a:off x="3613320" y="2553480"/>
            <a:ext cx="13968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89" name="直線接點 62"/>
          <p:cNvSpPr/>
          <p:nvPr/>
        </p:nvSpPr>
        <p:spPr>
          <a:xfrm>
            <a:off x="5010840" y="2733840"/>
            <a:ext cx="810720" cy="79884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0" name="文字方塊 64"/>
          <p:cNvSpPr/>
          <p:nvPr/>
        </p:nvSpPr>
        <p:spPr>
          <a:xfrm>
            <a:off x="2900160" y="1889640"/>
            <a:ext cx="305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172.16.xx.3/24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2a0b:4e07:c4:xx::3/64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advTm="226000" p14:dur="2000"/>
    </mc:Choice>
    <mc:Fallback>
      <p:transition spd="slow" advTm="226000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1" name="圖片 32" descr=""/>
          <p:cNvPicPr/>
          <p:nvPr/>
        </p:nvPicPr>
        <p:blipFill>
          <a:blip r:embed="rId1"/>
          <a:stretch/>
        </p:blipFill>
        <p:spPr>
          <a:xfrm>
            <a:off x="4698000" y="3451320"/>
            <a:ext cx="473400" cy="322920"/>
          </a:xfrm>
          <a:prstGeom prst="rect">
            <a:avLst/>
          </a:prstGeom>
          <a:ln w="0">
            <a:noFill/>
          </a:ln>
        </p:spPr>
      </p:pic>
      <p:pic>
        <p:nvPicPr>
          <p:cNvPr id="892" name="圖片 33" descr=""/>
          <p:cNvPicPr/>
          <p:nvPr/>
        </p:nvPicPr>
        <p:blipFill>
          <a:blip r:embed="rId2"/>
          <a:stretch/>
        </p:blipFill>
        <p:spPr>
          <a:xfrm>
            <a:off x="9530640" y="4011840"/>
            <a:ext cx="473400" cy="322920"/>
          </a:xfrm>
          <a:prstGeom prst="rect">
            <a:avLst/>
          </a:prstGeom>
          <a:ln w="0">
            <a:noFill/>
          </a:ln>
        </p:spPr>
      </p:pic>
      <p:pic>
        <p:nvPicPr>
          <p:cNvPr id="893" name="圖片 34" descr=""/>
          <p:cNvPicPr/>
          <p:nvPr/>
        </p:nvPicPr>
        <p:blipFill>
          <a:blip r:embed="rId3"/>
          <a:stretch/>
        </p:blipFill>
        <p:spPr>
          <a:xfrm>
            <a:off x="5055480" y="431028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894" name="矩形 7"/>
          <p:cNvSpPr/>
          <p:nvPr/>
        </p:nvSpPr>
        <p:spPr>
          <a:xfrm>
            <a:off x="4635000" y="1475280"/>
            <a:ext cx="5525280" cy="46375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5" name="文字方塊 12"/>
          <p:cNvSpPr/>
          <p:nvPr/>
        </p:nvSpPr>
        <p:spPr>
          <a:xfrm>
            <a:off x="4434480" y="1475280"/>
            <a:ext cx="1694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AS65030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96" name="矩形 88"/>
          <p:cNvSpPr/>
          <p:nvPr/>
        </p:nvSpPr>
        <p:spPr>
          <a:xfrm>
            <a:off x="8658000" y="2845440"/>
            <a:ext cx="1242000" cy="4158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ONOS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97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Sample Topology  (x=3)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98" name="直線接點 31"/>
          <p:cNvSpPr/>
          <p:nvPr/>
        </p:nvSpPr>
        <p:spPr>
          <a:xfrm>
            <a:off x="3753720" y="3624840"/>
            <a:ext cx="1309680" cy="13320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矩形 4"/>
          <p:cNvSpPr/>
          <p:nvPr/>
        </p:nvSpPr>
        <p:spPr>
          <a:xfrm>
            <a:off x="641160" y="3163680"/>
            <a:ext cx="2881800" cy="878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0" name="文字方塊 11"/>
          <p:cNvSpPr/>
          <p:nvPr/>
        </p:nvSpPr>
        <p:spPr>
          <a:xfrm>
            <a:off x="424080" y="3163320"/>
            <a:ext cx="1944360" cy="516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c0504d"/>
                </a:solidFill>
                <a:latin typeface="Calibri"/>
                <a:ea typeface="標楷體"/>
              </a:rPr>
              <a:t>AS65031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01" name="矩形 66"/>
          <p:cNvSpPr/>
          <p:nvPr/>
        </p:nvSpPr>
        <p:spPr>
          <a:xfrm>
            <a:off x="732960" y="3665160"/>
            <a:ext cx="1428840" cy="3229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3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02" name="直線接點 69"/>
          <p:cNvSpPr/>
          <p:nvPr/>
        </p:nvSpPr>
        <p:spPr>
          <a:xfrm flipV="1">
            <a:off x="2162160" y="3624840"/>
            <a:ext cx="1117440" cy="20232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3" name="文字方塊 2"/>
          <p:cNvSpPr/>
          <p:nvPr/>
        </p:nvSpPr>
        <p:spPr>
          <a:xfrm>
            <a:off x="552600" y="2355120"/>
            <a:ext cx="3230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172.17.3.1/24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2a0b:4e07:c4:103::1/64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904" name="圖片 104" descr=""/>
          <p:cNvPicPr/>
          <p:nvPr/>
        </p:nvPicPr>
        <p:blipFill>
          <a:blip r:embed="rId4"/>
          <a:stretch/>
        </p:blipFill>
        <p:spPr>
          <a:xfrm>
            <a:off x="3279600" y="346320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905" name="文字方塊 105"/>
          <p:cNvSpPr/>
          <p:nvPr/>
        </p:nvSpPr>
        <p:spPr>
          <a:xfrm>
            <a:off x="48240" y="4030200"/>
            <a:ext cx="3230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172.17.3.2/24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2a0b:4e07:c4:103::2/64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6" name="矩形 108"/>
          <p:cNvSpPr/>
          <p:nvPr/>
        </p:nvSpPr>
        <p:spPr>
          <a:xfrm>
            <a:off x="5063760" y="3532680"/>
            <a:ext cx="1515600" cy="4503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OVS1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07" name="矩形 109"/>
          <p:cNvSpPr/>
          <p:nvPr/>
        </p:nvSpPr>
        <p:spPr>
          <a:xfrm>
            <a:off x="5529600" y="5083200"/>
            <a:ext cx="1515600" cy="4503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OVS2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08" name="直線接點 111"/>
          <p:cNvSpPr/>
          <p:nvPr/>
        </p:nvSpPr>
        <p:spPr>
          <a:xfrm>
            <a:off x="5821560" y="3983760"/>
            <a:ext cx="466200" cy="109944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文字方塊 116"/>
          <p:cNvSpPr/>
          <p:nvPr/>
        </p:nvSpPr>
        <p:spPr>
          <a:xfrm>
            <a:off x="8289000" y="2474640"/>
            <a:ext cx="242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192.168.100.2/24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0" name="直線接點 117"/>
          <p:cNvSpPr/>
          <p:nvPr/>
        </p:nvSpPr>
        <p:spPr>
          <a:xfrm flipV="1">
            <a:off x="6579720" y="3261960"/>
            <a:ext cx="2699280" cy="496080"/>
          </a:xfrm>
          <a:prstGeom prst="line">
            <a:avLst/>
          </a:prstGeom>
          <a:ln w="19050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1" name="直線接點 119"/>
          <p:cNvSpPr/>
          <p:nvPr/>
        </p:nvSpPr>
        <p:spPr>
          <a:xfrm flipV="1">
            <a:off x="7045920" y="3261960"/>
            <a:ext cx="2233080" cy="2046600"/>
          </a:xfrm>
          <a:prstGeom prst="line">
            <a:avLst/>
          </a:prstGeom>
          <a:ln w="19050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矩形 148"/>
          <p:cNvSpPr/>
          <p:nvPr/>
        </p:nvSpPr>
        <p:spPr>
          <a:xfrm>
            <a:off x="6467040" y="2775960"/>
            <a:ext cx="1802160" cy="4622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FRRouting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13" name="直線接點 149"/>
          <p:cNvSpPr/>
          <p:nvPr/>
        </p:nvSpPr>
        <p:spPr>
          <a:xfrm flipV="1">
            <a:off x="6579720" y="3238560"/>
            <a:ext cx="788760" cy="51948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4" name="直線單箭頭接點 123"/>
          <p:cNvSpPr/>
          <p:nvPr/>
        </p:nvSpPr>
        <p:spPr>
          <a:xfrm>
            <a:off x="2167920" y="3001320"/>
            <a:ext cx="1110960" cy="6228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文字方塊 156"/>
          <p:cNvSpPr/>
          <p:nvPr/>
        </p:nvSpPr>
        <p:spPr>
          <a:xfrm>
            <a:off x="2871360" y="4214880"/>
            <a:ext cx="2267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192.168.63.2/24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fd63::2/64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6" name="直線單箭頭接點 157"/>
          <p:cNvSpPr/>
          <p:nvPr/>
        </p:nvSpPr>
        <p:spPr>
          <a:xfrm flipH="1" flipV="1">
            <a:off x="3753000" y="3624480"/>
            <a:ext cx="250560" cy="5889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17" name="文字方塊 197"/>
          <p:cNvSpPr/>
          <p:nvPr/>
        </p:nvSpPr>
        <p:spPr>
          <a:xfrm>
            <a:off x="2808000" y="5394240"/>
            <a:ext cx="2913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172.16.3.2/24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2a0b:4e07:c4:3::2/64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8" name="矩形 198"/>
          <p:cNvSpPr/>
          <p:nvPr/>
        </p:nvSpPr>
        <p:spPr>
          <a:xfrm>
            <a:off x="3524040" y="5045400"/>
            <a:ext cx="13968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19" name="直線接點 199"/>
          <p:cNvSpPr/>
          <p:nvPr/>
        </p:nvSpPr>
        <p:spPr>
          <a:xfrm>
            <a:off x="4921560" y="5225760"/>
            <a:ext cx="607680" cy="8280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0" name="文字方塊 18"/>
          <p:cNvSpPr/>
          <p:nvPr/>
        </p:nvSpPr>
        <p:spPr>
          <a:xfrm>
            <a:off x="5880600" y="1205640"/>
            <a:ext cx="5233680" cy="1312920"/>
          </a:xfrm>
          <a:prstGeom prst="rect">
            <a:avLst/>
          </a:prstGeom>
          <a:noFill/>
          <a:ln w="28575">
            <a:solidFill>
              <a:srgbClr val="e46c0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2" spcCol="0" wrap="none"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192.168.63.1/24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192.168.70.3/24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172.16.3.1/24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192.168.100.3/24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fd63::1/64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fd70::3/64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2a0b:4e07:c4:3::1/64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  <p:sp>
        <p:nvSpPr>
          <p:cNvPr id="921" name="直線單箭頭接點 68"/>
          <p:cNvSpPr/>
          <p:nvPr/>
        </p:nvSpPr>
        <p:spPr>
          <a:xfrm>
            <a:off x="7368840" y="2542320"/>
            <a:ext cx="360" cy="232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2857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22" name="矩形 23"/>
          <p:cNvSpPr/>
          <p:nvPr/>
        </p:nvSpPr>
        <p:spPr>
          <a:xfrm>
            <a:off x="4447080" y="3550320"/>
            <a:ext cx="367920" cy="293760"/>
          </a:xfrm>
          <a:prstGeom prst="rect">
            <a:avLst/>
          </a:prstGeom>
          <a:solidFill>
            <a:srgbClr val="ff0000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923" name="群組 58"/>
          <p:cNvGrpSpPr/>
          <p:nvPr/>
        </p:nvGrpSpPr>
        <p:grpSpPr>
          <a:xfrm>
            <a:off x="6131160" y="5534280"/>
            <a:ext cx="284760" cy="925200"/>
            <a:chOff x="6131160" y="5534280"/>
            <a:chExt cx="284760" cy="925200"/>
          </a:xfrm>
        </p:grpSpPr>
        <p:sp>
          <p:nvSpPr>
            <p:cNvPr id="924" name="直線接點 59"/>
            <p:cNvSpPr/>
            <p:nvPr/>
          </p:nvSpPr>
          <p:spPr>
            <a:xfrm flipV="1">
              <a:off x="6287760" y="5534280"/>
              <a:ext cx="360" cy="92520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矩形 60"/>
            <p:cNvSpPr/>
            <p:nvPr/>
          </p:nvSpPr>
          <p:spPr>
            <a:xfrm rot="16200000">
              <a:off x="5860440" y="5899320"/>
              <a:ext cx="825840" cy="2847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VXLAN</a:t>
              </a:r>
              <a:endParaRPr b="0" lang="en-US" sz="1400" spc="-1" strike="noStrike">
                <a:latin typeface="Arial"/>
              </a:endParaRPr>
            </a:p>
          </p:txBody>
        </p:sp>
      </p:grpSp>
      <p:sp>
        <p:nvSpPr>
          <p:cNvPr id="926" name="矩形 61"/>
          <p:cNvSpPr/>
          <p:nvPr/>
        </p:nvSpPr>
        <p:spPr>
          <a:xfrm>
            <a:off x="3613320" y="2553480"/>
            <a:ext cx="13968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27" name="直線接點 62"/>
          <p:cNvSpPr/>
          <p:nvPr/>
        </p:nvSpPr>
        <p:spPr>
          <a:xfrm>
            <a:off x="5010840" y="2733840"/>
            <a:ext cx="810720" cy="79884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8" name="文字方塊 64"/>
          <p:cNvSpPr/>
          <p:nvPr/>
        </p:nvSpPr>
        <p:spPr>
          <a:xfrm>
            <a:off x="2921400" y="1889640"/>
            <a:ext cx="2913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172.16.3.3/24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2a0b:4e07:c4:3::3/64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advTm="226000" p14:dur="2000"/>
    </mc:Choice>
    <mc:Fallback>
      <p:transition spd="slow" advTm="226000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PlaceHolder 1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68200" indent="-268200" algn="just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To avoid misconfiguration, don’t use a-f as IP in your settings.</a:t>
            </a:r>
            <a:endParaRPr b="0" lang="en-US" sz="2400" spc="-1" strike="noStrike">
              <a:latin typeface="Arial"/>
            </a:endParaRPr>
          </a:p>
          <a:p>
            <a:pPr lvl="1" marL="504000" indent="-216000" algn="just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Use 25, instead</a:t>
            </a:r>
            <a:endParaRPr b="0" lang="en-US" sz="24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  <a:buNone/>
            </a:pPr>
            <a:endParaRPr b="0" lang="en-US" sz="2400" spc="-1" strike="noStrike">
              <a:latin typeface="Arial"/>
            </a:endParaRPr>
          </a:p>
        </p:txBody>
      </p:sp>
      <p:pic>
        <p:nvPicPr>
          <p:cNvPr id="930" name="圖片 32" descr=""/>
          <p:cNvPicPr/>
          <p:nvPr/>
        </p:nvPicPr>
        <p:blipFill>
          <a:blip r:embed="rId1"/>
          <a:stretch/>
        </p:blipFill>
        <p:spPr>
          <a:xfrm>
            <a:off x="4698000" y="3451320"/>
            <a:ext cx="473400" cy="322920"/>
          </a:xfrm>
          <a:prstGeom prst="rect">
            <a:avLst/>
          </a:prstGeom>
          <a:ln w="0">
            <a:noFill/>
          </a:ln>
        </p:spPr>
      </p:pic>
      <p:pic>
        <p:nvPicPr>
          <p:cNvPr id="931" name="圖片 33" descr=""/>
          <p:cNvPicPr/>
          <p:nvPr/>
        </p:nvPicPr>
        <p:blipFill>
          <a:blip r:embed="rId2"/>
          <a:stretch/>
        </p:blipFill>
        <p:spPr>
          <a:xfrm>
            <a:off x="9530640" y="4011840"/>
            <a:ext cx="473400" cy="322920"/>
          </a:xfrm>
          <a:prstGeom prst="rect">
            <a:avLst/>
          </a:prstGeom>
          <a:ln w="0">
            <a:noFill/>
          </a:ln>
        </p:spPr>
      </p:pic>
      <p:pic>
        <p:nvPicPr>
          <p:cNvPr id="932" name="圖片 34" descr=""/>
          <p:cNvPicPr/>
          <p:nvPr/>
        </p:nvPicPr>
        <p:blipFill>
          <a:blip r:embed="rId3"/>
          <a:stretch/>
        </p:blipFill>
        <p:spPr>
          <a:xfrm>
            <a:off x="5055480" y="431028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933" name="矩形 7"/>
          <p:cNvSpPr/>
          <p:nvPr/>
        </p:nvSpPr>
        <p:spPr>
          <a:xfrm>
            <a:off x="4635000" y="1475280"/>
            <a:ext cx="5525280" cy="46375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文字方塊 12"/>
          <p:cNvSpPr/>
          <p:nvPr/>
        </p:nvSpPr>
        <p:spPr>
          <a:xfrm>
            <a:off x="4434480" y="1475280"/>
            <a:ext cx="1694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AS65250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35" name="矩形 88"/>
          <p:cNvSpPr/>
          <p:nvPr/>
        </p:nvSpPr>
        <p:spPr>
          <a:xfrm>
            <a:off x="8658000" y="2845440"/>
            <a:ext cx="1242000" cy="4158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ONOS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36" name="PlaceHolder 2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Sample Topology  (x=25)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37" name="直線接點 31"/>
          <p:cNvSpPr/>
          <p:nvPr/>
        </p:nvSpPr>
        <p:spPr>
          <a:xfrm>
            <a:off x="3753720" y="3624840"/>
            <a:ext cx="1309680" cy="13320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8" name="矩形 4"/>
          <p:cNvSpPr/>
          <p:nvPr/>
        </p:nvSpPr>
        <p:spPr>
          <a:xfrm>
            <a:off x="641160" y="3163680"/>
            <a:ext cx="2881800" cy="878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9" name="文字方塊 11"/>
          <p:cNvSpPr/>
          <p:nvPr/>
        </p:nvSpPr>
        <p:spPr>
          <a:xfrm>
            <a:off x="424080" y="3163320"/>
            <a:ext cx="1944360" cy="516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c0504d"/>
                </a:solidFill>
                <a:latin typeface="Calibri"/>
                <a:ea typeface="標楷體"/>
              </a:rPr>
              <a:t>AS65251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40" name="矩形 66"/>
          <p:cNvSpPr/>
          <p:nvPr/>
        </p:nvSpPr>
        <p:spPr>
          <a:xfrm>
            <a:off x="732960" y="3665160"/>
            <a:ext cx="1428840" cy="3229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3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41" name="直線接點 69"/>
          <p:cNvSpPr/>
          <p:nvPr/>
        </p:nvSpPr>
        <p:spPr>
          <a:xfrm flipV="1">
            <a:off x="2162160" y="3624840"/>
            <a:ext cx="1117440" cy="20232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2" name="文字方塊 2"/>
          <p:cNvSpPr/>
          <p:nvPr/>
        </p:nvSpPr>
        <p:spPr>
          <a:xfrm>
            <a:off x="552600" y="2355120"/>
            <a:ext cx="3230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172.17.25.1/24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2a0b:4e07:c4:103::1/64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943" name="圖片 104" descr=""/>
          <p:cNvPicPr/>
          <p:nvPr/>
        </p:nvPicPr>
        <p:blipFill>
          <a:blip r:embed="rId4"/>
          <a:stretch/>
        </p:blipFill>
        <p:spPr>
          <a:xfrm>
            <a:off x="3279600" y="3463200"/>
            <a:ext cx="473400" cy="322920"/>
          </a:xfrm>
          <a:prstGeom prst="rect">
            <a:avLst/>
          </a:prstGeom>
          <a:ln w="0">
            <a:noFill/>
          </a:ln>
        </p:spPr>
      </p:pic>
      <p:sp>
        <p:nvSpPr>
          <p:cNvPr id="944" name="文字方塊 105"/>
          <p:cNvSpPr/>
          <p:nvPr/>
        </p:nvSpPr>
        <p:spPr>
          <a:xfrm>
            <a:off x="48240" y="4030200"/>
            <a:ext cx="3230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172.17.25.2/24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2a0b:4e07:c4:125::2/64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45" name="矩形 108"/>
          <p:cNvSpPr/>
          <p:nvPr/>
        </p:nvSpPr>
        <p:spPr>
          <a:xfrm>
            <a:off x="5063760" y="3532680"/>
            <a:ext cx="1515600" cy="4503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OVS1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46" name="矩形 109"/>
          <p:cNvSpPr/>
          <p:nvPr/>
        </p:nvSpPr>
        <p:spPr>
          <a:xfrm>
            <a:off x="5529600" y="5083200"/>
            <a:ext cx="1515600" cy="4503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OVS2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47" name="直線接點 111"/>
          <p:cNvSpPr/>
          <p:nvPr/>
        </p:nvSpPr>
        <p:spPr>
          <a:xfrm>
            <a:off x="5821560" y="3983760"/>
            <a:ext cx="466200" cy="109944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8" name="文字方塊 116"/>
          <p:cNvSpPr/>
          <p:nvPr/>
        </p:nvSpPr>
        <p:spPr>
          <a:xfrm>
            <a:off x="9578160" y="2869560"/>
            <a:ext cx="242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192.168.100.2/24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49" name="直線接點 117"/>
          <p:cNvSpPr/>
          <p:nvPr/>
        </p:nvSpPr>
        <p:spPr>
          <a:xfrm flipV="1">
            <a:off x="6579720" y="3261960"/>
            <a:ext cx="2699280" cy="496080"/>
          </a:xfrm>
          <a:prstGeom prst="line">
            <a:avLst/>
          </a:prstGeom>
          <a:ln w="19050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0" name="直線接點 119"/>
          <p:cNvSpPr/>
          <p:nvPr/>
        </p:nvSpPr>
        <p:spPr>
          <a:xfrm flipV="1">
            <a:off x="7045920" y="3261960"/>
            <a:ext cx="2233080" cy="2046600"/>
          </a:xfrm>
          <a:prstGeom prst="line">
            <a:avLst/>
          </a:prstGeom>
          <a:ln w="19050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1" name="矩形 148"/>
          <p:cNvSpPr/>
          <p:nvPr/>
        </p:nvSpPr>
        <p:spPr>
          <a:xfrm>
            <a:off x="6467040" y="2775960"/>
            <a:ext cx="1802160" cy="4622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FRRouting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52" name="直線接點 149"/>
          <p:cNvSpPr/>
          <p:nvPr/>
        </p:nvSpPr>
        <p:spPr>
          <a:xfrm flipV="1">
            <a:off x="6579720" y="3238560"/>
            <a:ext cx="788760" cy="51948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3" name="直線單箭頭接點 123"/>
          <p:cNvSpPr/>
          <p:nvPr/>
        </p:nvSpPr>
        <p:spPr>
          <a:xfrm>
            <a:off x="2167920" y="3001320"/>
            <a:ext cx="1110960" cy="6228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文字方塊 156"/>
          <p:cNvSpPr/>
          <p:nvPr/>
        </p:nvSpPr>
        <p:spPr>
          <a:xfrm>
            <a:off x="2871360" y="4214880"/>
            <a:ext cx="2267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192.168.63.2/24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fd63::2/64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55" name="直線單箭頭接點 157"/>
          <p:cNvSpPr/>
          <p:nvPr/>
        </p:nvSpPr>
        <p:spPr>
          <a:xfrm flipH="1" flipV="1">
            <a:off x="3753000" y="3624480"/>
            <a:ext cx="250560" cy="5889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56" name="文字方塊 197"/>
          <p:cNvSpPr/>
          <p:nvPr/>
        </p:nvSpPr>
        <p:spPr>
          <a:xfrm>
            <a:off x="2787480" y="5394240"/>
            <a:ext cx="307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172.16.25.2/24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2a0b:4e07:c4:25::2/64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57" name="矩形 198"/>
          <p:cNvSpPr/>
          <p:nvPr/>
        </p:nvSpPr>
        <p:spPr>
          <a:xfrm>
            <a:off x="3524040" y="5045400"/>
            <a:ext cx="13968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58" name="直線接點 199"/>
          <p:cNvSpPr/>
          <p:nvPr/>
        </p:nvSpPr>
        <p:spPr>
          <a:xfrm>
            <a:off x="4921560" y="5225760"/>
            <a:ext cx="607680" cy="8280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9" name="文字方塊 18"/>
          <p:cNvSpPr/>
          <p:nvPr/>
        </p:nvSpPr>
        <p:spPr>
          <a:xfrm>
            <a:off x="6057000" y="1407600"/>
            <a:ext cx="5233680" cy="1312920"/>
          </a:xfrm>
          <a:prstGeom prst="rect">
            <a:avLst/>
          </a:prstGeom>
          <a:noFill/>
          <a:ln w="28575">
            <a:solidFill>
              <a:srgbClr val="e46c0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2" spcCol="0" wrap="none"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192.168.63.1/24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192.168.70.25/24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172.16.25.1/24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192.168.100.3/24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fd63::1/64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fd70::25/64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2a0b:4e07:c4:25::1/64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  <p:sp>
        <p:nvSpPr>
          <p:cNvPr id="960" name="矩形 23"/>
          <p:cNvSpPr/>
          <p:nvPr/>
        </p:nvSpPr>
        <p:spPr>
          <a:xfrm>
            <a:off x="4447080" y="3550320"/>
            <a:ext cx="367920" cy="293760"/>
          </a:xfrm>
          <a:prstGeom prst="rect">
            <a:avLst/>
          </a:prstGeom>
          <a:solidFill>
            <a:srgbClr val="ff0000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961" name="群組 58"/>
          <p:cNvGrpSpPr/>
          <p:nvPr/>
        </p:nvGrpSpPr>
        <p:grpSpPr>
          <a:xfrm>
            <a:off x="6131160" y="5534280"/>
            <a:ext cx="284760" cy="925200"/>
            <a:chOff x="6131160" y="5534280"/>
            <a:chExt cx="284760" cy="925200"/>
          </a:xfrm>
        </p:grpSpPr>
        <p:sp>
          <p:nvSpPr>
            <p:cNvPr id="962" name="直線接點 59"/>
            <p:cNvSpPr/>
            <p:nvPr/>
          </p:nvSpPr>
          <p:spPr>
            <a:xfrm flipV="1">
              <a:off x="6287760" y="5534280"/>
              <a:ext cx="360" cy="92520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63" name="矩形 60"/>
            <p:cNvSpPr/>
            <p:nvPr/>
          </p:nvSpPr>
          <p:spPr>
            <a:xfrm rot="16200000">
              <a:off x="5860440" y="5899320"/>
              <a:ext cx="825840" cy="2847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1f497d"/>
                  </a:solidFill>
                  <a:latin typeface="Times New Roman"/>
                  <a:ea typeface="標楷體"/>
                </a:rPr>
                <a:t>VXLAN</a:t>
              </a:r>
              <a:endParaRPr b="0" lang="en-US" sz="1400" spc="-1" strike="noStrike">
                <a:latin typeface="Arial"/>
              </a:endParaRPr>
            </a:p>
          </p:txBody>
        </p:sp>
      </p:grpSp>
      <p:sp>
        <p:nvSpPr>
          <p:cNvPr id="964" name="矩形 61"/>
          <p:cNvSpPr/>
          <p:nvPr/>
        </p:nvSpPr>
        <p:spPr>
          <a:xfrm>
            <a:off x="3613320" y="2553480"/>
            <a:ext cx="13968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1f497d"/>
                </a:solidFill>
                <a:latin typeface="Times New Roman"/>
                <a:ea typeface="標楷體"/>
              </a:rPr>
              <a:t>Host 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65" name="直線接點 62"/>
          <p:cNvSpPr/>
          <p:nvPr/>
        </p:nvSpPr>
        <p:spPr>
          <a:xfrm>
            <a:off x="5010840" y="2733840"/>
            <a:ext cx="810720" cy="79884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文字方塊 64"/>
          <p:cNvSpPr/>
          <p:nvPr/>
        </p:nvSpPr>
        <p:spPr>
          <a:xfrm>
            <a:off x="2900880" y="1889640"/>
            <a:ext cx="307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172.16.25.3/24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c0504d"/>
                </a:solidFill>
                <a:latin typeface="Calibri"/>
                <a:ea typeface="標楷體"/>
              </a:rPr>
              <a:t>2a0b:4e07:c4:25::3/64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advTm="226000" p14:dur="2000"/>
    </mc:Choice>
    <mc:Fallback>
      <p:transition spd="slow" advTm="226000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矩形 93"/>
          <p:cNvSpPr/>
          <p:nvPr/>
        </p:nvSpPr>
        <p:spPr>
          <a:xfrm>
            <a:off x="7521480" y="3512160"/>
            <a:ext cx="3267000" cy="1440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8" name="矩形 92"/>
          <p:cNvSpPr/>
          <p:nvPr/>
        </p:nvSpPr>
        <p:spPr>
          <a:xfrm>
            <a:off x="1402560" y="3512160"/>
            <a:ext cx="3267000" cy="1440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矩形 90"/>
          <p:cNvSpPr/>
          <p:nvPr/>
        </p:nvSpPr>
        <p:spPr>
          <a:xfrm>
            <a:off x="4462200" y="1219320"/>
            <a:ext cx="3267000" cy="1440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0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Topology for 3 Students</a:t>
            </a:r>
            <a:endParaRPr b="0" lang="en-US" sz="3600" spc="-1" strike="noStrike">
              <a:latin typeface="Arial"/>
            </a:endParaRPr>
          </a:p>
        </p:txBody>
      </p:sp>
      <p:grpSp>
        <p:nvGrpSpPr>
          <p:cNvPr id="971" name="群組 23"/>
          <p:cNvGrpSpPr/>
          <p:nvPr/>
        </p:nvGrpSpPr>
        <p:grpSpPr>
          <a:xfrm>
            <a:off x="4433400" y="2462040"/>
            <a:ext cx="3324600" cy="1932840"/>
            <a:chOff x="4433400" y="2462040"/>
            <a:chExt cx="3324600" cy="1932840"/>
          </a:xfrm>
        </p:grpSpPr>
        <p:pic>
          <p:nvPicPr>
            <p:cNvPr id="972" name="圖片 34" descr=""/>
            <p:cNvPicPr/>
            <p:nvPr/>
          </p:nvPicPr>
          <p:blipFill>
            <a:blip r:embed="rId1"/>
            <a:stretch/>
          </p:blipFill>
          <p:spPr>
            <a:xfrm>
              <a:off x="5859000" y="2462040"/>
              <a:ext cx="473400" cy="32292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973" name="群組 1072"/>
            <p:cNvGrpSpPr/>
            <p:nvPr/>
          </p:nvGrpSpPr>
          <p:grpSpPr>
            <a:xfrm>
              <a:off x="4670280" y="2785680"/>
              <a:ext cx="1425600" cy="1286280"/>
              <a:chOff x="4670280" y="2785680"/>
              <a:chExt cx="1425600" cy="1286280"/>
            </a:xfrm>
          </p:grpSpPr>
          <p:sp>
            <p:nvSpPr>
              <p:cNvPr id="974" name="直線接點 54"/>
              <p:cNvSpPr/>
              <p:nvPr/>
            </p:nvSpPr>
            <p:spPr>
              <a:xfrm flipV="1">
                <a:off x="4670280" y="2785680"/>
                <a:ext cx="1425600" cy="128628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975" name="矩形 74"/>
              <p:cNvSpPr/>
              <p:nvPr/>
            </p:nvSpPr>
            <p:spPr>
              <a:xfrm rot="19018200">
                <a:off x="5002920" y="3306240"/>
                <a:ext cx="758520" cy="244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12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VXLAN</a:t>
                </a:r>
                <a:endParaRPr b="0" lang="en-US" sz="1200" spc="-1" strike="noStrike">
                  <a:latin typeface="Arial"/>
                </a:endParaRPr>
              </a:p>
            </p:txBody>
          </p:sp>
        </p:grpSp>
        <p:pic>
          <p:nvPicPr>
            <p:cNvPr id="976" name="圖片 47" descr=""/>
            <p:cNvPicPr/>
            <p:nvPr/>
          </p:nvPicPr>
          <p:blipFill>
            <a:blip r:embed="rId2"/>
            <a:stretch/>
          </p:blipFill>
          <p:spPr>
            <a:xfrm>
              <a:off x="4433400" y="4071960"/>
              <a:ext cx="473400" cy="3229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977" name="圖片 72" descr=""/>
            <p:cNvPicPr/>
            <p:nvPr/>
          </p:nvPicPr>
          <p:blipFill>
            <a:blip r:embed="rId3"/>
            <a:stretch/>
          </p:blipFill>
          <p:spPr>
            <a:xfrm>
              <a:off x="7284600" y="4071960"/>
              <a:ext cx="473400" cy="32292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978" name="群組 78"/>
            <p:cNvGrpSpPr/>
            <p:nvPr/>
          </p:nvGrpSpPr>
          <p:grpSpPr>
            <a:xfrm>
              <a:off x="4907520" y="4107600"/>
              <a:ext cx="2376720" cy="250920"/>
              <a:chOff x="4907520" y="4107600"/>
              <a:chExt cx="2376720" cy="250920"/>
            </a:xfrm>
          </p:grpSpPr>
          <p:sp>
            <p:nvSpPr>
              <p:cNvPr id="979" name="直線接點 79"/>
              <p:cNvSpPr/>
              <p:nvPr/>
            </p:nvSpPr>
            <p:spPr>
              <a:xfrm>
                <a:off x="4907520" y="4233600"/>
                <a:ext cx="2376720" cy="36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980" name="矩形 81"/>
              <p:cNvSpPr/>
              <p:nvPr/>
            </p:nvSpPr>
            <p:spPr>
              <a:xfrm rot="21573000">
                <a:off x="5685840" y="4110480"/>
                <a:ext cx="758520" cy="244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12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VXLAN</a:t>
                </a:r>
                <a:endParaRPr b="0" lang="en-US" sz="1200" spc="-1" strike="noStrike">
                  <a:latin typeface="Arial"/>
                </a:endParaRPr>
              </a:p>
            </p:txBody>
          </p:sp>
        </p:grpSp>
        <p:grpSp>
          <p:nvGrpSpPr>
            <p:cNvPr id="981" name="群組 82"/>
            <p:cNvGrpSpPr/>
            <p:nvPr/>
          </p:nvGrpSpPr>
          <p:grpSpPr>
            <a:xfrm>
              <a:off x="6095880" y="2785680"/>
              <a:ext cx="1425600" cy="1286280"/>
              <a:chOff x="6095880" y="2785680"/>
              <a:chExt cx="1425600" cy="1286280"/>
            </a:xfrm>
          </p:grpSpPr>
          <p:sp>
            <p:nvSpPr>
              <p:cNvPr id="982" name="直線接點 85"/>
              <p:cNvSpPr/>
              <p:nvPr/>
            </p:nvSpPr>
            <p:spPr>
              <a:xfrm>
                <a:off x="6095880" y="2785680"/>
                <a:ext cx="1425600" cy="128628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983" name="矩形 86"/>
              <p:cNvSpPr/>
              <p:nvPr/>
            </p:nvSpPr>
            <p:spPr>
              <a:xfrm rot="2631600">
                <a:off x="6431760" y="3326760"/>
                <a:ext cx="758520" cy="244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0" lang="en-US" sz="1200" spc="-1" strike="noStrike">
                    <a:solidFill>
                      <a:srgbClr val="1f497d"/>
                    </a:solidFill>
                    <a:latin typeface="Times New Roman"/>
                    <a:ea typeface="標楷體"/>
                  </a:rPr>
                  <a:t>VXLAN</a:t>
                </a:r>
                <a:endParaRPr b="0" lang="en-US" sz="1200" spc="-1" strike="noStrike">
                  <a:latin typeface="Arial"/>
                </a:endParaRPr>
              </a:p>
            </p:txBody>
          </p:sp>
        </p:grpSp>
      </p:grpSp>
      <p:sp>
        <p:nvSpPr>
          <p:cNvPr id="984" name="文字方塊 94"/>
          <p:cNvSpPr/>
          <p:nvPr/>
        </p:nvSpPr>
        <p:spPr>
          <a:xfrm>
            <a:off x="4318920" y="1234800"/>
            <a:ext cx="152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AS65xx0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85" name="文字方塊 95"/>
          <p:cNvSpPr/>
          <p:nvPr/>
        </p:nvSpPr>
        <p:spPr>
          <a:xfrm>
            <a:off x="1267200" y="3512160"/>
            <a:ext cx="152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AS65yy0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86" name="文字方塊 97"/>
          <p:cNvSpPr/>
          <p:nvPr/>
        </p:nvSpPr>
        <p:spPr>
          <a:xfrm>
            <a:off x="7471800" y="3512160"/>
            <a:ext cx="1482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c0504d"/>
                </a:solidFill>
                <a:latin typeface="Calibri"/>
                <a:ea typeface="標楷體"/>
              </a:rPr>
              <a:t>AS65zz0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19000" p14:dur="2000"/>
    </mc:Choice>
    <mc:Fallback>
      <p:transition spd="slow" advTm="19000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88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12000" p14:dur="2000"/>
    </mc:Choice>
    <mc:Fallback>
      <p:transition spd="slow" advTm="12000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Helper Scripts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90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Hints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Remember to use your old project codes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ONOS might have bugs due to it has not been updated for 2 years</a:t>
            </a:r>
            <a:endParaRPr b="0" lang="en-US" sz="2400" spc="-1" strike="noStrike">
              <a:latin typeface="Arial"/>
            </a:endParaRPr>
          </a:p>
          <a:p>
            <a:pPr lvl="2" marL="792000" indent="-2160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Use wireshark to make sure that the packet is exactly what you expected</a:t>
            </a:r>
            <a:endParaRPr b="0" lang="en-US" sz="2400" spc="-1" strike="noStrike">
              <a:latin typeface="Arial"/>
            </a:endParaRPr>
          </a:p>
          <a:p>
            <a:pPr lvl="2" marL="792000" indent="-2160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Print debug is your best friend</a:t>
            </a:r>
            <a:endParaRPr b="0" lang="en-US" sz="2400" spc="-1" strike="noStrike">
              <a:latin typeface="Arial"/>
            </a:endParaRPr>
          </a:p>
          <a:p>
            <a:pPr lvl="2" marL="792000" indent="-2160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Read the docs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use reactive forward to test your topologies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200000" p14:dur="2000"/>
    </mc:Choice>
    <mc:Fallback>
      <p:transition spd="slow" advTm="200000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TA Contacts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92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If you have any problem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Mail to me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Register demo time for help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Lab 6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Team Register (should be done before 11/23, update at everyday noon)</a:t>
            </a:r>
            <a:endParaRPr b="0" lang="en-US" sz="2400" spc="-1" strike="noStrike">
              <a:latin typeface="Arial"/>
            </a:endParaRPr>
          </a:p>
          <a:p>
            <a:pPr marL="2880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1"/>
              </a:rPr>
              <a:t>https://docs.google.com/spreadsheets/d/18jBtdl7BgK_GIqJtgEI210icpPq_Et1tVk8eLnFe6Kk/edit?usp=sharing</a:t>
            </a:r>
            <a:endParaRPr b="0" lang="en-US" sz="2400" spc="-1" strike="noStrike">
              <a:latin typeface="Arial"/>
            </a:endParaRPr>
          </a:p>
          <a:p>
            <a:pPr lvl="2" marL="792000" indent="-2160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Deadline: 11/26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145000" p14:dur="2000"/>
    </mc:Choice>
    <mc:Fallback>
      <p:transition spd="slow" advTm="145000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94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9000" p14:dur="2000"/>
    </mc:Choice>
    <mc:Fallback>
      <p:transition spd="slow" advTm="9000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Supplements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96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A sample of frr config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can mount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./config/daemons to /etc/frr/daemons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./config/R1/frr.conf to /etc/frr/frr.conf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Docker images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For FRR-Routers use frrouting/frr-debian</a:t>
            </a:r>
            <a:endParaRPr b="0" lang="en-US" sz="2400" spc="-1" strike="noStrike">
              <a:latin typeface="Arial"/>
            </a:endParaRPr>
          </a:p>
          <a:p>
            <a:pPr lvl="2" marL="792000" indent="-2160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Font typeface="Wingdings" charset="2"/>
              <a:buChar char="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Or build from souce (More recommended </a:t>
            </a:r>
            <a:r>
              <a:rPr b="0" lang="en-US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1"/>
              </a:rPr>
              <a:t>frr</a:t>
            </a:r>
            <a:r>
              <a:rPr b="0" lang="en-US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2"/>
              </a:rPr>
              <a:t>/docker at master · </a:t>
            </a:r>
            <a:r>
              <a:rPr b="0" lang="en-US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3"/>
              </a:rPr>
              <a:t>FRRouting</a:t>
            </a:r>
            <a:r>
              <a:rPr b="0" lang="en-US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4"/>
              </a:rPr>
              <a:t>/</a:t>
            </a:r>
            <a:r>
              <a:rPr b="0" lang="en-US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5"/>
              </a:rPr>
              <a:t>frr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)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For ONOS, the image is onosproject/onos:2.7-latest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For host containers, you can use nicolaka/netshoot:latest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997" name="圖片 6" descr=""/>
          <p:cNvPicPr/>
          <p:nvPr/>
        </p:nvPicPr>
        <p:blipFill>
          <a:blip r:embed="rId6"/>
          <a:stretch/>
        </p:blipFill>
        <p:spPr>
          <a:xfrm>
            <a:off x="4627440" y="5268240"/>
            <a:ext cx="6934320" cy="980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advTm="145000" p14:dur="2000"/>
    </mc:Choice>
    <mc:Fallback>
      <p:transition spd="slow" advTm="145000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99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9000" p14:dur="2000"/>
    </mc:Choice>
    <mc:Fallback>
      <p:transition spd="slow" advTm="9000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Deployment Requirements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01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DO NOT TRY TO ATTACK EITHER OTHER STUDENTS OR TA SERVERS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You are required to create a Makefile so that you are able to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Clear the entire project via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make clean 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command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Deploy the project via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make deploy</a:t>
            </a: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 command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ff0000"/>
                </a:solidFill>
                <a:latin typeface="Calibri"/>
                <a:ea typeface="標楷體"/>
              </a:rPr>
              <a:t>If not, you will be scored 0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113000" p14:dur="2000"/>
    </mc:Choice>
    <mc:Fallback>
      <p:transition spd="slow" advTm="113000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Scores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03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Intra-domain traffic (from both AS)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IPv4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(16 points)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IPv6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(4 points)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Inter-domain traffic (from both AS)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IPv4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(28 points)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IPv6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(12 points)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Transit traffic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IPv4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(28 points)</a:t>
            </a:r>
            <a:endParaRPr b="0" lang="en-US" sz="2400" spc="-1" strike="noStrike">
              <a:latin typeface="Arial"/>
            </a:endParaRPr>
          </a:p>
          <a:p>
            <a:pPr lvl="1" marL="504000" indent="-216000">
              <a:lnSpc>
                <a:spcPct val="100000"/>
              </a:lnSpc>
              <a:spcBef>
                <a:spcPts val="400"/>
              </a:spcBef>
              <a:buClr>
                <a:srgbClr val="0088ee"/>
              </a:buClr>
              <a:buFont typeface="Calibri"/>
              <a:buChar char="◦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IPv6 </a:t>
            </a:r>
            <a:r>
              <a:rPr b="1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(12 points)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61000" p14:dur="2000"/>
    </mc:Choice>
    <mc:Fallback>
      <p:transition spd="slow" advTm="61000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OUTLINE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05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Specification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ONOS App and Services in Use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Docker Introduction &amp; Usage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In Used App Configurations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Router Workflow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Lab Information and Installation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Supplement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b9cde5"/>
                </a:solidFill>
                <a:latin typeface="Calibri"/>
                <a:ea typeface="標楷體"/>
              </a:rPr>
              <a:t>Scoring Criteria 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3297fc"/>
                </a:solidFill>
                <a:latin typeface="Calibri"/>
                <a:ea typeface="標楷體"/>
              </a:rPr>
              <a:t>Reference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2000" p14:dur="2000"/>
    </mc:Choice>
    <mc:Fallback>
      <p:transition spd="slow" advTm="2000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PlaceHolder 1"/>
          <p:cNvSpPr>
            <a:spLocks noGrp="1"/>
          </p:cNvSpPr>
          <p:nvPr>
            <p:ph type="title"/>
          </p:nvPr>
        </p:nvSpPr>
        <p:spPr>
          <a:xfrm>
            <a:off x="1127520" y="61200"/>
            <a:ext cx="10080360" cy="878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3297fc"/>
                </a:solidFill>
                <a:latin typeface="Calibri"/>
                <a:ea typeface="標楷體"/>
              </a:rPr>
              <a:t>Reference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07" name="PlaceHolder 2"/>
          <p:cNvSpPr>
            <a:spLocks noGrp="1"/>
          </p:cNvSpPr>
          <p:nvPr>
            <p:ph/>
          </p:nvPr>
        </p:nvSpPr>
        <p:spPr>
          <a:xfrm>
            <a:off x="700560" y="996840"/>
            <a:ext cx="10861200" cy="5451120"/>
          </a:xfrm>
          <a:prstGeom prst="rect">
            <a:avLst/>
          </a:prstGeom>
          <a:noFill/>
          <a:ln w="9360">
            <a:solidFill>
              <a:srgbClr val="9fe6ff"/>
            </a:solidFill>
            <a:miter/>
          </a:ln>
        </p:spPr>
        <p:txBody>
          <a:bodyPr numCol="1" spcCol="0" lIns="90000" rIns="90000" tIns="45000" bIns="45000" anchor="t">
            <a:noAutofit/>
          </a:bodyPr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pt-BR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1"/>
              </a:rPr>
              <a:t>ovs-vsctl(8) - Linux manual page</a:t>
            </a:r>
            <a:r>
              <a:rPr b="0" lang="pt-BR" sz="2400" spc="-1" strike="noStrike">
                <a:solidFill>
                  <a:srgbClr val="3297fc"/>
                </a:solidFill>
                <a:latin typeface="Calibri"/>
                <a:ea typeface="標楷體"/>
              </a:rPr>
              <a:t> (https://man7.org/linux/man-pages/man8/ovs-vsctl.8.html)</a:t>
            </a:r>
            <a:endParaRPr b="0" lang="en-US" sz="2400" spc="-1" strike="noStrike">
              <a:latin typeface="Arial"/>
            </a:endParaRPr>
          </a:p>
          <a:p>
            <a:pPr marL="268200" indent="-268200">
              <a:lnSpc>
                <a:spcPct val="100000"/>
              </a:lnSpc>
              <a:spcBef>
                <a:spcPts val="400"/>
              </a:spcBef>
              <a:buClr>
                <a:srgbClr val="3889f6"/>
              </a:buClr>
              <a:buSzPct val="80000"/>
              <a:buFont typeface="Wingdings" charset="2"/>
              <a:buChar char=""/>
            </a:pPr>
            <a:r>
              <a:rPr b="0" lang="fr-FR" sz="2400" spc="-1" strike="noStrike" u="sng">
                <a:solidFill>
                  <a:srgbClr val="0000ff"/>
                </a:solidFill>
                <a:uFillTx/>
                <a:latin typeface="Calibri"/>
                <a:ea typeface="標楷體"/>
                <a:hlinkClick r:id="rId2"/>
              </a:rPr>
              <a:t>ip(8) - Linux man page</a:t>
            </a:r>
            <a:r>
              <a:rPr b="0" lang="fr-FR" sz="2400" spc="-1" strike="noStrike">
                <a:solidFill>
                  <a:srgbClr val="3297fc"/>
                </a:solidFill>
                <a:latin typeface="Calibri"/>
                <a:ea typeface="標楷體"/>
              </a:rPr>
              <a:t> (https://linux.die.net/man/8/ip)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advTm="32000" p14:dur="2000"/>
    </mc:Choice>
    <mc:Fallback>
      <p:transition spd="slow" advTm="32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winlab</Template>
  <TotalTime>16919</TotalTime>
  <Application>LibreOffice/7.3.7.2$Linux_X86_64 LibreOffice_project/30$Build-2</Application>
  <AppVersion>15.0000</AppVersion>
  <Words>4583</Words>
  <Paragraphs>1036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2024-10-03T23:03:17Z</dcterms:created>
  <dc:creator>蔣汶儒</dc:creator>
  <dc:description/>
  <dc:language>en-US</dc:language>
  <cp:lastModifiedBy/>
  <dcterms:modified xsi:type="dcterms:W3CDTF">2025-11-29T14:13:12Z</dcterms:modified>
  <cp:revision>276</cp:revision>
  <dc:subject/>
  <dc:title>AX.25 Over Ethernet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25</vt:i4>
  </property>
  <property fmtid="{D5CDD505-2E9C-101B-9397-08002B2CF9AE}" pid="3" name="PresentationFormat">
    <vt:lpwstr>寬螢幕</vt:lpwstr>
  </property>
  <property fmtid="{D5CDD505-2E9C-101B-9397-08002B2CF9AE}" pid="4" name="Slides">
    <vt:i4>74</vt:i4>
  </property>
</Properties>
</file>