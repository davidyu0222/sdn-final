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3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1.xml.rels" ContentType="application/vnd.openxmlformats-package.relationships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0.png" ContentType="image/png"/>
  <Override PartName="/ppt/media/image54.jpeg" ContentType="image/jpeg"/>
  <Override PartName="/ppt/media/image33.png" ContentType="image/png"/>
  <Override PartName="/ppt/media/image13.png" ContentType="image/png"/>
  <Override PartName="/ppt/media/image1.png" ContentType="image/png"/>
  <Override PartName="/ppt/media/image9.png" ContentType="image/png"/>
  <Override PartName="/ppt/media/image86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19.png" ContentType="image/png"/>
  <Override PartName="/ppt/media/image84.png" ContentType="image/png"/>
  <Override PartName="/ppt/media/image48.png" ContentType="image/png"/>
  <Override PartName="/ppt/media/image11.png" ContentType="image/png"/>
  <Override PartName="/ppt/media/image36.png" ContentType="image/png"/>
  <Override PartName="/ppt/media/image6.png" ContentType="image/png"/>
  <Override PartName="/ppt/media/image18.png" ContentType="image/png"/>
  <Override PartName="/ppt/media/image83.png" ContentType="image/png"/>
  <Override PartName="/ppt/media/image29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6.png" ContentType="image/png"/>
  <Override PartName="/ppt/media/image87.png" ContentType="image/png"/>
  <Override PartName="/ppt/media/image75.png" ContentType="image/png"/>
  <Override PartName="/ppt/media/image85.png" ContentType="image/png"/>
  <Override PartName="/ppt/media/image73.png" ContentType="image/png"/>
  <Override PartName="/ppt/media/image79.png" ContentType="image/png"/>
  <Override PartName="/ppt/media/image78.png" ContentType="image/png"/>
  <Override PartName="/ppt/media/image74.png" ContentType="image/png"/>
  <Override PartName="/ppt/media/image69.png" ContentType="image/png"/>
  <Override PartName="/ppt/media/image32.png" ContentType="image/png"/>
  <Override PartName="/ppt/media/image71.png" ContentType="image/png"/>
  <Override PartName="/ppt/media/image68.png" ContentType="image/png"/>
  <Override PartName="/ppt/media/image31.png" ContentType="image/png"/>
  <Override PartName="/ppt/media/image70.png" ContentType="image/png"/>
  <Override PartName="/ppt/media/image28.png" ContentType="image/png"/>
  <Override PartName="/ppt/media/image24.png" ContentType="image/png"/>
  <Override PartName="/ppt/media/image90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80.png" ContentType="image/png"/>
  <Override PartName="/ppt/media/image15.png" ContentType="image/png"/>
  <Override PartName="/ppt/media/image3.png" ContentType="image/png"/>
  <Override PartName="/ppt/media/image92.png" ContentType="image/png"/>
  <Override PartName="/ppt/media/image27.png" ContentType="image/png"/>
  <Override PartName="/ppt/media/image81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38.jpeg" ContentType="image/jpeg"/>
  <Override PartName="/ppt/media/image72.png" ContentType="image/png"/>
  <Override PartName="/ppt/media/image8.jpeg" ContentType="image/jpeg"/>
  <Override PartName="/ppt/media/image91.png" ContentType="image/png"/>
  <Override PartName="/ppt/media/image26.png" ContentType="image/png"/>
  <Override PartName="/ppt/media/image39.jpeg" ContentType="image/jpeg"/>
  <Override PartName="/ppt/media/image82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75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74.xml" ContentType="application/vnd.openxmlformats-officedocument.presentationml.slide+xml"/>
  <Override PartName="/ppt/slides/slide2.xml" ContentType="application/vnd.openxmlformats-officedocument.presentationml.slide+xml"/>
  <Override PartName="/ppt/slides/slide73.xml" ContentType="application/vnd.openxmlformats-officedocument.presentationml.slide+xml"/>
  <Override PartName="/ppt/slides/slide1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69.xml.rels" ContentType="application/vnd.openxmlformats-package.relationships+xml"/>
  <Override PartName="/ppt/slides/_rels/slide73.xml.rels" ContentType="application/vnd.openxmlformats-package.relationships+xml"/>
  <Override PartName="/ppt/slides/_rels/slide70.xml.rels" ContentType="application/vnd.openxmlformats-package.relationships+xml"/>
  <Override PartName="/ppt/slides/_rels/slide63.xml.rels" ContentType="application/vnd.openxmlformats-package.relationships+xml"/>
  <Override PartName="/ppt/slides/_rels/slide55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36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54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2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52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26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75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58.xml.rels" ContentType="application/vnd.openxmlformats-package.relationships+xml"/>
  <Override PartName="/ppt/slides/_rels/slide74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68.xml.rels" ContentType="application/vnd.openxmlformats-package.relationships+xml"/>
  <Override PartName="/ppt/slides/_rels/slide72.xml.rels" ContentType="application/vnd.openxmlformats-package.relationships+xml"/>
  <Override PartName="/ppt/slides/_rels/slide67.xml.rels" ContentType="application/vnd.openxmlformats-package.relationships+xml"/>
  <Override PartName="/ppt/slides/_rels/slide71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400" spc="-1" strike="noStrike">
                <a:solidFill>
                  <a:srgbClr val="c0504d"/>
                </a:solidFill>
                <a:latin typeface="Calibri"/>
              </a:rPr>
              <a:t>Click to </a:t>
            </a:r>
            <a:r>
              <a:rPr b="0" lang="en-US" sz="2400" spc="-1" strike="noStrike">
                <a:solidFill>
                  <a:srgbClr val="c0504d"/>
                </a:solidFill>
                <a:latin typeface="Calibri"/>
              </a:rPr>
              <a:t>move the </a:t>
            </a:r>
            <a:r>
              <a:rPr b="0" lang="en-US" sz="2400" spc="-1" strike="noStrike">
                <a:solidFill>
                  <a:srgbClr val="c0504d"/>
                </a:solidFill>
                <a:latin typeface="Calibri"/>
              </a:rPr>
              <a:t>slide</a:t>
            </a:r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84FB7CE-9400-4D89-8C70-02BB66B886D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B480DD-D16D-43BE-A7EC-2C8389112CC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29844E-1414-4892-BEF1-49CB1A6F29B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518381-F6A2-47F9-8832-FCA99B703ED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B0D90A-D94B-448B-8AFC-21421021849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host </a:t>
            </a:r>
            <a:r>
              <a:rPr b="0" lang="en-US" sz="2000" spc="-1" strike="noStrike">
                <a:solidFill>
                  <a:srgbClr val="07242d"/>
                </a:solidFill>
                <a:latin typeface="Inter"/>
              </a:rPr>
              <a:t>(no isolation between host and containers on this network, to the outside world they are on the same network)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Inter"/>
              </a:rPr>
              <a:t>none</a:t>
            </a:r>
            <a:r>
              <a:rPr b="0" lang="en-US" sz="2000" spc="-1" strike="noStrike">
                <a:solidFill>
                  <a:srgbClr val="07242d"/>
                </a:solidFill>
                <a:latin typeface="Inter"/>
              </a:rPr>
              <a:t> (attached containers run on container-specific network stack)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19F74D-6ACE-4F68-8190-C069F942D5E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738B8F-37E1-4E5B-9424-2312044F415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48EC82-A2EF-4766-8BE9-BD4E547B918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7F8FD5-5D4A-47D6-8F1A-983530437B9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FA7FD5-B377-4EB3-B1B6-1C7C6B6B88A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1EC037-75BB-4E25-BD3D-FC260ECAD42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5DE50D-EAED-4EB0-B990-BD48322F09A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2B7AE2-5EBA-495E-8FA7-BAD4D9E4809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05E5AC-B9C6-412A-B287-54D229BFD62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create network for domain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BB3CAD-DC14-4D08-8C82-4AF140E5A49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screenshot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DF3A35-66DD-414F-AA52-1CFEE4E91C4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713F78-7A84-49C4-A243-17C2EC3D74C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6F66D7-0955-4F68-9C44-C3786FF2B2A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78360D-5C42-484B-B1B6-9EDBF3165C9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341A8B-89C8-4D7D-8033-8BCC62B1240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sans"/>
              </a:rPr>
              <a:t>router bgp [ASN] : Enable BGP daemon and set autonomous system number (ASN); this is supplied by your ISP.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bgp router-id [A.B.C.D] : Configure the router ID.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network [A.B.C.D/M] : Announce BGP on network: A.B.C.D/M, identifies the subnet to advertise.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neighbor [A.B.C.D|A:B:C:D:E:F:G:H] remote-as [ASN] : Set neighbor as a member of remote ASN.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neighbor [A.B.C.D|A:B:C:D:E:F:G:H] ebgp-multihop : Set neighbor on another network using EBGP multi-hop.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neighbor [A.B.C.D|A:B:C:D:E:F:G:H] timers connect [time] : Set the BGP connection timer, in seconds.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29CFA5-AA98-4CC7-B8B7-7F4DB260138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sans"/>
              </a:rPr>
              <a:t>router bgp [ASN] : Enable BGP daemon and set autonomous system number (ASN); this is supplied by your ISP.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bgp router-id [A.B.C.D] : Configure the router ID.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network [A.B.C.D/M] : Announce BGP on network: A.B.C.D/M, identifies the subnet to advertise.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neighbor [A.B.C.D|A:B:C:D:E:F:G:H] remote-as [ASN] : Set neighbor as a member of remote ASN.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neighbor [A.B.C.D|A:B:C:D:E:F:G:H] ebgp-multihop : Set neighbor on another network using EBGP multi-hop.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opensans"/>
              </a:rPr>
              <a:t>neighbor [A.B.C.D|A:B:C:D:E:F:G:H] timers connect [time] : Set the BGP connection timer, in seconds.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11FD0C-31F5-4384-84F4-D89F90188E0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E026EA-7FEC-410D-BEA9-CA3E9C6956B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06BCE1-8051-4F87-A2C0-8D6272D730F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2F1E88-EF0B-4045-AF94-4D4D24C006B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60B054-76CC-463D-8F21-225DFAAE0C2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F370341-AE65-4683-8589-6F5BCB5D1AA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80D578-BAB0-484F-8AEC-4FE5D2C0ED2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054917D-FF42-4C4C-BBA5-B3CF567756C5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9457B05-4C77-461D-B57D-1289B1F4B95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89A4CF-91C6-4951-BA2F-CEB63DFB6AA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1127520" y="61200"/>
            <a:ext cx="10080720" cy="407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4611A67-151E-44CA-8EFC-0A21006CF81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005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3203175-4030-40D1-A897-A998F6A2078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2661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8F5F5B-9121-4618-963D-09D1EE44D044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700560" y="3844440"/>
            <a:ext cx="1086156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949B775-0CCD-41AC-9C72-4CD636D0527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00560" y="3844440"/>
            <a:ext cx="1086156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5793D1-BC48-475B-9D3F-DBADF7D6C31A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005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2661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07B60D-0AEF-4E79-A94F-319BA135061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372920" y="9968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8045280" y="9968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700560" y="38444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4372920" y="38444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8045280" y="38444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9B1CB28-0FFA-4924-8167-4FE7244DB56A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C1DE36-F4A9-417A-9644-3C05E78BDC42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AFA67A-9404-410D-BD95-274258AEDAA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96821D-D117-4AB7-BF1C-5E75ECA18B7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E24E75-D508-48ED-9FAA-DC686AA304E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28F247-7E68-429C-A368-859AE12C445F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127520" y="61200"/>
            <a:ext cx="10080720" cy="407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763E71-45F0-47A0-A3F2-DAFB4E3E0CEF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7005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8E3324-5624-4049-BB4F-D0F88E4BDF18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545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661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7A0525-8E73-4B3C-A1CC-BADB2BD73920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700560" y="3844440"/>
            <a:ext cx="1086156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1F3694-0E2E-4FF1-BDCB-AE9B4C7A9751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700560" y="3844440"/>
            <a:ext cx="1086156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35584C-6424-40EF-AE43-A69DCE16F64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66160" y="9968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005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66160" y="3844440"/>
            <a:ext cx="530028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347673-BB75-4C5D-A5C7-68BC1FCC05D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372920" y="9968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8045280" y="9968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700560" y="38444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372920" y="38444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8045280" y="3844440"/>
            <a:ext cx="3497040" cy="260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8DF50D-5D36-40BD-A513-FB06A21C7FE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1"/>
          <p:cNvSpPr/>
          <p:nvPr/>
        </p:nvSpPr>
        <p:spPr>
          <a:xfrm>
            <a:off x="0" y="0"/>
            <a:ext cx="12191760" cy="26146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7fdff"/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手繪多邊形: 圖案 11"/>
          <p:cNvSpPr/>
          <p:nvPr/>
        </p:nvSpPr>
        <p:spPr>
          <a:xfrm>
            <a:off x="415080" y="2384640"/>
            <a:ext cx="11694600" cy="230040"/>
          </a:xfrm>
          <a:custGeom>
            <a:avLst/>
            <a:gdLst/>
            <a:ahLst/>
            <a:rect l="l" t="t" r="r" b="b"/>
            <a:pathLst>
              <a:path w="11694870" h="230331">
                <a:moveTo>
                  <a:pt x="0" y="0"/>
                </a:moveTo>
                <a:lnTo>
                  <a:pt x="5783303" y="0"/>
                </a:lnTo>
                <a:cubicBezTo>
                  <a:pt x="9048171" y="0"/>
                  <a:pt x="11694870" y="103123"/>
                  <a:pt x="11694870" y="230331"/>
                </a:cubicBezTo>
                <a:lnTo>
                  <a:pt x="5783303" y="230331"/>
                </a:lnTo>
                <a:lnTo>
                  <a:pt x="0" y="230331"/>
                </a:lnTo>
                <a:close/>
              </a:path>
            </a:pathLst>
          </a:custGeom>
          <a:gradFill rotWithShape="0">
            <a:gsLst>
              <a:gs pos="0">
                <a:srgbClr val="9fe6ff"/>
              </a:gs>
              <a:gs pos="100000">
                <a:srgbClr val="ddf6ff"/>
              </a:gs>
            </a:gsLst>
            <a:lin ang="27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19760" y="404640"/>
            <a:ext cx="8312760" cy="19872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TW" sz="4400" spc="-1" strike="noStrike">
                <a:solidFill>
                  <a:srgbClr val="3297fc"/>
                </a:solidFill>
                <a:latin typeface="Calibri"/>
                <a:ea typeface="標楷體"/>
              </a:rPr>
              <a:t>按一下以</a:t>
            </a:r>
            <a:r>
              <a:rPr b="1" lang="zh-TW" sz="4400" spc="-1" strike="noStrike">
                <a:solidFill>
                  <a:srgbClr val="3297fc"/>
                </a:solidFill>
                <a:latin typeface="Calibri"/>
                <a:ea typeface="標楷體"/>
              </a:rPr>
              <a:t>編輯母片</a:t>
            </a:r>
            <a:r>
              <a:rPr b="1" lang="zh-TW" sz="4400" spc="-1" strike="noStrike">
                <a:solidFill>
                  <a:srgbClr val="3297fc"/>
                </a:solidFill>
                <a:latin typeface="Calibri"/>
                <a:ea typeface="標楷體"/>
              </a:rPr>
              <a:t>標題樣式</a:t>
            </a:r>
            <a:endParaRPr b="0" lang="en-US" sz="44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" name="矩形 8"/>
          <p:cNvSpPr/>
          <p:nvPr/>
        </p:nvSpPr>
        <p:spPr>
          <a:xfrm>
            <a:off x="0" y="6453360"/>
            <a:ext cx="12191760" cy="404280"/>
          </a:xfrm>
          <a:prstGeom prst="rect">
            <a:avLst/>
          </a:prstGeom>
          <a:gradFill rotWithShape="0">
            <a:gsLst>
              <a:gs pos="2000">
                <a:srgbClr val="c1efff"/>
              </a:gs>
              <a:gs pos="100000">
                <a:srgbClr val="7fcbf9"/>
              </a:gs>
            </a:gsLst>
            <a:lin ang="135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文字方塊 21"/>
          <p:cNvSpPr/>
          <p:nvPr/>
        </p:nvSpPr>
        <p:spPr>
          <a:xfrm>
            <a:off x="235440" y="6453360"/>
            <a:ext cx="13248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標楷體"/>
              </a:rPr>
              <a:t>NYCU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標楷體"/>
              </a:rPr>
              <a:t> CS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200" spc="-1" strike="noStrike">
                <a:solidFill>
                  <a:srgbClr val="ffffff"/>
                </a:solidFill>
                <a:latin typeface="Calibri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ADCBA8-D84F-4D7C-A0E2-736842239E4E}" type="slidenum">
              <a:rPr b="1" lang="en-US" sz="1200" spc="-1" strike="noStrike">
                <a:solidFill>
                  <a:srgbClr val="ffffff"/>
                </a:solidFill>
                <a:latin typeface="Calibri"/>
                <a:ea typeface="新細明體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6" name="圖片 10" descr=""/>
          <p:cNvPicPr/>
          <p:nvPr/>
        </p:nvPicPr>
        <p:blipFill>
          <a:blip r:embed="rId2"/>
          <a:stretch/>
        </p:blipFill>
        <p:spPr>
          <a:xfrm>
            <a:off x="239400" y="138240"/>
            <a:ext cx="1564920" cy="205668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297fc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3297fc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297fc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3297fc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297fc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TW" sz="3600" spc="-1" strike="noStrike">
                <a:solidFill>
                  <a:srgbClr val="3297fc"/>
                </a:solidFill>
                <a:latin typeface="Calibri"/>
                <a:ea typeface="標楷體"/>
              </a:rPr>
              <a:t>按一下以編輯母片標題</a:t>
            </a:r>
            <a:r>
              <a:rPr b="1" lang="zh-TW" sz="3600" spc="-1" strike="noStrike">
                <a:solidFill>
                  <a:srgbClr val="3297fc"/>
                </a:solidFill>
                <a:latin typeface="Calibri"/>
                <a:ea typeface="標楷體"/>
              </a:rPr>
              <a:t>樣式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zh-TW" sz="2400" spc="-1" strike="noStrike">
                <a:solidFill>
                  <a:srgbClr val="3297fc"/>
                </a:solidFill>
                <a:latin typeface="Calibri"/>
                <a:ea typeface="標楷體"/>
              </a:rPr>
              <a:t>編輯母片文字樣式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zh-TW" sz="2400" spc="-1" strike="noStrike">
                <a:solidFill>
                  <a:srgbClr val="3297fc"/>
                </a:solidFill>
                <a:latin typeface="Calibri"/>
                <a:ea typeface="標楷體"/>
              </a:rPr>
              <a:t>第二層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zh-TW" sz="2400" spc="-1" strike="noStrike">
                <a:solidFill>
                  <a:srgbClr val="3297fc"/>
                </a:solidFill>
                <a:latin typeface="Calibri"/>
                <a:ea typeface="標楷體"/>
              </a:rPr>
              <a:t>第三層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3" marL="1080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Calibri"/>
              <a:buChar char="▫"/>
            </a:pPr>
            <a:r>
              <a:rPr b="0" lang="zh-TW" sz="2400" spc="-1" strike="noStrike">
                <a:solidFill>
                  <a:srgbClr val="3297fc"/>
                </a:solidFill>
                <a:latin typeface="Calibri"/>
                <a:ea typeface="標楷體"/>
              </a:rPr>
              <a:t>第四層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4" marL="1368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Arial"/>
              <a:buChar char="•"/>
            </a:pPr>
            <a:r>
              <a:rPr b="0" lang="zh-TW" sz="2400" spc="-1" strike="noStrike">
                <a:solidFill>
                  <a:srgbClr val="3297fc"/>
                </a:solidFill>
                <a:latin typeface="Calibri"/>
                <a:ea typeface="標楷體"/>
              </a:rPr>
              <a:t>第五層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6" name="手繪多邊形: 圖案 10"/>
          <p:cNvSpPr/>
          <p:nvPr/>
        </p:nvSpPr>
        <p:spPr>
          <a:xfrm>
            <a:off x="695520" y="908640"/>
            <a:ext cx="10934640" cy="87840"/>
          </a:xfrm>
          <a:custGeom>
            <a:avLst/>
            <a:gdLst/>
            <a:ahLst/>
            <a:rect l="l" t="t" r="r" b="b"/>
            <a:pathLst>
              <a:path w="10934937" h="88227">
                <a:moveTo>
                  <a:pt x="0" y="0"/>
                </a:moveTo>
                <a:lnTo>
                  <a:pt x="5464500" y="0"/>
                </a:lnTo>
                <a:lnTo>
                  <a:pt x="5470437" y="0"/>
                </a:lnTo>
                <a:lnTo>
                  <a:pt x="5470437" y="19"/>
                </a:lnTo>
                <a:lnTo>
                  <a:pt x="7593841" y="6933"/>
                </a:lnTo>
                <a:cubicBezTo>
                  <a:pt x="9557263" y="20327"/>
                  <a:pt x="10934937" y="51683"/>
                  <a:pt x="10934937" y="88227"/>
                </a:cubicBezTo>
                <a:lnTo>
                  <a:pt x="5470437" y="88227"/>
                </a:lnTo>
                <a:lnTo>
                  <a:pt x="5464500" y="88227"/>
                </a:lnTo>
                <a:lnTo>
                  <a:pt x="0" y="88227"/>
                </a:lnTo>
                <a:close/>
              </a:path>
            </a:pathLst>
          </a:custGeom>
          <a:gradFill rotWithShape="0">
            <a:gsLst>
              <a:gs pos="0">
                <a:srgbClr val="9fe6ff"/>
              </a:gs>
              <a:gs pos="100000">
                <a:srgbClr val="ddf6ff"/>
              </a:gs>
            </a:gsLst>
            <a:lin ang="27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矩形 18"/>
          <p:cNvSpPr/>
          <p:nvPr/>
        </p:nvSpPr>
        <p:spPr>
          <a:xfrm>
            <a:off x="0" y="6453360"/>
            <a:ext cx="12191760" cy="404280"/>
          </a:xfrm>
          <a:prstGeom prst="rect">
            <a:avLst/>
          </a:prstGeom>
          <a:gradFill rotWithShape="0">
            <a:gsLst>
              <a:gs pos="2000">
                <a:srgbClr val="c1efff"/>
              </a:gs>
              <a:gs pos="100000">
                <a:srgbClr val="7fcbf9"/>
              </a:gs>
            </a:gsLst>
            <a:lin ang="135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文字方塊 19"/>
          <p:cNvSpPr/>
          <p:nvPr/>
        </p:nvSpPr>
        <p:spPr>
          <a:xfrm>
            <a:off x="235440" y="6453360"/>
            <a:ext cx="13248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標楷體"/>
              </a:rPr>
              <a:t>NYCU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標楷體"/>
              </a:rPr>
              <a:t> CS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200" spc="-1" strike="noStrike">
                <a:solidFill>
                  <a:srgbClr val="3897fc"/>
                </a:solidFill>
                <a:latin typeface="Calibri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40AF08-6994-48A6-A3BD-62F40BE2228B}" type="slidenum">
              <a:rPr b="1" lang="en-US" sz="1200" spc="-1" strike="noStrike">
                <a:solidFill>
                  <a:srgbClr val="3897fc"/>
                </a:solidFill>
                <a:latin typeface="Calibri"/>
                <a:ea typeface="新細明體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50" name="圖片 7" descr=""/>
          <p:cNvPicPr/>
          <p:nvPr/>
        </p:nvPicPr>
        <p:blipFill>
          <a:blip r:embed="rId2"/>
          <a:stretch/>
        </p:blipFill>
        <p:spPr>
          <a:xfrm>
            <a:off x="235440" y="90360"/>
            <a:ext cx="747720" cy="982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sdnta@win.cs.nycu.edu.tw" TargetMode="External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hub.docker.com/r/frrouting/frr-debian" TargetMode="External"/><Relationship Id="rId2" Type="http://schemas.openxmlformats.org/officeDocument/2006/relationships/hyperlink" Target="https://hub.docker.com/r/frrouting/frr-debian" TargetMode="External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image" Target="../media/image39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76.png"/><Relationship Id="rId3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hyperlink" Target="https://docs.google.com/spreadsheets/d/18jBtdl7BgK_GIqJtgEI210icpPq_Et1tVk8eLnFe6Kk/edit?usp=sharing" TargetMode="External"/><Relationship Id="rId2" Type="http://schemas.openxmlformats.org/officeDocument/2006/relationships/slideLayout" Target="../slideLayouts/slideLayout1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hyperlink" Target="https://github.com/FRRouting/frr/tree/master/docker" TargetMode="External"/><Relationship Id="rId2" Type="http://schemas.openxmlformats.org/officeDocument/2006/relationships/hyperlink" Target="https://github.com/FRRouting/frr/tree/master/docker" TargetMode="External"/><Relationship Id="rId3" Type="http://schemas.openxmlformats.org/officeDocument/2006/relationships/hyperlink" Target="https://github.com/FRRouting/frr/tree/master/docker" TargetMode="External"/><Relationship Id="rId4" Type="http://schemas.openxmlformats.org/officeDocument/2006/relationships/hyperlink" Target="https://github.com/FRRouting/frr/tree/master/docker" TargetMode="External"/><Relationship Id="rId5" Type="http://schemas.openxmlformats.org/officeDocument/2006/relationships/hyperlink" Target="https://github.com/FRRouting/frr/tree/master/docker" TargetMode="External"/><Relationship Id="rId6" Type="http://schemas.openxmlformats.org/officeDocument/2006/relationships/image" Target="../media/image92.png"/><Relationship Id="rId7" Type="http://schemas.openxmlformats.org/officeDocument/2006/relationships/slideLayout" Target="../slideLayouts/slideLayout13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hyperlink" Target="https://man7.org/linux/man-pages/man8/ovs-vsctl.8.html" TargetMode="External"/><Relationship Id="rId2" Type="http://schemas.openxmlformats.org/officeDocument/2006/relationships/hyperlink" Target="https://linux.die.net/man/8/ip" TargetMode="External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1879560" y="2938680"/>
            <a:ext cx="8971200" cy="2573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i="1" lang="en-US" sz="3200" spc="-1" strike="noStrike">
                <a:solidFill>
                  <a:srgbClr val="3297fc"/>
                </a:solidFill>
                <a:latin typeface="Calibri"/>
                <a:ea typeface="標楷體"/>
              </a:rPr>
              <a:t>Netw</a:t>
            </a:r>
            <a:r>
              <a:rPr b="0" i="1" lang="en-US" sz="3200" spc="-1" strike="noStrike">
                <a:solidFill>
                  <a:srgbClr val="3297fc"/>
                </a:solidFill>
                <a:latin typeface="Calibri"/>
                <a:ea typeface="標楷體"/>
              </a:rPr>
              <a:t>ork </a:t>
            </a:r>
            <a:r>
              <a:rPr b="0" i="1" lang="en-US" sz="3200" spc="-1" strike="noStrike">
                <a:solidFill>
                  <a:srgbClr val="3297fc"/>
                </a:solidFill>
                <a:latin typeface="Calibri"/>
                <a:ea typeface="標楷體"/>
              </a:rPr>
              <a:t>Functi</a:t>
            </a:r>
            <a:r>
              <a:rPr b="0" i="1" lang="en-US" sz="3200" spc="-1" strike="noStrike">
                <a:solidFill>
                  <a:srgbClr val="3297fc"/>
                </a:solidFill>
                <a:latin typeface="Calibri"/>
                <a:ea typeface="標楷體"/>
              </a:rPr>
              <a:t>ons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3297fc"/>
                </a:solidFill>
                <a:latin typeface="Calibri"/>
                <a:ea typeface="標楷體"/>
              </a:rPr>
              <a:t>助教：蔣汶</a:t>
            </a:r>
            <a:r>
              <a:rPr b="0" lang="zh-TW" sz="1800" spc="-1" strike="noStrike">
                <a:solidFill>
                  <a:srgbClr val="3297fc"/>
                </a:solidFill>
                <a:latin typeface="Calibri"/>
                <a:ea typeface="標楷體"/>
              </a:rPr>
              <a:t>儒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 u="sng">
                <a:solidFill>
                  <a:srgbClr val="ff0000"/>
                </a:solidFill>
                <a:uFillTx/>
                <a:latin typeface="Calibri"/>
                <a:ea typeface="標楷體"/>
                <a:hlinkClick r:id="rId1"/>
              </a:rPr>
              <a:t>sdnta@win.cs.nycu.edu.tw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0000"/>
                </a:solidFill>
                <a:latin typeface="Calibri"/>
                <a:ea typeface="標楷體"/>
              </a:rPr>
              <a:t>Dead</a:t>
            </a:r>
            <a:r>
              <a:rPr b="1" lang="en-US" sz="3200" spc="-1" strike="noStrike">
                <a:solidFill>
                  <a:srgbClr val="ff0000"/>
                </a:solidFill>
                <a:latin typeface="Calibri"/>
                <a:ea typeface="標楷體"/>
              </a:rPr>
              <a:t>line: </a:t>
            </a:r>
            <a:r>
              <a:rPr b="1" lang="en-US" sz="3200" spc="-1" strike="noStrike">
                <a:solidFill>
                  <a:srgbClr val="ff0000"/>
                </a:solidFill>
                <a:latin typeface="Calibri"/>
                <a:ea typeface="標楷體"/>
              </a:rPr>
              <a:t>2025</a:t>
            </a:r>
            <a:r>
              <a:rPr b="1" lang="en-US" sz="3200" spc="-1" strike="noStrike">
                <a:solidFill>
                  <a:srgbClr val="ff0000"/>
                </a:solidFill>
                <a:latin typeface="Calibri"/>
                <a:ea typeface="標楷體"/>
              </a:rPr>
              <a:t>/11/2</a:t>
            </a:r>
            <a:r>
              <a:rPr b="1" lang="en-US" sz="3200" spc="-1" strike="noStrike">
                <a:solidFill>
                  <a:srgbClr val="ff0000"/>
                </a:solidFill>
                <a:latin typeface="Calibri"/>
                <a:ea typeface="標楷體"/>
              </a:rPr>
              <a:t>5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2219760" y="404640"/>
            <a:ext cx="8312760" cy="19872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3297fc"/>
                </a:solidFill>
                <a:latin typeface="Calibri"/>
                <a:ea typeface="標楷體"/>
              </a:rPr>
              <a:t>SDNF</a:t>
            </a:r>
            <a:r>
              <a:rPr b="1" lang="en-US" sz="4400" spc="-1" strike="noStrike">
                <a:solidFill>
                  <a:srgbClr val="3297fc"/>
                </a:solidFill>
                <a:latin typeface="Calibri"/>
                <a:ea typeface="標楷體"/>
              </a:rPr>
              <a:t>V </a:t>
            </a:r>
            <a:r>
              <a:rPr b="1" lang="en-US" sz="4400" spc="-1" strike="noStrike">
                <a:solidFill>
                  <a:srgbClr val="3297fc"/>
                </a:solidFill>
                <a:latin typeface="Calibri"/>
                <a:ea typeface="標楷體"/>
              </a:rPr>
              <a:t>Lab 6</a:t>
            </a:r>
            <a:endParaRPr b="0" lang="en-US" sz="4400" spc="-1" strike="noStrike">
              <a:solidFill>
                <a:srgbClr val="c0504d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Virtual 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Project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TLI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Goal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Intra-domain host communication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Handled by Bridge APP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Inter-domain host communication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SDN domain &lt;-&gt; Other domain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Transit host communication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Other domain &lt;-&gt; SDN domain &lt;-&gt; Other domain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vRou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ter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Speci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ficati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Intra AS packet forwarding and packet-in request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Lab3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Arp Reply for devices in AS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Lab3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Automatic IP Allocation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Lab4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IPv6 Capability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Lab5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Routing table maintenance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Lab6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ONOS Route Service Usage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Update dependencies in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pom.xml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file.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Import methods.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107" name="圖片 3" descr=""/>
          <p:cNvPicPr/>
          <p:nvPr/>
        </p:nvPicPr>
        <p:blipFill>
          <a:blip r:embed="rId1"/>
          <a:stretch/>
        </p:blipFill>
        <p:spPr>
          <a:xfrm>
            <a:off x="1528200" y="4311000"/>
            <a:ext cx="9279360" cy="658800"/>
          </a:xfrm>
          <a:prstGeom prst="rect">
            <a:avLst/>
          </a:prstGeom>
          <a:ln w="0">
            <a:noFill/>
          </a:ln>
        </p:spPr>
      </p:pic>
      <p:pic>
        <p:nvPicPr>
          <p:cNvPr id="108" name="圖片 7" descr=""/>
          <p:cNvPicPr/>
          <p:nvPr/>
        </p:nvPicPr>
        <p:blipFill>
          <a:blip r:embed="rId2"/>
          <a:stretch/>
        </p:blipFill>
        <p:spPr>
          <a:xfrm>
            <a:off x="3081600" y="1505520"/>
            <a:ext cx="6286320" cy="1544400"/>
          </a:xfrm>
          <a:prstGeom prst="rect">
            <a:avLst/>
          </a:prstGeom>
          <a:ln w="0">
            <a:noFill/>
          </a:ln>
        </p:spPr>
      </p:pic>
      <p:pic>
        <p:nvPicPr>
          <p:cNvPr id="109" name="圖片 8" descr=""/>
          <p:cNvPicPr/>
          <p:nvPr/>
        </p:nvPicPr>
        <p:blipFill>
          <a:blip r:embed="rId3"/>
          <a:stretch/>
        </p:blipFill>
        <p:spPr>
          <a:xfrm>
            <a:off x="2084040" y="3722760"/>
            <a:ext cx="5522040" cy="35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How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to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Read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The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Friend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ly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Manua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l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53949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Steps to build and view onos docs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Goto ONOS_HOME (often ~/onos)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Open docs/BUILD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Modify SOURCES add `//apps/route-service/api:onos-apps-route-service-api-sources`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112" name="圖片 9" descr=""/>
          <p:cNvPicPr/>
          <p:nvPr/>
        </p:nvPicPr>
        <p:blipFill>
          <a:blip r:embed="rId1"/>
          <a:stretch/>
        </p:blipFill>
        <p:spPr>
          <a:xfrm>
            <a:off x="6360480" y="1395360"/>
            <a:ext cx="5202000" cy="465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Ho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w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to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Rea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d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The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Frie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ndl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y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Ma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nua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l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Steps to build and view onos docs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Goto ONOS_HOME (often ~/onos)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Open docs/BUILD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Modify SOURCES, add `//apps/route-service/api:onos-apps-route-service-api-sources`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Modify EXTERNAL_GROUPS, add `org.onosproject.routeservice`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115" name="圖片 4" descr=""/>
          <p:cNvPicPr/>
          <p:nvPr/>
        </p:nvPicPr>
        <p:blipFill>
          <a:blip r:embed="rId1"/>
          <a:stretch/>
        </p:blipFill>
        <p:spPr>
          <a:xfrm>
            <a:off x="2447640" y="3510000"/>
            <a:ext cx="7440120" cy="283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How to Read The Friendly Manual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Steps to build and view onos docs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Goto ONOS_HOME (often ~/onos)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Open docs/BUILD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Modify SOURCES, add `//apps/route-service/api:onos-apps-route-service-api-sources`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Modify EXTERNAL_GROUPS, add `org.onosproject.routeservice`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Run `bazel build //docs:external`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Run `unzip bazel-bin/docs/external.jar`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shall find `apidocs` directory been generated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Goto `apidocs` and run `python3 -m http.server`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745200" indent="-4572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will find the documentation been serve at localhost:8000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Introduction to Docker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355680" indent="-343080">
              <a:lnSpc>
                <a:spcPct val="100000"/>
              </a:lnSpc>
              <a:spcBef>
                <a:spcPts val="74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  <a:tab algn="l" pos="8356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Docker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is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a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software</a:t>
            </a:r>
            <a:r>
              <a:rPr b="0" lang="en-US" sz="2400" spc="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platform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that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allows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you</a:t>
            </a:r>
            <a:r>
              <a:rPr b="0" lang="en-US" sz="2400" spc="9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to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build,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test,</a:t>
            </a:r>
            <a:r>
              <a:rPr b="0" lang="en-US" sz="2400" spc="9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deploy</a:t>
            </a:r>
            <a:r>
              <a:rPr b="0" lang="en-US" sz="2400" spc="-5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applications </a:t>
            </a:r>
            <a:r>
              <a:rPr b="0" lang="en-US" sz="2400" spc="-52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quickly in packages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called containers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408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Typical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steps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for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creating Docker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containers: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849600" indent="-457200">
              <a:lnSpc>
                <a:spcPct val="100000"/>
              </a:lnSpc>
              <a:spcBef>
                <a:spcPts val="431"/>
              </a:spcBef>
              <a:buClr>
                <a:srgbClr val="0088ee"/>
              </a:buClr>
              <a:buFont typeface="Calibri"/>
              <a:buAutoNum type="arabicPeriod"/>
              <a:tabLst>
                <a:tab algn="l" pos="848880"/>
                <a:tab algn="l" pos="849600"/>
              </a:tabLst>
            </a:pP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Build</a:t>
            </a:r>
            <a:r>
              <a:rPr b="1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Docker images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of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the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desired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OS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distribution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and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applications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849600" indent="-457200">
              <a:lnSpc>
                <a:spcPct val="100000"/>
              </a:lnSpc>
              <a:spcBef>
                <a:spcPts val="408"/>
              </a:spcBef>
              <a:buClr>
                <a:srgbClr val="0088ee"/>
              </a:buClr>
              <a:buFont typeface="Calibri"/>
              <a:buAutoNum type="arabicPeriod"/>
              <a:tabLst>
                <a:tab algn="l" pos="848880"/>
                <a:tab algn="l" pos="84960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Store the images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in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Docker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Registry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1211760" indent="-457200">
              <a:lnSpc>
                <a:spcPct val="100000"/>
              </a:lnSpc>
              <a:spcBef>
                <a:spcPts val="309"/>
              </a:spcBef>
              <a:buClr>
                <a:srgbClr val="3889f6"/>
              </a:buClr>
              <a:buFont typeface="Wingdings" charset="2"/>
              <a:buChar char=""/>
              <a:tabLst>
                <a:tab algn="l" pos="1211040"/>
                <a:tab algn="l" pos="121176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Public</a:t>
            </a:r>
            <a:r>
              <a:rPr b="0" lang="en-US" sz="2400" spc="-3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(Docker</a:t>
            </a:r>
            <a:r>
              <a:rPr b="0" lang="en-US" sz="2400" spc="-3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Hub)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1211760" indent="-457200">
              <a:lnSpc>
                <a:spcPct val="100000"/>
              </a:lnSpc>
              <a:spcBef>
                <a:spcPts val="431"/>
              </a:spcBef>
              <a:buClr>
                <a:srgbClr val="3889f6"/>
              </a:buClr>
              <a:buFont typeface="Wingdings" charset="2"/>
              <a:buChar char=""/>
              <a:tabLst>
                <a:tab algn="l" pos="1211040"/>
                <a:tab algn="l" pos="121176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Private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849600" indent="-457200">
              <a:lnSpc>
                <a:spcPct val="100000"/>
              </a:lnSpc>
              <a:spcBef>
                <a:spcPts val="408"/>
              </a:spcBef>
              <a:buClr>
                <a:srgbClr val="0088ee"/>
              </a:buClr>
              <a:buFont typeface="Calibri"/>
              <a:buAutoNum type="arabicPeriod"/>
              <a:tabLst>
                <a:tab algn="l" pos="848880"/>
                <a:tab algn="l" pos="849600"/>
              </a:tabLst>
            </a:pP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Run Docker to</a:t>
            </a:r>
            <a:r>
              <a:rPr b="1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build containers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of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images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6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6992400-A411-4825-8A23-9A33B8AE17F7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pic>
        <p:nvPicPr>
          <p:cNvPr id="123" name="object 5" descr=""/>
          <p:cNvPicPr/>
          <p:nvPr/>
        </p:nvPicPr>
        <p:blipFill>
          <a:blip r:embed="rId1"/>
          <a:stretch/>
        </p:blipFill>
        <p:spPr>
          <a:xfrm>
            <a:off x="7282440" y="2690640"/>
            <a:ext cx="4197240" cy="379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Pull Image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Usage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E.g., Pull</a:t>
            </a:r>
            <a:r>
              <a:rPr b="0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 ubuntu:22.04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image</a:t>
            </a:r>
            <a:r>
              <a:rPr b="0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from Docker h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ub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 registry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List</a:t>
            </a:r>
            <a:r>
              <a:rPr b="0" lang="en-US" sz="2800" spc="-60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images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7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A4DD3A-5E51-4357-BEC0-7B91F8967CBD}" type="slidenum">
              <a: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27" name="object 7"/>
          <p:cNvSpPr/>
          <p:nvPr/>
        </p:nvSpPr>
        <p:spPr>
          <a:xfrm>
            <a:off x="1152360" y="1496160"/>
            <a:ext cx="7961400" cy="41508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9680" bIns="0" anchor="t">
            <a:spAutoFit/>
          </a:bodyPr>
          <a:p>
            <a:pPr marL="214560">
              <a:lnSpc>
                <a:spcPct val="100000"/>
              </a:lnSpc>
              <a:spcBef>
                <a:spcPts val="391"/>
              </a:spcBef>
              <a:buNone/>
              <a:tabLst>
                <a:tab algn="l" pos="1214640"/>
                <a:tab algn="l" pos="2028240"/>
                <a:tab algn="l" pos="3129120"/>
                <a:tab algn="l" pos="3871080"/>
              </a:tabLst>
            </a:pP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69" strike="noStrike">
                <a:solidFill>
                  <a:srgbClr val="0d0d0d"/>
                </a:solidFill>
                <a:latin typeface="Arial MT"/>
                <a:ea typeface="標楷體"/>
              </a:rPr>
              <a:t>docker </a:t>
            </a:r>
            <a:r>
              <a:rPr b="0" lang="en-US" sz="2400" spc="214" strike="noStrike">
                <a:solidFill>
                  <a:srgbClr val="0d0d0d"/>
                </a:solidFill>
                <a:latin typeface="Arial MT"/>
                <a:ea typeface="標楷體"/>
              </a:rPr>
              <a:t>pull &lt;name&gt;:&lt;tag&gt;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object 8"/>
          <p:cNvSpPr/>
          <p:nvPr/>
        </p:nvSpPr>
        <p:spPr>
          <a:xfrm>
            <a:off x="1150560" y="2519640"/>
            <a:ext cx="796140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040">
              <a:lnSpc>
                <a:spcPct val="100000"/>
              </a:lnSpc>
              <a:spcBef>
                <a:spcPts val="366"/>
              </a:spcBef>
              <a:buNone/>
              <a:tabLst>
                <a:tab algn="l" pos="374508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2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72" strike="noStrike">
                <a:solidFill>
                  <a:srgbClr val="0d0d0d"/>
                </a:solidFill>
                <a:latin typeface="Arial MT"/>
                <a:ea typeface="標楷體"/>
              </a:rPr>
              <a:t>docker</a:t>
            </a:r>
            <a:r>
              <a:rPr b="0" lang="en-US" sz="2400" spc="199" strike="noStrike">
                <a:solidFill>
                  <a:srgbClr val="0d0d0d"/>
                </a:solidFill>
                <a:latin typeface="Arial MT"/>
                <a:ea typeface="標楷體"/>
              </a:rPr>
              <a:t> pull </a:t>
            </a:r>
            <a:r>
              <a:rPr b="0" lang="en-US" sz="2400" spc="117" strike="noStrike">
                <a:solidFill>
                  <a:srgbClr val="0d0d0d"/>
                </a:solidFill>
                <a:latin typeface="Arial MT"/>
                <a:ea typeface="標楷體"/>
              </a:rPr>
              <a:t>ubuntu:22.04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9" name="object 9"/>
          <p:cNvSpPr/>
          <p:nvPr/>
        </p:nvSpPr>
        <p:spPr>
          <a:xfrm>
            <a:off x="1148040" y="3472200"/>
            <a:ext cx="7961400" cy="4136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240" bIns="0" anchor="t">
            <a:spAutoFit/>
          </a:bodyPr>
          <a:p>
            <a:pPr marL="230040">
              <a:lnSpc>
                <a:spcPct val="100000"/>
              </a:lnSpc>
              <a:spcBef>
                <a:spcPts val="380"/>
              </a:spcBef>
              <a:buNone/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32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72" strike="noStrike">
                <a:solidFill>
                  <a:srgbClr val="0d0d0d"/>
                </a:solidFill>
                <a:latin typeface="Arial MT"/>
                <a:ea typeface="標楷體"/>
              </a:rPr>
              <a:t>docker</a:t>
            </a:r>
            <a:r>
              <a:rPr b="0" lang="en-US" sz="2400" spc="174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9" strike="noStrike">
                <a:solidFill>
                  <a:srgbClr val="0d0d0d"/>
                </a:solidFill>
                <a:latin typeface="Arial MT"/>
                <a:ea typeface="標楷體"/>
              </a:rPr>
              <a:t>images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0" name="Picture 10" descr=""/>
          <p:cNvPicPr/>
          <p:nvPr/>
        </p:nvPicPr>
        <p:blipFill>
          <a:blip r:embed="rId1"/>
          <a:stretch/>
        </p:blipFill>
        <p:spPr>
          <a:xfrm>
            <a:off x="1271520" y="4355640"/>
            <a:ext cx="8623080" cy="87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7" strike="noStrike">
                <a:solidFill>
                  <a:srgbClr val="3297fc"/>
                </a:solidFill>
                <a:latin typeface="Calibri"/>
                <a:ea typeface="標楷體"/>
              </a:rPr>
              <a:t>Docker</a:t>
            </a:r>
            <a:r>
              <a:rPr b="1" lang="en-US" sz="3600" spc="-4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3600" spc="-7" strike="noStrike">
                <a:solidFill>
                  <a:srgbClr val="3297fc"/>
                </a:solidFill>
                <a:latin typeface="Calibri"/>
                <a:ea typeface="標楷體"/>
              </a:rPr>
              <a:t>run</a:t>
            </a:r>
            <a:r>
              <a:rPr b="1" lang="en-US" sz="3600" spc="-3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(1/2)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355680" indent="-343080">
              <a:lnSpc>
                <a:spcPct val="100000"/>
              </a:lnSpc>
              <a:spcBef>
                <a:spcPts val="505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Run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command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new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124200">
              <a:lnSpc>
                <a:spcPct val="100000"/>
              </a:lnSpc>
              <a:spcBef>
                <a:spcPts val="408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  ‒</a:t>
            </a:r>
            <a:r>
              <a:rPr b="0" lang="en-US" sz="2400" spc="154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Create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run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124200">
              <a:lnSpc>
                <a:spcPct val="100000"/>
              </a:lnSpc>
              <a:spcBef>
                <a:spcPts val="43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  </a:t>
            </a:r>
            <a:r>
              <a:rPr b="0" lang="en-US" sz="2400" spc="-1" strike="noStrike">
                <a:solidFill>
                  <a:srgbClr val="a6a6a6"/>
                </a:solidFill>
                <a:latin typeface="Calibri"/>
                <a:ea typeface="標楷體"/>
              </a:rPr>
              <a:t>‒</a:t>
            </a:r>
            <a:r>
              <a:rPr b="0" lang="en-US" sz="2400" spc="154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a6a6a6"/>
                </a:solidFill>
                <a:latin typeface="Calibri"/>
                <a:ea typeface="標楷體"/>
              </a:rPr>
              <a:t>Execute</a:t>
            </a:r>
            <a:r>
              <a:rPr b="0" lang="en-US" sz="2400" spc="-15" strike="noStrike">
                <a:solidFill>
                  <a:srgbClr val="a6a6a6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a6a6a6"/>
                </a:solidFill>
                <a:latin typeface="Calibri"/>
                <a:ea typeface="標楷體"/>
              </a:rPr>
              <a:t>a</a:t>
            </a:r>
            <a:r>
              <a:rPr b="0" lang="en-US" sz="2400" spc="-12" strike="noStrike">
                <a:solidFill>
                  <a:srgbClr val="a6a6a6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a6a6a6"/>
                </a:solidFill>
                <a:latin typeface="Calibri"/>
                <a:ea typeface="標楷體"/>
              </a:rPr>
              <a:t>command</a:t>
            </a:r>
            <a:r>
              <a:rPr b="0" lang="en-US" sz="2400" spc="-12" strike="noStrike">
                <a:solidFill>
                  <a:srgbClr val="a6a6a6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a6a6a6"/>
                </a:solidFill>
                <a:latin typeface="Calibri"/>
                <a:ea typeface="標楷體"/>
              </a:rPr>
              <a:t>in</a:t>
            </a:r>
            <a:r>
              <a:rPr b="0" lang="en-US" sz="2400" spc="-15" strike="noStrike">
                <a:solidFill>
                  <a:srgbClr val="a6a6a6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a6a6a6"/>
                </a:solidFill>
                <a:latin typeface="Calibri"/>
                <a:ea typeface="標楷體"/>
              </a:rPr>
              <a:t>the </a:t>
            </a:r>
            <a:r>
              <a:rPr b="0" lang="en-US" sz="2400" spc="-7" strike="noStrike">
                <a:solidFill>
                  <a:srgbClr val="a6a6a6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408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408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E.g.,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Create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Run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“test”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93640" indent="-307800">
              <a:lnSpc>
                <a:spcPct val="100000"/>
              </a:lnSpc>
              <a:spcBef>
                <a:spcPts val="459"/>
              </a:spcBef>
              <a:buClr>
                <a:srgbClr val="0088ee"/>
              </a:buClr>
              <a:buFont typeface="Wingdings" charset="2"/>
              <a:buChar char=""/>
              <a:tabLst>
                <a:tab algn="l" pos="32076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-d: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Detached</a:t>
            </a:r>
            <a:r>
              <a:rPr b="0" lang="en-US" sz="24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(like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daemon</a:t>
            </a:r>
            <a:r>
              <a:rPr b="0" lang="en-US" sz="24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in</a:t>
            </a:r>
            <a:r>
              <a:rPr b="0" lang="en-US" sz="2400" spc="148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background)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93640" indent="-307800">
              <a:lnSpc>
                <a:spcPct val="100000"/>
              </a:lnSpc>
              <a:spcBef>
                <a:spcPts val="360"/>
              </a:spcBef>
              <a:buClr>
                <a:srgbClr val="0088ee"/>
              </a:buClr>
              <a:buFont typeface="Wingdings" charset="2"/>
              <a:buChar char=""/>
              <a:tabLst>
                <a:tab algn="l" pos="320760"/>
              </a:tabLst>
            </a:pPr>
            <a:r>
              <a:rPr b="0" lang="en-US" sz="2400" spc="-7" strike="noStrike">
                <a:solidFill>
                  <a:srgbClr val="3897fc"/>
                </a:solidFill>
                <a:latin typeface="Calibri"/>
                <a:ea typeface="標楷體"/>
              </a:rPr>
              <a:t>-it: </a:t>
            </a:r>
            <a:r>
              <a:rPr b="0" lang="en-US" sz="2400" spc="-12" strike="noStrike">
                <a:solidFill>
                  <a:srgbClr val="3897fc"/>
                </a:solidFill>
                <a:latin typeface="Calibri"/>
                <a:ea typeface="標楷體"/>
              </a:rPr>
              <a:t>Interactive</a:t>
            </a:r>
            <a:r>
              <a:rPr b="0" lang="en-US" sz="2400" spc="-7" strike="noStrike">
                <a:solidFill>
                  <a:srgbClr val="3897fc"/>
                </a:solidFill>
                <a:latin typeface="Calibri"/>
                <a:ea typeface="標楷體"/>
              </a:rPr>
              <a:t> </a:t>
            </a:r>
            <a:r>
              <a:rPr b="0" lang="en-US" sz="2400" spc="-15" strike="noStrike">
                <a:solidFill>
                  <a:srgbClr val="3897fc"/>
                </a:solidFill>
                <a:latin typeface="Calibri"/>
                <a:ea typeface="標楷體"/>
              </a:rPr>
              <a:t>processes</a:t>
            </a:r>
            <a:r>
              <a:rPr b="0" lang="en-US" sz="2400" spc="-21" strike="noStrike">
                <a:solidFill>
                  <a:srgbClr val="38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897fc"/>
                </a:solidFill>
                <a:latin typeface="Calibri"/>
                <a:ea typeface="標楷體"/>
              </a:rPr>
              <a:t>(like</a:t>
            </a:r>
            <a:r>
              <a:rPr b="0" lang="en-US" sz="2400" spc="-7" strike="noStrike">
                <a:solidFill>
                  <a:srgbClr val="38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897fc"/>
                </a:solidFill>
                <a:latin typeface="Calibri"/>
                <a:ea typeface="標楷體"/>
              </a:rPr>
              <a:t>a</a:t>
            </a:r>
            <a:r>
              <a:rPr b="0" lang="en-US" sz="2400" spc="168" strike="noStrike">
                <a:solidFill>
                  <a:srgbClr val="3897fc"/>
                </a:solidFill>
                <a:latin typeface="Calibri"/>
                <a:ea typeface="標楷體"/>
              </a:rPr>
              <a:t> </a:t>
            </a:r>
            <a:r>
              <a:rPr b="0" lang="en-US" sz="2400" spc="-15" strike="noStrike">
                <a:solidFill>
                  <a:srgbClr val="3897fc"/>
                </a:solidFill>
                <a:latin typeface="Calibri"/>
                <a:ea typeface="標楷體"/>
              </a:rPr>
              <a:t>shell)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92560" indent="-306720">
              <a:lnSpc>
                <a:spcPct val="100000"/>
              </a:lnSpc>
              <a:spcBef>
                <a:spcPts val="456"/>
              </a:spcBef>
              <a:buClr>
                <a:srgbClr val="0088ee"/>
              </a:buClr>
              <a:buFont typeface="Wingdings" charset="2"/>
              <a:buChar char=""/>
              <a:tabLst>
                <a:tab algn="l" pos="319320"/>
              </a:tabLst>
            </a:pP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--name:</a:t>
            </a:r>
            <a:r>
              <a:rPr b="0" lang="en-US" sz="24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Assign</a:t>
            </a:r>
            <a:r>
              <a:rPr b="0" lang="en-US" sz="2400" spc="-3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name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to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the</a:t>
            </a:r>
            <a:r>
              <a:rPr b="0" lang="en-US" sz="2400" spc="128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8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D9591D-F1A6-4233-9DB3-76AAE8C52F83}" type="slidenum">
              <a: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34" name="object 6"/>
          <p:cNvSpPr/>
          <p:nvPr/>
        </p:nvSpPr>
        <p:spPr>
          <a:xfrm>
            <a:off x="1016640" y="2682360"/>
            <a:ext cx="10153440" cy="4136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240" bIns="0" anchor="t">
            <a:spAutoFit/>
          </a:bodyPr>
          <a:p>
            <a:pPr marL="214560">
              <a:lnSpc>
                <a:spcPct val="100000"/>
              </a:lnSpc>
              <a:spcBef>
                <a:spcPts val="380"/>
              </a:spcBef>
              <a:buNone/>
              <a:tabLst>
                <a:tab algn="l" pos="1214640"/>
                <a:tab algn="l" pos="2028960"/>
                <a:tab algn="l" pos="3155400"/>
              </a:tabLst>
            </a:pP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83" strike="noStrike">
                <a:solidFill>
                  <a:srgbClr val="0d0d0d"/>
                </a:solidFill>
                <a:latin typeface="Arial MT"/>
                <a:ea typeface="標楷體"/>
              </a:rPr>
              <a:t>docke</a:t>
            </a:r>
            <a:r>
              <a:rPr b="0" lang="en-US" sz="2400" spc="-1" strike="noStrike">
                <a:solidFill>
                  <a:srgbClr val="0d0d0d"/>
                </a:solidFill>
                <a:latin typeface="Arial MT"/>
                <a:ea typeface="標楷體"/>
              </a:rPr>
              <a:t>r </a:t>
            </a:r>
            <a:r>
              <a:rPr b="0" lang="en-US" sz="2400" spc="109" strike="noStrike">
                <a:solidFill>
                  <a:srgbClr val="0d0d0d"/>
                </a:solidFill>
                <a:latin typeface="Arial MT"/>
                <a:ea typeface="標楷體"/>
              </a:rPr>
              <a:t>r</a:t>
            </a:r>
            <a:r>
              <a:rPr b="0" lang="en-US" sz="2400" spc="111" strike="noStrike">
                <a:solidFill>
                  <a:srgbClr val="0d0d0d"/>
                </a:solidFill>
                <a:latin typeface="Arial MT"/>
                <a:ea typeface="標楷體"/>
              </a:rPr>
              <a:t>u</a:t>
            </a:r>
            <a:r>
              <a:rPr b="0" lang="en-US" sz="2400" spc="-1" strike="noStrike">
                <a:solidFill>
                  <a:srgbClr val="0d0d0d"/>
                </a:solidFill>
                <a:latin typeface="Arial MT"/>
                <a:ea typeface="標楷體"/>
              </a:rPr>
              <a:t>n</a:t>
            </a:r>
            <a:r>
              <a:rPr b="0" lang="en-US" sz="2400" spc="222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-32" strike="noStrike">
                <a:solidFill>
                  <a:srgbClr val="0d0d0d"/>
                </a:solidFill>
                <a:latin typeface="Arial MT"/>
                <a:ea typeface="標楷體"/>
              </a:rPr>
              <a:t>&lt;options</a:t>
            </a:r>
            <a:r>
              <a:rPr b="0" lang="en-US" sz="2400" spc="-26" strike="noStrike">
                <a:solidFill>
                  <a:srgbClr val="0d0d0d"/>
                </a:solidFill>
                <a:latin typeface="Arial MT"/>
                <a:ea typeface="標楷體"/>
              </a:rPr>
              <a:t>&gt;</a:t>
            </a:r>
            <a:r>
              <a:rPr b="0" lang="en-US" sz="2400" spc="-66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-21" strike="noStrike">
                <a:solidFill>
                  <a:srgbClr val="0d0d0d"/>
                </a:solidFill>
                <a:latin typeface="Arial MT"/>
                <a:ea typeface="標楷體"/>
              </a:rPr>
              <a:t>&lt;image&gt;:&lt;tag</a:t>
            </a:r>
            <a:r>
              <a:rPr b="0" lang="en-US" sz="2400" spc="-202" strike="noStrike">
                <a:solidFill>
                  <a:srgbClr val="0d0d0d"/>
                </a:solidFill>
                <a:latin typeface="Arial MT"/>
                <a:ea typeface="標楷體"/>
              </a:rPr>
              <a:t>&gt;</a:t>
            </a:r>
            <a:r>
              <a:rPr b="0" lang="en-US" sz="2400" spc="-46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-185" strike="noStrike">
                <a:solidFill>
                  <a:srgbClr val="a6a6a6"/>
                </a:solidFill>
                <a:latin typeface="Arial MT"/>
                <a:ea typeface="標楷體"/>
              </a:rPr>
              <a:t>&lt;command</a:t>
            </a:r>
            <a:r>
              <a:rPr b="0" lang="en-US" sz="2400" spc="-177" strike="noStrike">
                <a:solidFill>
                  <a:srgbClr val="a6a6a6"/>
                </a:solidFill>
                <a:latin typeface="Arial MT"/>
                <a:ea typeface="標楷體"/>
              </a:rPr>
              <a:t>&gt;</a:t>
            </a:r>
            <a:r>
              <a:rPr b="0" lang="en-US" sz="2400" spc="-341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37" strike="noStrike">
                <a:solidFill>
                  <a:srgbClr val="a6a6a6"/>
                </a:solidFill>
                <a:latin typeface="Arial MT"/>
                <a:ea typeface="標楷體"/>
              </a:rPr>
              <a:t>&lt;</a:t>
            </a:r>
            <a:r>
              <a:rPr b="0" lang="en-US" sz="2400" spc="143" strike="noStrike">
                <a:solidFill>
                  <a:srgbClr val="a6a6a6"/>
                </a:solidFill>
                <a:latin typeface="Arial MT"/>
                <a:ea typeface="標楷體"/>
              </a:rPr>
              <a:t>arg</a:t>
            </a:r>
            <a:r>
              <a:rPr b="0" lang="en-US" sz="2400" spc="137" strike="noStrike">
                <a:solidFill>
                  <a:srgbClr val="a6a6a6"/>
                </a:solidFill>
                <a:latin typeface="Arial MT"/>
                <a:ea typeface="標楷體"/>
              </a:rPr>
              <a:t>..&gt;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35" name="object 7"/>
          <p:cNvGrpSpPr/>
          <p:nvPr/>
        </p:nvGrpSpPr>
        <p:grpSpPr>
          <a:xfrm>
            <a:off x="3143520" y="3145320"/>
            <a:ext cx="6051240" cy="338040"/>
            <a:chOff x="3143520" y="3145320"/>
            <a:chExt cx="6051240" cy="338040"/>
          </a:xfrm>
        </p:grpSpPr>
        <p:sp>
          <p:nvSpPr>
            <p:cNvPr id="136" name="object 8"/>
            <p:cNvSpPr/>
            <p:nvPr/>
          </p:nvSpPr>
          <p:spPr>
            <a:xfrm>
              <a:off x="3143520" y="3145320"/>
              <a:ext cx="3404880" cy="52920"/>
            </a:xfrm>
            <a:custGeom>
              <a:avLst/>
              <a:gdLst/>
              <a:ahLst/>
              <a:rect l="l" t="t" r="r" b="b"/>
              <a:pathLst>
                <a:path w="4585970" h="0">
                  <a:moveTo>
                    <a:pt x="0" y="0"/>
                  </a:moveTo>
                  <a:lnTo>
                    <a:pt x="4585462" y="0"/>
                  </a:lnTo>
                </a:path>
              </a:pathLst>
            </a:custGeom>
            <a:noFill/>
            <a:ln w="39624">
              <a:solidFill>
                <a:srgbClr val="00cc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37" name="object 9" descr=""/>
            <p:cNvPicPr/>
            <p:nvPr/>
          </p:nvPicPr>
          <p:blipFill>
            <a:blip r:embed="rId1"/>
            <a:stretch/>
          </p:blipFill>
          <p:spPr>
            <a:xfrm>
              <a:off x="4267800" y="3145320"/>
              <a:ext cx="153720" cy="33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8" name="object 10"/>
            <p:cNvSpPr/>
            <p:nvPr/>
          </p:nvSpPr>
          <p:spPr>
            <a:xfrm>
              <a:off x="6674760" y="3152160"/>
              <a:ext cx="2520000" cy="46080"/>
            </a:xfrm>
            <a:custGeom>
              <a:avLst/>
              <a:gdLst/>
              <a:ahLst/>
              <a:rect l="l" t="t" r="r" b="b"/>
              <a:pathLst>
                <a:path w="2057400" h="0">
                  <a:moveTo>
                    <a:pt x="0" y="0"/>
                  </a:moveTo>
                  <a:lnTo>
                    <a:pt x="2057399" y="0"/>
                  </a:lnTo>
                </a:path>
              </a:pathLst>
            </a:custGeom>
            <a:noFill/>
            <a:ln w="39624">
              <a:solidFill>
                <a:srgbClr val="f46a0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39" name="object 11" descr=""/>
            <p:cNvPicPr/>
            <p:nvPr/>
          </p:nvPicPr>
          <p:blipFill>
            <a:blip r:embed="rId2"/>
            <a:stretch/>
          </p:blipFill>
          <p:spPr>
            <a:xfrm>
              <a:off x="7734600" y="3149640"/>
              <a:ext cx="196920" cy="254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0" name="文字方塊 10"/>
          <p:cNvSpPr/>
          <p:nvPr/>
        </p:nvSpPr>
        <p:spPr>
          <a:xfrm>
            <a:off x="2537280" y="3445920"/>
            <a:ext cx="3888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21" strike="noStrike">
                <a:solidFill>
                  <a:srgbClr val="3297fc"/>
                </a:solidFill>
                <a:latin typeface="Calibri"/>
                <a:ea typeface="標楷體"/>
              </a:rPr>
              <a:t>Create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Run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a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1" name="文字方塊 12"/>
          <p:cNvSpPr/>
          <p:nvPr/>
        </p:nvSpPr>
        <p:spPr>
          <a:xfrm>
            <a:off x="6105240" y="3428640"/>
            <a:ext cx="51613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21" strike="noStrike">
                <a:solidFill>
                  <a:srgbClr val="a6a6a6"/>
                </a:solidFill>
                <a:latin typeface="Calibri"/>
                <a:ea typeface="標楷體"/>
              </a:rPr>
              <a:t>Execute a command in the container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2" name="object 13"/>
          <p:cNvSpPr/>
          <p:nvPr/>
        </p:nvSpPr>
        <p:spPr>
          <a:xfrm>
            <a:off x="1022040" y="4311360"/>
            <a:ext cx="10147680" cy="412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160" bIns="0" anchor="t">
            <a:spAutoFit/>
          </a:bodyPr>
          <a:p>
            <a:pPr marL="216360">
              <a:lnSpc>
                <a:spcPct val="100000"/>
              </a:lnSpc>
              <a:spcBef>
                <a:spcPts val="371"/>
              </a:spcBef>
              <a:buNone/>
              <a:tabLst>
                <a:tab algn="l" pos="1216080"/>
                <a:tab algn="l" pos="2026800"/>
                <a:tab algn="l" pos="3152880"/>
                <a:tab algn="l" pos="4166280"/>
                <a:tab algn="l" pos="4698360"/>
                <a:tab algn="l" pos="5838120"/>
                <a:tab algn="l" pos="6577920"/>
              </a:tabLst>
            </a:pP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69" strike="noStrike">
                <a:solidFill>
                  <a:srgbClr val="0d0d0d"/>
                </a:solidFill>
                <a:latin typeface="Arial MT"/>
                <a:ea typeface="標楷體"/>
              </a:rPr>
              <a:t>docker </a:t>
            </a:r>
            <a:r>
              <a:rPr b="0" lang="en-US" sz="2400" spc="72" strike="noStrike">
                <a:solidFill>
                  <a:srgbClr val="0d0d0d"/>
                </a:solidFill>
                <a:latin typeface="Arial MT"/>
                <a:ea typeface="標楷體"/>
              </a:rPr>
              <a:t>run</a:t>
            </a:r>
            <a:r>
              <a:rPr b="0" lang="en-US" sz="2400" spc="222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94" strike="noStrike">
                <a:solidFill>
                  <a:srgbClr val="0d0d0d"/>
                </a:solidFill>
                <a:latin typeface="Arial MT"/>
                <a:ea typeface="標楷體"/>
              </a:rPr>
              <a:t>-d </a:t>
            </a:r>
            <a:r>
              <a:rPr b="0" lang="en-US" sz="2400" spc="-1" strike="noStrike">
                <a:solidFill>
                  <a:srgbClr val="0d0d0d"/>
                </a:solidFill>
                <a:latin typeface="Arial MT"/>
                <a:ea typeface="標楷體"/>
              </a:rPr>
              <a:t>-it </a:t>
            </a:r>
            <a:r>
              <a:rPr b="0" lang="en-US" sz="2400" spc="24" strike="noStrike">
                <a:solidFill>
                  <a:srgbClr val="0d0d0d"/>
                </a:solidFill>
                <a:latin typeface="Arial MT"/>
                <a:ea typeface="標楷體"/>
              </a:rPr>
              <a:t>--name </a:t>
            </a:r>
            <a:r>
              <a:rPr b="0" lang="en-US" sz="2400" spc="188" strike="noStrike">
                <a:solidFill>
                  <a:srgbClr val="0d0d0d"/>
                </a:solidFill>
                <a:latin typeface="Arial MT"/>
                <a:ea typeface="標楷體"/>
              </a:rPr>
              <a:t>test </a:t>
            </a:r>
            <a:r>
              <a:rPr b="0" lang="en-US" sz="2400" spc="103" strike="noStrike">
                <a:solidFill>
                  <a:srgbClr val="0d0d0d"/>
                </a:solidFill>
                <a:latin typeface="Arial MT"/>
                <a:ea typeface="標楷體"/>
              </a:rPr>
              <a:t>ubuntu:22.04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7" strike="noStrike">
                <a:solidFill>
                  <a:srgbClr val="3297fc"/>
                </a:solidFill>
                <a:latin typeface="Calibri"/>
                <a:ea typeface="標楷體"/>
              </a:rPr>
              <a:t>Docker</a:t>
            </a:r>
            <a:r>
              <a:rPr b="1" lang="en-US" sz="3600" spc="-4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3600" spc="-7" strike="noStrike">
                <a:solidFill>
                  <a:srgbClr val="3297fc"/>
                </a:solidFill>
                <a:latin typeface="Calibri"/>
                <a:ea typeface="標楷體"/>
              </a:rPr>
              <a:t>run</a:t>
            </a:r>
            <a:r>
              <a:rPr b="1" lang="en-US" sz="3600" spc="-3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(2/2)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List</a:t>
            </a:r>
            <a:r>
              <a:rPr b="0" lang="en-US" sz="2400" spc="-7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containers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30280" indent="-244440">
              <a:lnSpc>
                <a:spcPct val="100000"/>
              </a:lnSpc>
              <a:spcBef>
                <a:spcPts val="99"/>
              </a:spcBef>
              <a:buClr>
                <a:srgbClr val="0088ee"/>
              </a:buClr>
              <a:buFont typeface="Wingdings" charset="2"/>
              <a:buChar char=""/>
              <a:tabLst>
                <a:tab algn="l" pos="257040"/>
              </a:tabLst>
            </a:pP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“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--all”,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“-a”:</a:t>
            </a:r>
            <a:r>
              <a:rPr b="0" lang="en-US" sz="24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Show</a:t>
            </a:r>
            <a:r>
              <a:rPr b="0" lang="en-US" sz="2400" spc="-2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all</a:t>
            </a:r>
            <a:r>
              <a:rPr b="0" lang="en-US" sz="2400" spc="9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containers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897fc"/>
                </a:solidFill>
                <a:latin typeface="Calibri"/>
                <a:ea typeface="標楷體"/>
              </a:rPr>
              <a:t>Container is connected to docker0 bridge by default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897fc"/>
                </a:solidFill>
                <a:latin typeface="Calibri"/>
                <a:ea typeface="標楷體"/>
              </a:rPr>
              <a:t>Default IP for docker0 bridge is 172.17.0.1/16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Docker will assign an IP for the container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9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7178FF-A21B-47C0-BCB9-824D1AF573DA}" type="slidenum">
              <a: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46" name="object 6"/>
          <p:cNvSpPr/>
          <p:nvPr/>
        </p:nvSpPr>
        <p:spPr>
          <a:xfrm>
            <a:off x="983520" y="1412640"/>
            <a:ext cx="7961400" cy="4129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14560">
              <a:lnSpc>
                <a:spcPct val="100000"/>
              </a:lnSpc>
              <a:spcBef>
                <a:spcPts val="374"/>
              </a:spcBef>
              <a:buNone/>
            </a:pP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-21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69" strike="noStrike">
                <a:solidFill>
                  <a:srgbClr val="0d0d0d"/>
                </a:solidFill>
                <a:latin typeface="Arial MT"/>
                <a:ea typeface="標楷體"/>
              </a:rPr>
              <a:t>docker</a:t>
            </a:r>
            <a:r>
              <a:rPr b="0" lang="en-US" sz="2400" spc="148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12" strike="noStrike">
                <a:solidFill>
                  <a:srgbClr val="0d0d0d"/>
                </a:solidFill>
                <a:latin typeface="Arial MT"/>
                <a:ea typeface="標楷體"/>
              </a:rPr>
              <a:t>ps</a:t>
            </a:r>
            <a:r>
              <a:rPr b="0" lang="en-US" sz="2400" spc="208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94" strike="noStrike">
                <a:solidFill>
                  <a:srgbClr val="0d0d0d"/>
                </a:solidFill>
                <a:latin typeface="Arial MT"/>
                <a:ea typeface="標楷體"/>
              </a:rPr>
              <a:t>-a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7" name="文字方塊 8"/>
          <p:cNvSpPr/>
          <p:nvPr/>
        </p:nvSpPr>
        <p:spPr>
          <a:xfrm>
            <a:off x="8930520" y="5348160"/>
            <a:ext cx="127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8" name="矩形 9"/>
          <p:cNvSpPr/>
          <p:nvPr/>
        </p:nvSpPr>
        <p:spPr>
          <a:xfrm>
            <a:off x="8029440" y="380628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docker0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9" name="矩形 10"/>
          <p:cNvSpPr/>
          <p:nvPr/>
        </p:nvSpPr>
        <p:spPr>
          <a:xfrm>
            <a:off x="8029440" y="5311800"/>
            <a:ext cx="3080880" cy="821520"/>
          </a:xfrm>
          <a:prstGeom prst="rect">
            <a:avLst/>
          </a:prstGeom>
          <a:noFill/>
          <a:ln w="38100">
            <a:solidFill>
              <a:srgbClr val="7030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矩形 11"/>
          <p:cNvSpPr/>
          <p:nvPr/>
        </p:nvSpPr>
        <p:spPr>
          <a:xfrm>
            <a:off x="8251920" y="5080680"/>
            <a:ext cx="8524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eth0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1" name="文字方塊 12"/>
          <p:cNvSpPr/>
          <p:nvPr/>
        </p:nvSpPr>
        <p:spPr>
          <a:xfrm>
            <a:off x="9694440" y="5692680"/>
            <a:ext cx="1482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2" name="直線接點 13"/>
          <p:cNvSpPr/>
          <p:nvPr/>
        </p:nvSpPr>
        <p:spPr>
          <a:xfrm>
            <a:off x="8669160" y="4268160"/>
            <a:ext cx="9000" cy="812160"/>
          </a:xfrm>
          <a:prstGeom prst="line">
            <a:avLst/>
          </a:prstGeom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文字方塊 14"/>
          <p:cNvSpPr/>
          <p:nvPr/>
        </p:nvSpPr>
        <p:spPr>
          <a:xfrm>
            <a:off x="10471680" y="3741480"/>
            <a:ext cx="89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Host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4" name="矩形 15"/>
          <p:cNvSpPr/>
          <p:nvPr/>
        </p:nvSpPr>
        <p:spPr>
          <a:xfrm>
            <a:off x="7680240" y="3682440"/>
            <a:ext cx="3682080" cy="2580480"/>
          </a:xfrm>
          <a:prstGeom prst="rect">
            <a:avLst/>
          </a:prstGeom>
          <a:noFill/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文字方塊 8"/>
          <p:cNvSpPr/>
          <p:nvPr/>
        </p:nvSpPr>
        <p:spPr>
          <a:xfrm>
            <a:off x="8597880" y="4227840"/>
            <a:ext cx="1341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標楷體"/>
              </a:rPr>
              <a:t>172.17.0.1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6" name="文字方塊 8"/>
          <p:cNvSpPr/>
          <p:nvPr/>
        </p:nvSpPr>
        <p:spPr>
          <a:xfrm>
            <a:off x="8597880" y="4799880"/>
            <a:ext cx="1421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標楷體"/>
              </a:rPr>
              <a:t>172.17.X.X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7" name="Picture 18" descr=""/>
          <p:cNvPicPr/>
          <p:nvPr/>
        </p:nvPicPr>
        <p:blipFill>
          <a:blip r:embed="rId1"/>
          <a:stretch/>
        </p:blipFill>
        <p:spPr>
          <a:xfrm>
            <a:off x="746640" y="2405160"/>
            <a:ext cx="10652400" cy="68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Docker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exec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355680" indent="-343080">
              <a:lnSpc>
                <a:spcPct val="100000"/>
              </a:lnSpc>
              <a:spcBef>
                <a:spcPts val="505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Execute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 a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 command in 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 running</a:t>
            </a:r>
            <a:r>
              <a:rPr b="0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408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Usage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408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890f0"/>
                </a:solidFill>
                <a:latin typeface="Calibri"/>
                <a:ea typeface="標楷體"/>
              </a:rPr>
              <a:t>E.g.,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Exec</a:t>
            </a:r>
            <a:r>
              <a:rPr b="0" lang="en-US" sz="28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i="1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bash</a:t>
            </a:r>
            <a:r>
              <a:rPr b="0" i="1" lang="en-US" sz="2800" spc="-3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command</a:t>
            </a:r>
            <a:r>
              <a:rPr b="0" lang="en-US" sz="2800" spc="-2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in</a:t>
            </a:r>
            <a:r>
              <a:rPr b="0" lang="en-US" sz="28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8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running</a:t>
            </a:r>
            <a:r>
              <a:rPr b="1" lang="en-US" sz="28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container</a:t>
            </a:r>
            <a:r>
              <a:rPr b="0" lang="en-US" sz="2800" spc="-9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“test”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0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E1D6A2-CE57-48E9-9FAD-C217389305BD}" type="slidenum">
              <a: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61" name="object 6"/>
          <p:cNvSpPr/>
          <p:nvPr/>
        </p:nvSpPr>
        <p:spPr>
          <a:xfrm>
            <a:off x="1118880" y="1989000"/>
            <a:ext cx="9050400" cy="41508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9680" bIns="0" anchor="t">
            <a:spAutoFit/>
          </a:bodyPr>
          <a:p>
            <a:pPr marL="230400">
              <a:lnSpc>
                <a:spcPct val="100000"/>
              </a:lnSpc>
              <a:spcBef>
                <a:spcPts val="391"/>
              </a:spcBef>
              <a:buNone/>
            </a:pP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49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72" strike="noStrike">
                <a:solidFill>
                  <a:srgbClr val="0d0d0d"/>
                </a:solidFill>
                <a:latin typeface="Arial MT"/>
                <a:ea typeface="標楷體"/>
              </a:rPr>
              <a:t>docker</a:t>
            </a:r>
            <a:r>
              <a:rPr b="0" lang="en-US" sz="2400" spc="168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18" strike="noStrike">
                <a:solidFill>
                  <a:srgbClr val="0d0d0d"/>
                </a:solidFill>
                <a:latin typeface="Arial MT"/>
                <a:ea typeface="標楷體"/>
              </a:rPr>
              <a:t>exec</a:t>
            </a:r>
            <a:r>
              <a:rPr b="0" lang="en-US" sz="2400" spc="52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-32" strike="noStrike">
                <a:solidFill>
                  <a:srgbClr val="0d0d0d"/>
                </a:solidFill>
                <a:latin typeface="Arial MT"/>
                <a:ea typeface="標楷體"/>
              </a:rPr>
              <a:t>&lt;options&gt;</a:t>
            </a:r>
            <a:r>
              <a:rPr b="0" lang="en-US" sz="2400" spc="-80" strike="noStrike">
                <a:solidFill>
                  <a:srgbClr val="0d0d0d"/>
                </a:solidFill>
                <a:latin typeface="Arial MT"/>
                <a:ea typeface="標楷體"/>
              </a:rPr>
              <a:t> &lt;contai</a:t>
            </a:r>
            <a:r>
              <a:rPr b="0" lang="en-US" sz="2400" spc="-52" strike="noStrike">
                <a:solidFill>
                  <a:srgbClr val="0d0d0d"/>
                </a:solidFill>
                <a:latin typeface="Arial MT"/>
                <a:ea typeface="標楷體"/>
              </a:rPr>
              <a:t>ner&gt;</a:t>
            </a:r>
            <a:r>
              <a:rPr b="0" lang="en-US" sz="2400" spc="-66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-35" strike="noStrike">
                <a:solidFill>
                  <a:srgbClr val="0d0d0d"/>
                </a:solidFill>
                <a:latin typeface="Arial MT"/>
                <a:ea typeface="標楷體"/>
              </a:rPr>
              <a:t>&lt;command&gt;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2" name="object 7"/>
          <p:cNvSpPr/>
          <p:nvPr/>
        </p:nvSpPr>
        <p:spPr>
          <a:xfrm>
            <a:off x="1118520" y="2979360"/>
            <a:ext cx="9050400" cy="4136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240" bIns="0" anchor="t">
            <a:spAutoFit/>
          </a:bodyPr>
          <a:p>
            <a:pPr marL="231120">
              <a:lnSpc>
                <a:spcPct val="100000"/>
              </a:lnSpc>
              <a:spcBef>
                <a:spcPts val="380"/>
              </a:spcBef>
              <a:buNone/>
              <a:tabLst>
                <a:tab algn="l" pos="4340160"/>
                <a:tab algn="l" pos="5095800"/>
              </a:tabLst>
            </a:pPr>
            <a:r>
              <a:rPr b="0" lang="en-US" sz="2400" spc="-1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9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72" strike="noStrike">
                <a:solidFill>
                  <a:srgbClr val="0d0d0d"/>
                </a:solidFill>
                <a:latin typeface="Arial MT"/>
                <a:ea typeface="標楷體"/>
              </a:rPr>
              <a:t>docker</a:t>
            </a:r>
            <a:r>
              <a:rPr b="0" lang="en-US" sz="2400" spc="180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18" strike="noStrike">
                <a:solidFill>
                  <a:srgbClr val="0d0d0d"/>
                </a:solidFill>
                <a:latin typeface="Arial MT"/>
                <a:ea typeface="標楷體"/>
              </a:rPr>
              <a:t>exec</a:t>
            </a:r>
            <a:r>
              <a:rPr b="0" lang="en-US" sz="2400" spc="58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58" strike="noStrike">
                <a:solidFill>
                  <a:srgbClr val="0d0d0d"/>
                </a:solidFill>
                <a:latin typeface="Arial MT"/>
                <a:ea typeface="標楷體"/>
              </a:rPr>
              <a:t>-it</a:t>
            </a:r>
            <a:r>
              <a:rPr b="0" lang="en-US" sz="2400" spc="-120" strike="noStrike">
                <a:solidFill>
                  <a:srgbClr val="0d0d0d"/>
                </a:solidFill>
                <a:latin typeface="Arial MT"/>
                <a:ea typeface="標楷體"/>
              </a:rPr>
              <a:t> </a:t>
            </a:r>
            <a:r>
              <a:rPr b="0" lang="en-US" sz="2400" spc="208" strike="noStrike">
                <a:solidFill>
                  <a:srgbClr val="0d0d0d"/>
                </a:solidFill>
                <a:latin typeface="Arial MT"/>
                <a:ea typeface="標楷體"/>
              </a:rPr>
              <a:t>test </a:t>
            </a:r>
            <a:r>
              <a:rPr b="0" lang="en-US" sz="2400" spc="4" strike="noStrike">
                <a:solidFill>
                  <a:srgbClr val="0d0d0d"/>
                </a:solidFill>
                <a:latin typeface="Arial MT"/>
                <a:ea typeface="標楷體"/>
              </a:rPr>
              <a:t>bash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3" name="Picture 6" descr=""/>
          <p:cNvPicPr/>
          <p:nvPr/>
        </p:nvPicPr>
        <p:blipFill>
          <a:blip r:embed="rId1"/>
          <a:stretch/>
        </p:blipFill>
        <p:spPr>
          <a:xfrm>
            <a:off x="1118520" y="3759120"/>
            <a:ext cx="6602760" cy="6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Docker network - Create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a bridge network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Usage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E.g., Create a network bridge “testbr</a:t>
            </a:r>
            <a:r>
              <a:rPr b="0" lang="en-US" sz="2800" spc="-7" strike="noStrike">
                <a:solidFill>
                  <a:srgbClr val="3297fc"/>
                </a:solidFill>
                <a:latin typeface="Calibri"/>
                <a:ea typeface="標楷體"/>
              </a:rPr>
              <a:t>”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pc="-7" strike="noStrike">
                <a:solidFill>
                  <a:srgbClr val="3297fc"/>
                </a:solidFill>
                <a:latin typeface="Calibri"/>
                <a:ea typeface="標楷體"/>
              </a:rPr>
              <a:t>List networks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1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9BD98E2-A468-499C-85E7-F796E438C8EB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67" name="object 7"/>
          <p:cNvSpPr/>
          <p:nvPr/>
        </p:nvSpPr>
        <p:spPr>
          <a:xfrm>
            <a:off x="983520" y="2919240"/>
            <a:ext cx="90007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create testbr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8" name="文字方塊 7"/>
          <p:cNvSpPr/>
          <p:nvPr/>
        </p:nvSpPr>
        <p:spPr>
          <a:xfrm>
            <a:off x="8642160" y="5276160"/>
            <a:ext cx="127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9" name="矩形 8"/>
          <p:cNvSpPr/>
          <p:nvPr/>
        </p:nvSpPr>
        <p:spPr>
          <a:xfrm>
            <a:off x="7392240" y="4005000"/>
            <a:ext cx="3682080" cy="2185920"/>
          </a:xfrm>
          <a:prstGeom prst="rect">
            <a:avLst/>
          </a:prstGeom>
          <a:noFill/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矩形 9"/>
          <p:cNvSpPr/>
          <p:nvPr/>
        </p:nvSpPr>
        <p:spPr>
          <a:xfrm>
            <a:off x="7743600" y="418788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docker0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1" name="矩形 10"/>
          <p:cNvSpPr/>
          <p:nvPr/>
        </p:nvSpPr>
        <p:spPr>
          <a:xfrm>
            <a:off x="9503640" y="4200480"/>
            <a:ext cx="1279080" cy="461880"/>
          </a:xfrm>
          <a:prstGeom prst="rect">
            <a:avLst/>
          </a:prstGeom>
          <a:solidFill>
            <a:srgbClr val="f2f2f2"/>
          </a:solidFill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testbr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2" name="矩形 12"/>
          <p:cNvSpPr/>
          <p:nvPr/>
        </p:nvSpPr>
        <p:spPr>
          <a:xfrm>
            <a:off x="7741440" y="5239800"/>
            <a:ext cx="3080880" cy="821520"/>
          </a:xfrm>
          <a:prstGeom prst="rect">
            <a:avLst/>
          </a:prstGeom>
          <a:noFill/>
          <a:ln w="38100">
            <a:solidFill>
              <a:srgbClr val="7030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矩形 13"/>
          <p:cNvSpPr/>
          <p:nvPr/>
        </p:nvSpPr>
        <p:spPr>
          <a:xfrm>
            <a:off x="7963920" y="5008680"/>
            <a:ext cx="8524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eth0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4" name="文字方塊 15"/>
          <p:cNvSpPr/>
          <p:nvPr/>
        </p:nvSpPr>
        <p:spPr>
          <a:xfrm>
            <a:off x="9406440" y="5620680"/>
            <a:ext cx="1482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5" name="直線接點 18"/>
          <p:cNvSpPr/>
          <p:nvPr/>
        </p:nvSpPr>
        <p:spPr>
          <a:xfrm>
            <a:off x="8383320" y="4650120"/>
            <a:ext cx="360" cy="349560"/>
          </a:xfrm>
          <a:prstGeom prst="line">
            <a:avLst/>
          </a:prstGeom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文字方塊 25"/>
          <p:cNvSpPr/>
          <p:nvPr/>
        </p:nvSpPr>
        <p:spPr>
          <a:xfrm>
            <a:off x="8836560" y="3562560"/>
            <a:ext cx="89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Host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7" name="object 7"/>
          <p:cNvSpPr/>
          <p:nvPr/>
        </p:nvSpPr>
        <p:spPr>
          <a:xfrm>
            <a:off x="983520" y="1985760"/>
            <a:ext cx="90007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create &lt;bridge&gt;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8" name="object 7"/>
          <p:cNvSpPr/>
          <p:nvPr/>
        </p:nvSpPr>
        <p:spPr>
          <a:xfrm>
            <a:off x="983520" y="3852360"/>
            <a:ext cx="576864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ls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9" name="圖片 6" descr=""/>
          <p:cNvPicPr/>
          <p:nvPr/>
        </p:nvPicPr>
        <p:blipFill>
          <a:blip r:embed="rId1"/>
          <a:stretch/>
        </p:blipFill>
        <p:spPr>
          <a:xfrm>
            <a:off x="983520" y="4453920"/>
            <a:ext cx="5768640" cy="1841400"/>
          </a:xfrm>
          <a:prstGeom prst="rect">
            <a:avLst/>
          </a:prstGeom>
          <a:ln w="0">
            <a:noFill/>
          </a:ln>
        </p:spPr>
      </p:pic>
      <p:sp>
        <p:nvSpPr>
          <p:cNvPr id="180" name="矩形 14"/>
          <p:cNvSpPr/>
          <p:nvPr/>
        </p:nvSpPr>
        <p:spPr>
          <a:xfrm>
            <a:off x="983520" y="6005520"/>
            <a:ext cx="5768640" cy="290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Network Environment after testbr Creation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2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9EAC6DC-C979-44C4-B52A-341F136BDB54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84" name="object 15"/>
          <p:cNvSpPr/>
          <p:nvPr/>
        </p:nvSpPr>
        <p:spPr>
          <a:xfrm>
            <a:off x="5043600" y="1140120"/>
            <a:ext cx="2104560" cy="1108440"/>
          </a:xfrm>
          <a:custGeom>
            <a:avLst/>
            <a:gdLst/>
            <a:ahLst/>
            <a:rect l="l" t="t" r="r" b="b"/>
            <a:pathLst>
              <a:path w="2105025" h="1108710">
                <a:moveTo>
                  <a:pt x="191537" y="365040"/>
                </a:moveTo>
                <a:lnTo>
                  <a:pt x="188615" y="326734"/>
                </a:lnTo>
                <a:lnTo>
                  <a:pt x="207525" y="254144"/>
                </a:lnTo>
                <a:lnTo>
                  <a:pt x="228200" y="220953"/>
                </a:lnTo>
                <a:lnTo>
                  <a:pt x="255583" y="190558"/>
                </a:lnTo>
                <a:lnTo>
                  <a:pt x="289093" y="163508"/>
                </a:lnTo>
                <a:lnTo>
                  <a:pt x="328153" y="140348"/>
                </a:lnTo>
                <a:lnTo>
                  <a:pt x="372183" y="121625"/>
                </a:lnTo>
                <a:lnTo>
                  <a:pt x="420603" y="107884"/>
                </a:lnTo>
                <a:lnTo>
                  <a:pt x="472835" y="99673"/>
                </a:lnTo>
                <a:lnTo>
                  <a:pt x="527526" y="97639"/>
                </a:lnTo>
                <a:lnTo>
                  <a:pt x="581563" y="102099"/>
                </a:lnTo>
                <a:lnTo>
                  <a:pt x="633834" y="112893"/>
                </a:lnTo>
                <a:lnTo>
                  <a:pt x="683228" y="129862"/>
                </a:lnTo>
                <a:lnTo>
                  <a:pt x="712416" y="98460"/>
                </a:lnTo>
                <a:lnTo>
                  <a:pt x="748619" y="72652"/>
                </a:lnTo>
                <a:lnTo>
                  <a:pt x="790426" y="52750"/>
                </a:lnTo>
                <a:lnTo>
                  <a:pt x="836425" y="39064"/>
                </a:lnTo>
                <a:lnTo>
                  <a:pt x="885205" y="31903"/>
                </a:lnTo>
                <a:lnTo>
                  <a:pt x="935356" y="31579"/>
                </a:lnTo>
                <a:lnTo>
                  <a:pt x="985465" y="38401"/>
                </a:lnTo>
                <a:lnTo>
                  <a:pt x="1034124" y="52680"/>
                </a:lnTo>
                <a:lnTo>
                  <a:pt x="1080582" y="75353"/>
                </a:lnTo>
                <a:lnTo>
                  <a:pt x="1094427" y="84458"/>
                </a:lnTo>
                <a:lnTo>
                  <a:pt x="1121184" y="54966"/>
                </a:lnTo>
                <a:lnTo>
                  <a:pt x="1155438" y="31363"/>
                </a:lnTo>
                <a:lnTo>
                  <a:pt x="1195476" y="14061"/>
                </a:lnTo>
                <a:lnTo>
                  <a:pt x="1239591" y="3469"/>
                </a:lnTo>
                <a:lnTo>
                  <a:pt x="1286071" y="0"/>
                </a:lnTo>
                <a:lnTo>
                  <a:pt x="1333207" y="4062"/>
                </a:lnTo>
                <a:lnTo>
                  <a:pt x="1379290" y="16066"/>
                </a:lnTo>
                <a:lnTo>
                  <a:pt x="1419842" y="35013"/>
                </a:lnTo>
                <a:lnTo>
                  <a:pt x="1453371" y="60057"/>
                </a:lnTo>
                <a:lnTo>
                  <a:pt x="1493170" y="33356"/>
                </a:lnTo>
                <a:lnTo>
                  <a:pt x="1538896" y="14421"/>
                </a:lnTo>
                <a:lnTo>
                  <a:pt x="1588550" y="3373"/>
                </a:lnTo>
                <a:lnTo>
                  <a:pt x="1640133" y="327"/>
                </a:lnTo>
                <a:lnTo>
                  <a:pt x="1691645" y="5404"/>
                </a:lnTo>
                <a:lnTo>
                  <a:pt x="1741087" y="18719"/>
                </a:lnTo>
                <a:lnTo>
                  <a:pt x="1786460" y="40393"/>
                </a:lnTo>
                <a:lnTo>
                  <a:pt x="1838393" y="84953"/>
                </a:lnTo>
                <a:lnTo>
                  <a:pt x="1866237" y="139454"/>
                </a:lnTo>
                <a:lnTo>
                  <a:pt x="1921845" y="155448"/>
                </a:lnTo>
                <a:lnTo>
                  <a:pt x="1969416" y="179307"/>
                </a:lnTo>
                <a:lnTo>
                  <a:pt x="2007856" y="209658"/>
                </a:lnTo>
                <a:lnTo>
                  <a:pt x="2036072" y="245127"/>
                </a:lnTo>
                <a:lnTo>
                  <a:pt x="2052970" y="284337"/>
                </a:lnTo>
                <a:lnTo>
                  <a:pt x="2057456" y="325915"/>
                </a:lnTo>
                <a:lnTo>
                  <a:pt x="2048438" y="368485"/>
                </a:lnTo>
                <a:lnTo>
                  <a:pt x="2045913" y="374721"/>
                </a:lnTo>
                <a:lnTo>
                  <a:pt x="2043088" y="380888"/>
                </a:lnTo>
                <a:lnTo>
                  <a:pt x="2039967" y="386981"/>
                </a:lnTo>
                <a:lnTo>
                  <a:pt x="2036553" y="392994"/>
                </a:lnTo>
                <a:lnTo>
                  <a:pt x="2068435" y="429031"/>
                </a:lnTo>
                <a:lnTo>
                  <a:pt x="2090263" y="467457"/>
                </a:lnTo>
                <a:lnTo>
                  <a:pt x="2102207" y="507335"/>
                </a:lnTo>
                <a:lnTo>
                  <a:pt x="2104439" y="547727"/>
                </a:lnTo>
                <a:lnTo>
                  <a:pt x="2097131" y="587698"/>
                </a:lnTo>
                <a:lnTo>
                  <a:pt x="2080453" y="626311"/>
                </a:lnTo>
                <a:lnTo>
                  <a:pt x="2054577" y="662628"/>
                </a:lnTo>
                <a:lnTo>
                  <a:pt x="2019673" y="695715"/>
                </a:lnTo>
                <a:lnTo>
                  <a:pt x="1975915" y="724633"/>
                </a:lnTo>
                <a:lnTo>
                  <a:pt x="1940758" y="741548"/>
                </a:lnTo>
                <a:lnTo>
                  <a:pt x="1903029" y="755043"/>
                </a:lnTo>
                <a:lnTo>
                  <a:pt x="1863208" y="764973"/>
                </a:lnTo>
                <a:lnTo>
                  <a:pt x="1821776" y="771193"/>
                </a:lnTo>
                <a:lnTo>
                  <a:pt x="1815602" y="811830"/>
                </a:lnTo>
                <a:lnTo>
                  <a:pt x="1798777" y="849615"/>
                </a:lnTo>
                <a:lnTo>
                  <a:pt x="1772442" y="883744"/>
                </a:lnTo>
                <a:lnTo>
                  <a:pt x="1737738" y="913413"/>
                </a:lnTo>
                <a:lnTo>
                  <a:pt x="1695804" y="937814"/>
                </a:lnTo>
                <a:lnTo>
                  <a:pt x="1647784" y="956145"/>
                </a:lnTo>
                <a:lnTo>
                  <a:pt x="1594816" y="967600"/>
                </a:lnTo>
                <a:lnTo>
                  <a:pt x="1538044" y="971373"/>
                </a:lnTo>
                <a:lnTo>
                  <a:pt x="1499390" y="969237"/>
                </a:lnTo>
                <a:lnTo>
                  <a:pt x="1461686" y="963350"/>
                </a:lnTo>
                <a:lnTo>
                  <a:pt x="1425460" y="953821"/>
                </a:lnTo>
                <a:lnTo>
                  <a:pt x="1391238" y="940760"/>
                </a:lnTo>
                <a:lnTo>
                  <a:pt x="1371679" y="976561"/>
                </a:lnTo>
                <a:lnTo>
                  <a:pt x="1345115" y="1008778"/>
                </a:lnTo>
                <a:lnTo>
                  <a:pt x="1312388" y="1037086"/>
                </a:lnTo>
                <a:lnTo>
                  <a:pt x="1274342" y="1061159"/>
                </a:lnTo>
                <a:lnTo>
                  <a:pt x="1231821" y="1080674"/>
                </a:lnTo>
                <a:lnTo>
                  <a:pt x="1185666" y="1095306"/>
                </a:lnTo>
                <a:lnTo>
                  <a:pt x="1136723" y="1104729"/>
                </a:lnTo>
                <a:lnTo>
                  <a:pt x="1085835" y="1108619"/>
                </a:lnTo>
                <a:lnTo>
                  <a:pt x="1033844" y="1106652"/>
                </a:lnTo>
                <a:lnTo>
                  <a:pt x="981594" y="1098502"/>
                </a:lnTo>
                <a:lnTo>
                  <a:pt x="929033" y="1083386"/>
                </a:lnTo>
                <a:lnTo>
                  <a:pt x="881188" y="1062178"/>
                </a:lnTo>
                <a:lnTo>
                  <a:pt x="839066" y="1035414"/>
                </a:lnTo>
                <a:lnTo>
                  <a:pt x="803672" y="1003631"/>
                </a:lnTo>
                <a:lnTo>
                  <a:pt x="758219" y="1020422"/>
                </a:lnTo>
                <a:lnTo>
                  <a:pt x="711173" y="1032392"/>
                </a:lnTo>
                <a:lnTo>
                  <a:pt x="663147" y="1039651"/>
                </a:lnTo>
                <a:lnTo>
                  <a:pt x="614757" y="1042310"/>
                </a:lnTo>
                <a:lnTo>
                  <a:pt x="566616" y="1040478"/>
                </a:lnTo>
                <a:lnTo>
                  <a:pt x="519338" y="1034266"/>
                </a:lnTo>
                <a:lnTo>
                  <a:pt x="473538" y="1023783"/>
                </a:lnTo>
                <a:lnTo>
                  <a:pt x="429830" y="1009140"/>
                </a:lnTo>
                <a:lnTo>
                  <a:pt x="388827" y="990448"/>
                </a:lnTo>
                <a:lnTo>
                  <a:pt x="351145" y="967816"/>
                </a:lnTo>
                <a:lnTo>
                  <a:pt x="317397" y="941354"/>
                </a:lnTo>
                <a:lnTo>
                  <a:pt x="288197" y="911172"/>
                </a:lnTo>
                <a:lnTo>
                  <a:pt x="284227" y="906302"/>
                </a:lnTo>
                <a:lnTo>
                  <a:pt x="227331" y="905621"/>
                </a:lnTo>
                <a:lnTo>
                  <a:pt x="174506" y="894649"/>
                </a:lnTo>
                <a:lnTo>
                  <a:pt x="127996" y="874655"/>
                </a:lnTo>
                <a:lnTo>
                  <a:pt x="90045" y="846907"/>
                </a:lnTo>
                <a:lnTo>
                  <a:pt x="62897" y="812674"/>
                </a:lnTo>
                <a:lnTo>
                  <a:pt x="48796" y="773224"/>
                </a:lnTo>
                <a:lnTo>
                  <a:pt x="48445" y="740113"/>
                </a:lnTo>
                <a:lnTo>
                  <a:pt x="57970" y="708096"/>
                </a:lnTo>
                <a:lnTo>
                  <a:pt x="76863" y="678284"/>
                </a:lnTo>
                <a:lnTo>
                  <a:pt x="104612" y="651787"/>
                </a:lnTo>
                <a:lnTo>
                  <a:pt x="59930" y="626599"/>
                </a:lnTo>
                <a:lnTo>
                  <a:pt x="27120" y="594923"/>
                </a:lnTo>
                <a:lnTo>
                  <a:pt x="6903" y="558749"/>
                </a:lnTo>
                <a:lnTo>
                  <a:pt x="0" y="520065"/>
                </a:lnTo>
                <a:lnTo>
                  <a:pt x="7130" y="480860"/>
                </a:lnTo>
                <a:lnTo>
                  <a:pt x="29015" y="443123"/>
                </a:lnTo>
                <a:lnTo>
                  <a:pt x="59071" y="414474"/>
                </a:lnTo>
                <a:lnTo>
                  <a:pt x="97029" y="391953"/>
                </a:lnTo>
                <a:lnTo>
                  <a:pt x="141167" y="376359"/>
                </a:lnTo>
                <a:lnTo>
                  <a:pt x="189766" y="368491"/>
                </a:lnTo>
                <a:lnTo>
                  <a:pt x="191537" y="365040"/>
                </a:lnTo>
                <a:close/>
              </a:path>
              <a:path w="2105025" h="1108710">
                <a:moveTo>
                  <a:pt x="230122" y="667916"/>
                </a:moveTo>
                <a:lnTo>
                  <a:pt x="197952" y="667952"/>
                </a:lnTo>
                <a:lnTo>
                  <a:pt x="166326" y="664497"/>
                </a:lnTo>
                <a:lnTo>
                  <a:pt x="135784" y="657640"/>
                </a:lnTo>
                <a:lnTo>
                  <a:pt x="106867" y="647471"/>
                </a:lnTo>
              </a:path>
              <a:path w="2105025" h="1108710">
                <a:moveTo>
                  <a:pt x="338872" y="891654"/>
                </a:moveTo>
                <a:lnTo>
                  <a:pt x="325750" y="895050"/>
                </a:lnTo>
                <a:lnTo>
                  <a:pt x="312359" y="897817"/>
                </a:lnTo>
                <a:lnTo>
                  <a:pt x="298743" y="899950"/>
                </a:lnTo>
                <a:lnTo>
                  <a:pt x="284945" y="901439"/>
                </a:lnTo>
              </a:path>
              <a:path w="2105025" h="1108710">
                <a:moveTo>
                  <a:pt x="803552" y="999163"/>
                </a:moveTo>
                <a:lnTo>
                  <a:pt x="794194" y="988484"/>
                </a:lnTo>
                <a:lnTo>
                  <a:pt x="785647" y="977470"/>
                </a:lnTo>
                <a:lnTo>
                  <a:pt x="777930" y="966143"/>
                </a:lnTo>
                <a:lnTo>
                  <a:pt x="771059" y="954527"/>
                </a:lnTo>
              </a:path>
              <a:path w="2105025" h="1108710">
                <a:moveTo>
                  <a:pt x="1404424" y="887858"/>
                </a:moveTo>
                <a:lnTo>
                  <a:pt x="1402533" y="900274"/>
                </a:lnTo>
                <a:lnTo>
                  <a:pt x="1399736" y="912593"/>
                </a:lnTo>
                <a:lnTo>
                  <a:pt x="1396039" y="924789"/>
                </a:lnTo>
                <a:lnTo>
                  <a:pt x="1391450" y="936835"/>
                </a:lnTo>
              </a:path>
              <a:path w="2105025" h="1108710">
                <a:moveTo>
                  <a:pt x="1662406" y="585239"/>
                </a:moveTo>
                <a:lnTo>
                  <a:pt x="1716394" y="609888"/>
                </a:lnTo>
                <a:lnTo>
                  <a:pt x="1760477" y="641986"/>
                </a:lnTo>
                <a:lnTo>
                  <a:pt x="1793388" y="680063"/>
                </a:lnTo>
                <a:lnTo>
                  <a:pt x="1813855" y="722651"/>
                </a:lnTo>
                <a:lnTo>
                  <a:pt x="1820612" y="768283"/>
                </a:lnTo>
              </a:path>
              <a:path w="2105025" h="1108710">
                <a:moveTo>
                  <a:pt x="2035561" y="390282"/>
                </a:moveTo>
                <a:lnTo>
                  <a:pt x="2022185" y="409555"/>
                </a:lnTo>
                <a:lnTo>
                  <a:pt x="2005867" y="427534"/>
                </a:lnTo>
                <a:lnTo>
                  <a:pt x="1986785" y="444046"/>
                </a:lnTo>
                <a:lnTo>
                  <a:pt x="1965116" y="458919"/>
                </a:lnTo>
              </a:path>
              <a:path w="2105025" h="1108710">
                <a:moveTo>
                  <a:pt x="1866525" y="135607"/>
                </a:moveTo>
                <a:lnTo>
                  <a:pt x="1868271" y="143655"/>
                </a:lnTo>
                <a:lnTo>
                  <a:pt x="1869475" y="151750"/>
                </a:lnTo>
                <a:lnTo>
                  <a:pt x="1870132" y="159877"/>
                </a:lnTo>
                <a:lnTo>
                  <a:pt x="1870244" y="168022"/>
                </a:lnTo>
              </a:path>
              <a:path w="2105025" h="1108710">
                <a:moveTo>
                  <a:pt x="1416637" y="97795"/>
                </a:moveTo>
                <a:lnTo>
                  <a:pt x="1424072" y="86779"/>
                </a:lnTo>
                <a:lnTo>
                  <a:pt x="1432590" y="76190"/>
                </a:lnTo>
                <a:lnTo>
                  <a:pt x="1442152" y="66068"/>
                </a:lnTo>
                <a:lnTo>
                  <a:pt x="1452725" y="56455"/>
                </a:lnTo>
              </a:path>
              <a:path w="2105025" h="1108710">
                <a:moveTo>
                  <a:pt x="1079100" y="117496"/>
                </a:moveTo>
                <a:lnTo>
                  <a:pt x="1082304" y="108303"/>
                </a:lnTo>
                <a:lnTo>
                  <a:pt x="1086294" y="99279"/>
                </a:lnTo>
                <a:lnTo>
                  <a:pt x="1091057" y="90451"/>
                </a:lnTo>
                <a:lnTo>
                  <a:pt x="1096579" y="81843"/>
                </a:lnTo>
              </a:path>
              <a:path w="2105025" h="1108710">
                <a:moveTo>
                  <a:pt x="682978" y="129604"/>
                </a:moveTo>
                <a:lnTo>
                  <a:pt x="699866" y="137206"/>
                </a:lnTo>
                <a:lnTo>
                  <a:pt x="716066" y="145521"/>
                </a:lnTo>
                <a:lnTo>
                  <a:pt x="731534" y="154524"/>
                </a:lnTo>
                <a:lnTo>
                  <a:pt x="746227" y="164193"/>
                </a:lnTo>
              </a:path>
              <a:path w="2105025" h="1108710">
                <a:moveTo>
                  <a:pt x="202582" y="401440"/>
                </a:moveTo>
                <a:lnTo>
                  <a:pt x="199072" y="392465"/>
                </a:lnTo>
                <a:lnTo>
                  <a:pt x="196060" y="383401"/>
                </a:lnTo>
                <a:lnTo>
                  <a:pt x="193550" y="374259"/>
                </a:lnTo>
                <a:lnTo>
                  <a:pt x="191544" y="365049"/>
                </a:lnTo>
              </a:path>
            </a:pathLst>
          </a:custGeom>
          <a:noFill/>
          <a:ln w="38100">
            <a:solidFill>
              <a:srgbClr val="3297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object 16"/>
          <p:cNvSpPr/>
          <p:nvPr/>
        </p:nvSpPr>
        <p:spPr>
          <a:xfrm>
            <a:off x="5581080" y="1426320"/>
            <a:ext cx="10296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</a:t>
            </a:r>
            <a:r>
              <a:rPr b="0" lang="en-US" sz="2400" spc="-26" strike="noStrike">
                <a:solidFill>
                  <a:srgbClr val="3297fc"/>
                </a:solidFill>
                <a:latin typeface="Calibri"/>
                <a:ea typeface="標楷體"/>
              </a:rPr>
              <a:t>n</a:t>
            </a:r>
            <a:r>
              <a:rPr b="0" lang="en-US" sz="2400" spc="-32" strike="noStrike">
                <a:solidFill>
                  <a:srgbClr val="3297fc"/>
                </a:solidFill>
                <a:latin typeface="Calibri"/>
                <a:ea typeface="標楷體"/>
              </a:rPr>
              <a:t>t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rn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6" name="文字方塊 48"/>
          <p:cNvSpPr/>
          <p:nvPr/>
        </p:nvSpPr>
        <p:spPr>
          <a:xfrm>
            <a:off x="5528160" y="4858920"/>
            <a:ext cx="127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7" name="矩形 49"/>
          <p:cNvSpPr/>
          <p:nvPr/>
        </p:nvSpPr>
        <p:spPr>
          <a:xfrm>
            <a:off x="4280040" y="2842200"/>
            <a:ext cx="3784320" cy="3095280"/>
          </a:xfrm>
          <a:prstGeom prst="rect">
            <a:avLst/>
          </a:prstGeom>
          <a:noFill/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矩形 27"/>
          <p:cNvSpPr/>
          <p:nvPr/>
        </p:nvSpPr>
        <p:spPr>
          <a:xfrm>
            <a:off x="5528160" y="259884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eth0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9" name="矩形 50"/>
          <p:cNvSpPr/>
          <p:nvPr/>
        </p:nvSpPr>
        <p:spPr>
          <a:xfrm>
            <a:off x="4631760" y="333468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docker0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0" name="矩形 51"/>
          <p:cNvSpPr/>
          <p:nvPr/>
        </p:nvSpPr>
        <p:spPr>
          <a:xfrm>
            <a:off x="6433560" y="333468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testbr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直線接點 53"/>
          <p:cNvSpPr/>
          <p:nvPr/>
        </p:nvSpPr>
        <p:spPr>
          <a:xfrm>
            <a:off x="5663880" y="3060720"/>
            <a:ext cx="360" cy="273600"/>
          </a:xfrm>
          <a:prstGeom prst="line">
            <a:avLst/>
          </a:prstGeom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矩形 57"/>
          <p:cNvSpPr/>
          <p:nvPr/>
        </p:nvSpPr>
        <p:spPr>
          <a:xfrm>
            <a:off x="5255640" y="4649760"/>
            <a:ext cx="1721160" cy="723240"/>
          </a:xfrm>
          <a:prstGeom prst="rect">
            <a:avLst/>
          </a:prstGeom>
          <a:noFill/>
          <a:ln w="38100">
            <a:solidFill>
              <a:srgbClr val="7030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矩形 58"/>
          <p:cNvSpPr/>
          <p:nvPr/>
        </p:nvSpPr>
        <p:spPr>
          <a:xfrm>
            <a:off x="5707440" y="4389840"/>
            <a:ext cx="8524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eth0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4" name="文字方塊 59"/>
          <p:cNvSpPr/>
          <p:nvPr/>
        </p:nvSpPr>
        <p:spPr>
          <a:xfrm>
            <a:off x="5528160" y="5989320"/>
            <a:ext cx="127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Host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5" name="文字方塊 60"/>
          <p:cNvSpPr/>
          <p:nvPr/>
        </p:nvSpPr>
        <p:spPr>
          <a:xfrm>
            <a:off x="5178240" y="5389560"/>
            <a:ext cx="1986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6" name="肘形接點 62"/>
          <p:cNvSpPr/>
          <p:nvPr/>
        </p:nvSpPr>
        <p:spPr>
          <a:xfrm flipH="1" rot="16200000">
            <a:off x="5405760" y="3661920"/>
            <a:ext cx="592560" cy="8622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3197f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" name="直線接點 63"/>
          <p:cNvSpPr/>
          <p:nvPr/>
        </p:nvSpPr>
        <p:spPr>
          <a:xfrm>
            <a:off x="6167880" y="2248560"/>
            <a:ext cx="360" cy="350280"/>
          </a:xfrm>
          <a:prstGeom prst="line">
            <a:avLst/>
          </a:prstGeom>
          <a:ln w="38100">
            <a:solidFill>
              <a:srgbClr val="3197f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Docker network - Connect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Connect to a bridge network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Usage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E.g., Connect container “test” to bridge “testbr”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Docker will add an interface on the container and assign an IP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3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6D29041-FAFF-4A94-9E3C-86C84384FC2C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01" name="object 7"/>
          <p:cNvSpPr/>
          <p:nvPr/>
        </p:nvSpPr>
        <p:spPr>
          <a:xfrm>
            <a:off x="983520" y="2023200"/>
            <a:ext cx="9000720" cy="7776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connect &lt;network&gt; &lt;container&gt;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2" name="文字方塊 7"/>
          <p:cNvSpPr/>
          <p:nvPr/>
        </p:nvSpPr>
        <p:spPr>
          <a:xfrm>
            <a:off x="8642160" y="5455080"/>
            <a:ext cx="127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3" name="矩形 8"/>
          <p:cNvSpPr/>
          <p:nvPr/>
        </p:nvSpPr>
        <p:spPr>
          <a:xfrm>
            <a:off x="7392240" y="4183920"/>
            <a:ext cx="3682080" cy="2185920"/>
          </a:xfrm>
          <a:prstGeom prst="rect">
            <a:avLst/>
          </a:prstGeom>
          <a:noFill/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矩形 9"/>
          <p:cNvSpPr/>
          <p:nvPr/>
        </p:nvSpPr>
        <p:spPr>
          <a:xfrm>
            <a:off x="7743600" y="436680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docker0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5" name="矩形 10"/>
          <p:cNvSpPr/>
          <p:nvPr/>
        </p:nvSpPr>
        <p:spPr>
          <a:xfrm>
            <a:off x="9503640" y="4379760"/>
            <a:ext cx="12790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testbr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6" name="矩形 12"/>
          <p:cNvSpPr/>
          <p:nvPr/>
        </p:nvSpPr>
        <p:spPr>
          <a:xfrm>
            <a:off x="7741440" y="5418720"/>
            <a:ext cx="3080880" cy="821520"/>
          </a:xfrm>
          <a:prstGeom prst="rect">
            <a:avLst/>
          </a:prstGeom>
          <a:noFill/>
          <a:ln w="38100">
            <a:solidFill>
              <a:srgbClr val="7030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矩形 13"/>
          <p:cNvSpPr/>
          <p:nvPr/>
        </p:nvSpPr>
        <p:spPr>
          <a:xfrm>
            <a:off x="7963920" y="5187600"/>
            <a:ext cx="852480" cy="461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eth0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8" name="文字方塊 15"/>
          <p:cNvSpPr/>
          <p:nvPr/>
        </p:nvSpPr>
        <p:spPr>
          <a:xfrm>
            <a:off x="9406440" y="5799600"/>
            <a:ext cx="1482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Container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9" name="矩形 17"/>
          <p:cNvSpPr/>
          <p:nvPr/>
        </p:nvSpPr>
        <p:spPr>
          <a:xfrm>
            <a:off x="9717120" y="5178960"/>
            <a:ext cx="852480" cy="461880"/>
          </a:xfrm>
          <a:prstGeom prst="rect">
            <a:avLst/>
          </a:prstGeom>
          <a:solidFill>
            <a:srgbClr val="f2f2f2"/>
          </a:solidFill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eth1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0" name="直線接點 18"/>
          <p:cNvSpPr/>
          <p:nvPr/>
        </p:nvSpPr>
        <p:spPr>
          <a:xfrm>
            <a:off x="8383320" y="4829040"/>
            <a:ext cx="360" cy="349560"/>
          </a:xfrm>
          <a:prstGeom prst="line">
            <a:avLst/>
          </a:prstGeom>
          <a:ln w="38100">
            <a:solidFill>
              <a:srgbClr val="3197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直線接點 21"/>
          <p:cNvSpPr/>
          <p:nvPr/>
        </p:nvSpPr>
        <p:spPr>
          <a:xfrm>
            <a:off x="10143360" y="4841640"/>
            <a:ext cx="360" cy="33696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文字方塊 25"/>
          <p:cNvSpPr/>
          <p:nvPr/>
        </p:nvSpPr>
        <p:spPr>
          <a:xfrm>
            <a:off x="6557760" y="4033080"/>
            <a:ext cx="89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bfbfbf"/>
                </a:solidFill>
                <a:latin typeface="Calibri"/>
                <a:ea typeface="標楷體"/>
              </a:rPr>
              <a:t>Host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3" name="object 7"/>
          <p:cNvSpPr/>
          <p:nvPr/>
        </p:nvSpPr>
        <p:spPr>
          <a:xfrm>
            <a:off x="983520" y="2947320"/>
            <a:ext cx="90007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connect testbr test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Steps to Setup Example Scenario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20560" y="996840"/>
            <a:ext cx="11036520" cy="548892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514440" indent="-51444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AutoNum type="arabicPeriod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Prepare Docker images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AutoNum type="arabicPeriod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containers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AutoNum type="arabicPeriod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Setup container networks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lvl="1" marL="787320" indent="-51444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Setup network for domains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lvl="1" marL="787320" indent="-51444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Connect domains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AutoNum type="arabicPeriod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Configure host gateways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lvl="1" marL="787320" indent="-51444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Gateway of h1 = R1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lvl="1" marL="787320" indent="-51444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Gateway of h2 = R2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AutoNum type="arabicPeriod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Setup routers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AutoNum type="arabicPeriod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Check routes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4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30300CB-9DAE-4F3F-AE4E-B9FC53974319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grpSp>
        <p:nvGrpSpPr>
          <p:cNvPr id="217" name="Group 6"/>
          <p:cNvGrpSpPr/>
          <p:nvPr/>
        </p:nvGrpSpPr>
        <p:grpSpPr>
          <a:xfrm>
            <a:off x="4644720" y="3741480"/>
            <a:ext cx="6912360" cy="2639520"/>
            <a:chOff x="4644720" y="3741480"/>
            <a:chExt cx="6912360" cy="2639520"/>
          </a:xfrm>
        </p:grpSpPr>
        <p:sp>
          <p:nvSpPr>
            <p:cNvPr id="218" name="圓角矩形 5"/>
            <p:cNvSpPr/>
            <p:nvPr/>
          </p:nvSpPr>
          <p:spPr>
            <a:xfrm>
              <a:off x="4644720" y="3741480"/>
              <a:ext cx="6912360" cy="263952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圓角矩形 16"/>
            <p:cNvSpPr/>
            <p:nvPr/>
          </p:nvSpPr>
          <p:spPr>
            <a:xfrm>
              <a:off x="4860720" y="4145760"/>
              <a:ext cx="6552360" cy="208692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文字方塊 34"/>
            <p:cNvSpPr/>
            <p:nvPr/>
          </p:nvSpPr>
          <p:spPr>
            <a:xfrm>
              <a:off x="4835160" y="4145760"/>
              <a:ext cx="1283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3197fe"/>
                  </a:solidFill>
                  <a:latin typeface="Calibri"/>
                  <a:ea typeface="標楷體"/>
                </a:rPr>
                <a:t>Docker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1" name="直線接點 36"/>
            <p:cNvSpPr/>
            <p:nvPr/>
          </p:nvSpPr>
          <p:spPr>
            <a:xfrm>
              <a:off x="6358680" y="5487480"/>
              <a:ext cx="29376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22" name="直線接點 37"/>
            <p:cNvSpPr/>
            <p:nvPr/>
          </p:nvSpPr>
          <p:spPr>
            <a:xfrm>
              <a:off x="7851240" y="5487480"/>
              <a:ext cx="65700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23" name="文字方塊 47"/>
            <p:cNvSpPr/>
            <p:nvPr/>
          </p:nvSpPr>
          <p:spPr>
            <a:xfrm>
              <a:off x="4930920" y="3741480"/>
              <a:ext cx="184752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3197fe"/>
                  </a:solidFill>
                  <a:latin typeface="Calibri"/>
                  <a:ea typeface="標楷體"/>
                </a:rPr>
                <a:t>Virtual</a:t>
              </a:r>
              <a:r>
                <a:rPr b="0" lang="en-US" sz="2000" spc="-1" strike="noStrike">
                  <a:solidFill>
                    <a:srgbClr val="a6a6a6"/>
                  </a:solidFill>
                  <a:latin typeface="Calibri"/>
                  <a:ea typeface="標楷體"/>
                </a:rPr>
                <a:t> </a:t>
              </a:r>
              <a:r>
                <a:rPr b="0" lang="en-US" sz="2000" spc="-1" strike="noStrike">
                  <a:solidFill>
                    <a:srgbClr val="3197fe"/>
                  </a:solidFill>
                  <a:latin typeface="Calibri"/>
                  <a:ea typeface="標楷體"/>
                </a:rPr>
                <a:t>Machine</a:t>
              </a:r>
              <a:endParaRPr b="0" lang="en-US" sz="2000" spc="-1" strike="noStrike">
                <a:latin typeface="Arial"/>
              </a:endParaRPr>
            </a:p>
          </p:txBody>
        </p:sp>
        <p:grpSp>
          <p:nvGrpSpPr>
            <p:cNvPr id="224" name="Group 30"/>
            <p:cNvGrpSpPr/>
            <p:nvPr/>
          </p:nvGrpSpPr>
          <p:grpSpPr>
            <a:xfrm>
              <a:off x="4959720" y="4586760"/>
              <a:ext cx="3020400" cy="1516320"/>
              <a:chOff x="4959720" y="4586760"/>
              <a:chExt cx="3020400" cy="1516320"/>
            </a:xfrm>
          </p:grpSpPr>
          <p:grpSp>
            <p:nvGrpSpPr>
              <p:cNvPr id="225" name="群組 17"/>
              <p:cNvGrpSpPr/>
              <p:nvPr/>
            </p:nvGrpSpPr>
            <p:grpSpPr>
              <a:xfrm>
                <a:off x="6612120" y="4964040"/>
                <a:ext cx="1279080" cy="1072440"/>
                <a:chOff x="6612120" y="4964040"/>
                <a:chExt cx="1279080" cy="1072440"/>
              </a:xfrm>
            </p:grpSpPr>
            <p:pic>
              <p:nvPicPr>
                <p:cNvPr id="226" name="圖形 18" descr=""/>
                <p:cNvPicPr/>
                <p:nvPr/>
              </p:nvPicPr>
              <p:blipFill>
                <a:blip r:embed="rId1"/>
                <a:stretch/>
              </p:blipFill>
              <p:spPr>
                <a:xfrm>
                  <a:off x="6896880" y="5176800"/>
                  <a:ext cx="709560" cy="47304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227" name="圓角矩形 19"/>
                <p:cNvSpPr/>
                <p:nvPr/>
              </p:nvSpPr>
              <p:spPr>
                <a:xfrm>
                  <a:off x="6652800" y="4964040"/>
                  <a:ext cx="1198440" cy="10476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8" name="文字方塊 20"/>
                <p:cNvSpPr/>
                <p:nvPr/>
              </p:nvSpPr>
              <p:spPr>
                <a:xfrm>
                  <a:off x="6612120" y="5641920"/>
                  <a:ext cx="127908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R1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229" name="群組 21"/>
              <p:cNvGrpSpPr/>
              <p:nvPr/>
            </p:nvGrpSpPr>
            <p:grpSpPr>
              <a:xfrm>
                <a:off x="5146200" y="4964040"/>
                <a:ext cx="1279080" cy="1080720"/>
                <a:chOff x="5146200" y="4964040"/>
                <a:chExt cx="1279080" cy="1080720"/>
              </a:xfrm>
            </p:grpSpPr>
            <p:pic>
              <p:nvPicPr>
                <p:cNvPr id="230" name="圖形 22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5452560" y="5096160"/>
                  <a:ext cx="666000" cy="59040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231" name="圓角矩形 23"/>
                <p:cNvSpPr/>
                <p:nvPr/>
              </p:nvSpPr>
              <p:spPr>
                <a:xfrm>
                  <a:off x="5160240" y="4964040"/>
                  <a:ext cx="1198440" cy="10476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32" name="文字方塊 24"/>
                <p:cNvSpPr/>
                <p:nvPr/>
              </p:nvSpPr>
              <p:spPr>
                <a:xfrm>
                  <a:off x="5146200" y="5650200"/>
                  <a:ext cx="127908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h1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sp>
            <p:nvSpPr>
              <p:cNvPr id="233" name="圓角矩形 16"/>
              <p:cNvSpPr/>
              <p:nvPr/>
            </p:nvSpPr>
            <p:spPr>
              <a:xfrm>
                <a:off x="5007240" y="4615920"/>
                <a:ext cx="2972880" cy="148716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文字方塊 34"/>
              <p:cNvSpPr/>
              <p:nvPr/>
            </p:nvSpPr>
            <p:spPr>
              <a:xfrm>
                <a:off x="4959720" y="4586760"/>
                <a:ext cx="145188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e"/>
                    </a:solidFill>
                    <a:latin typeface="Calibri"/>
                    <a:ea typeface="標楷體"/>
                  </a:rPr>
                  <a:t>Domain 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grpSp>
          <p:nvGrpSpPr>
            <p:cNvPr id="235" name="Group 59"/>
            <p:cNvGrpSpPr/>
            <p:nvPr/>
          </p:nvGrpSpPr>
          <p:grpSpPr>
            <a:xfrm>
              <a:off x="8299080" y="4575600"/>
              <a:ext cx="3020400" cy="1515960"/>
              <a:chOff x="8299080" y="4575600"/>
              <a:chExt cx="3020400" cy="1515960"/>
            </a:xfrm>
          </p:grpSpPr>
          <p:sp>
            <p:nvSpPr>
              <p:cNvPr id="236" name="直線接點 41"/>
              <p:cNvSpPr/>
              <p:nvPr/>
            </p:nvSpPr>
            <p:spPr>
              <a:xfrm flipH="1">
                <a:off x="9707040" y="5487480"/>
                <a:ext cx="285480" cy="36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/>
            </p:style>
          </p:sp>
          <p:grpSp>
            <p:nvGrpSpPr>
              <p:cNvPr id="237" name="群組 25"/>
              <p:cNvGrpSpPr/>
              <p:nvPr/>
            </p:nvGrpSpPr>
            <p:grpSpPr>
              <a:xfrm>
                <a:off x="8468280" y="4964040"/>
                <a:ext cx="1279080" cy="1050120"/>
                <a:chOff x="8468280" y="4964040"/>
                <a:chExt cx="1279080" cy="1050120"/>
              </a:xfrm>
            </p:grpSpPr>
            <p:sp>
              <p:nvSpPr>
                <p:cNvPr id="238" name="圓角矩形 27"/>
                <p:cNvSpPr/>
                <p:nvPr/>
              </p:nvSpPr>
              <p:spPr>
                <a:xfrm>
                  <a:off x="8508600" y="4964040"/>
                  <a:ext cx="1198440" cy="10476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pic>
              <p:nvPicPr>
                <p:cNvPr id="239" name="圖形 26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8753040" y="5154480"/>
                  <a:ext cx="709560" cy="47304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240" name="文字方塊 28"/>
                <p:cNvSpPr/>
                <p:nvPr/>
              </p:nvSpPr>
              <p:spPr>
                <a:xfrm>
                  <a:off x="8468280" y="5619600"/>
                  <a:ext cx="127908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R2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241" name="Group 7"/>
              <p:cNvGrpSpPr/>
              <p:nvPr/>
            </p:nvGrpSpPr>
            <p:grpSpPr>
              <a:xfrm>
                <a:off x="8299080" y="4575600"/>
                <a:ext cx="3020400" cy="1515960"/>
                <a:chOff x="8299080" y="4575600"/>
                <a:chExt cx="3020400" cy="1515960"/>
              </a:xfrm>
            </p:grpSpPr>
            <p:sp>
              <p:nvSpPr>
                <p:cNvPr id="242" name="圓角矩形 16"/>
                <p:cNvSpPr/>
                <p:nvPr/>
              </p:nvSpPr>
              <p:spPr>
                <a:xfrm>
                  <a:off x="8346600" y="4604400"/>
                  <a:ext cx="2972880" cy="148716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43" name="文字方塊 34"/>
                <p:cNvSpPr/>
                <p:nvPr/>
              </p:nvSpPr>
              <p:spPr>
                <a:xfrm>
                  <a:off x="8299080" y="4575600"/>
                  <a:ext cx="145188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e"/>
                      </a:solidFill>
                      <a:latin typeface="Calibri"/>
                      <a:ea typeface="標楷體"/>
                    </a:rPr>
                    <a:t>Domain 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244" name="群組 15"/>
              <p:cNvGrpSpPr/>
              <p:nvPr/>
            </p:nvGrpSpPr>
            <p:grpSpPr>
              <a:xfrm>
                <a:off x="9978840" y="4964040"/>
                <a:ext cx="1279080" cy="1058040"/>
                <a:chOff x="9978840" y="4964040"/>
                <a:chExt cx="1279080" cy="1058040"/>
              </a:xfrm>
            </p:grpSpPr>
            <p:pic>
              <p:nvPicPr>
                <p:cNvPr id="245" name="圖形 6" descr=""/>
                <p:cNvPicPr/>
                <p:nvPr/>
              </p:nvPicPr>
              <p:blipFill>
                <a:blip r:embed="rId4"/>
                <a:stretch/>
              </p:blipFill>
              <p:spPr>
                <a:xfrm>
                  <a:off x="10285200" y="5073480"/>
                  <a:ext cx="666000" cy="59040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246" name="圓角矩形 8"/>
                <p:cNvSpPr/>
                <p:nvPr/>
              </p:nvSpPr>
              <p:spPr>
                <a:xfrm>
                  <a:off x="9992520" y="4964040"/>
                  <a:ext cx="1198440" cy="10476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47" name="文字方塊 9"/>
                <p:cNvSpPr/>
                <p:nvPr/>
              </p:nvSpPr>
              <p:spPr>
                <a:xfrm>
                  <a:off x="9978840" y="5627520"/>
                  <a:ext cx="127908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h2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1 – Prepare Docker images (1/3)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Prepare docker image “host” 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Write Dockerfile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Create configuration file </a:t>
            </a:r>
            <a:r>
              <a:rPr b="1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host.Dockerfile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5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889EC94-A837-4576-8AFF-B476C81426DC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51" name="object 7"/>
          <p:cNvSpPr/>
          <p:nvPr/>
        </p:nvSpPr>
        <p:spPr>
          <a:xfrm>
            <a:off x="854280" y="2458080"/>
            <a:ext cx="648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vi host.Dockerfile 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52" name="群組 7"/>
          <p:cNvGrpSpPr/>
          <p:nvPr/>
        </p:nvGrpSpPr>
        <p:grpSpPr>
          <a:xfrm>
            <a:off x="914400" y="3024000"/>
            <a:ext cx="7429680" cy="2919600"/>
            <a:chOff x="914400" y="3024000"/>
            <a:chExt cx="7429680" cy="2919600"/>
          </a:xfrm>
        </p:grpSpPr>
        <p:sp>
          <p:nvSpPr>
            <p:cNvPr id="253" name="圓角矩形 5"/>
            <p:cNvSpPr/>
            <p:nvPr/>
          </p:nvSpPr>
          <p:spPr>
            <a:xfrm>
              <a:off x="914400" y="3024000"/>
              <a:ext cx="7429680" cy="2919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文字方塊 6"/>
            <p:cNvSpPr/>
            <p:nvPr/>
          </p:nvSpPr>
          <p:spPr>
            <a:xfrm>
              <a:off x="1346400" y="3081600"/>
              <a:ext cx="6843600" cy="283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FROM ubuntu:22.04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br>
                <a:rPr sz="2000"/>
              </a:b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RUN apt-get update -y \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&amp;&amp; apt-get install -y traceroute \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&amp;&amp; apt-get install -y net-tools \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&amp;&amp; apt-get install -y iproute2 \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&amp;&amp; apt-get install -y iputils-ping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br>
                <a:rPr sz="2000"/>
              </a:br>
              <a:r>
                <a:rPr b="0" lang="en-US" sz="2000" spc="-1" strike="noStrike">
                  <a:solidFill>
                    <a:srgbClr val="000000"/>
                  </a:solidFill>
                  <a:latin typeface="Menlo"/>
                  <a:ea typeface="標楷體"/>
                </a:rPr>
                <a:t>CMD ["sleep","infinity"]</a:t>
              </a:r>
              <a:endParaRPr b="0" lang="en-US" sz="20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1 – Prepare Docker images (2/3)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Build docker image with Dockerfile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-t: Name and optionally a tag in the “name:tag” format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-f: Name of the Dockerfile (Default is 'PATH/Dockerfile')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List image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6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A5586B8-0171-46AF-8B30-655A24A30BCF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58" name="object 7"/>
          <p:cNvSpPr/>
          <p:nvPr/>
        </p:nvSpPr>
        <p:spPr>
          <a:xfrm>
            <a:off x="767520" y="1484640"/>
            <a:ext cx="798264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build -t host -f host.Dockerfile 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9" name="object 7"/>
          <p:cNvSpPr/>
          <p:nvPr/>
        </p:nvSpPr>
        <p:spPr>
          <a:xfrm>
            <a:off x="753840" y="3325680"/>
            <a:ext cx="798264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images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60" name="Picture 7" descr=""/>
          <p:cNvPicPr/>
          <p:nvPr/>
        </p:nvPicPr>
        <p:blipFill>
          <a:blip r:embed="rId1"/>
          <a:stretch/>
        </p:blipFill>
        <p:spPr>
          <a:xfrm>
            <a:off x="765360" y="4150800"/>
            <a:ext cx="9767160" cy="881640"/>
          </a:xfrm>
          <a:prstGeom prst="rect">
            <a:avLst/>
          </a:prstGeom>
          <a:ln w="0">
            <a:noFill/>
          </a:ln>
        </p:spPr>
      </p:pic>
      <p:sp>
        <p:nvSpPr>
          <p:cNvPr id="261" name="矩形 8"/>
          <p:cNvSpPr/>
          <p:nvPr/>
        </p:nvSpPr>
        <p:spPr>
          <a:xfrm>
            <a:off x="765360" y="4437000"/>
            <a:ext cx="9767160" cy="290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1 – Prepare Docker images (3/3)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Prepare Docker image frrouting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Pull image </a:t>
            </a:r>
            <a:r>
              <a:rPr b="0" lang="en-US" sz="28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1"/>
              </a:rPr>
              <a:t>frrouting/</a:t>
            </a:r>
            <a:r>
              <a:rPr b="0" lang="en-US" sz="28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2"/>
              </a:rPr>
              <a:t>frr-debian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 from docker hub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List image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7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84AC467-4733-4C7B-8E78-3F07D7C2AB8E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65" name="object 7"/>
          <p:cNvSpPr/>
          <p:nvPr/>
        </p:nvSpPr>
        <p:spPr>
          <a:xfrm>
            <a:off x="905760" y="2072520"/>
            <a:ext cx="760824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pull frrouting/frr-debian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6" name="object 7"/>
          <p:cNvSpPr/>
          <p:nvPr/>
        </p:nvSpPr>
        <p:spPr>
          <a:xfrm>
            <a:off x="911520" y="2930760"/>
            <a:ext cx="760824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images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67" name="圖片 10" descr=""/>
          <p:cNvPicPr/>
          <p:nvPr/>
        </p:nvPicPr>
        <p:blipFill>
          <a:blip r:embed="rId3"/>
          <a:stretch/>
        </p:blipFill>
        <p:spPr>
          <a:xfrm>
            <a:off x="905760" y="3622320"/>
            <a:ext cx="7477920" cy="1885680"/>
          </a:xfrm>
          <a:prstGeom prst="rect">
            <a:avLst/>
          </a:prstGeom>
          <a:ln w="0">
            <a:noFill/>
          </a:ln>
        </p:spPr>
      </p:pic>
      <p:sp>
        <p:nvSpPr>
          <p:cNvPr id="268" name="矩形 8"/>
          <p:cNvSpPr/>
          <p:nvPr/>
        </p:nvSpPr>
        <p:spPr>
          <a:xfrm>
            <a:off x="866160" y="5179320"/>
            <a:ext cx="7687440" cy="1800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文字方塊 12"/>
          <p:cNvSpPr/>
          <p:nvPr/>
        </p:nvSpPr>
        <p:spPr>
          <a:xfrm>
            <a:off x="905760" y="5583960"/>
            <a:ext cx="106452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Note: Do not use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frrouting/frr </a:t>
            </a: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image as it doesn’t have the necessary component built for this lab.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2 – Create Containers (1/2)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a container with prepared image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600" spc="-12" strike="noStrike">
                <a:solidFill>
                  <a:srgbClr val="3297fc"/>
                </a:solidFill>
                <a:latin typeface="Calibri"/>
                <a:ea typeface="標楷體"/>
              </a:rPr>
              <a:t>--privileged:</a:t>
            </a:r>
            <a:r>
              <a:rPr b="0" lang="en-US" sz="26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600" spc="-12" strike="noStrike">
                <a:solidFill>
                  <a:srgbClr val="3297fc"/>
                </a:solidFill>
                <a:latin typeface="Calibri"/>
                <a:ea typeface="標楷體"/>
              </a:rPr>
              <a:t>Give</a:t>
            </a:r>
            <a:r>
              <a:rPr b="0" lang="en-US" sz="26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600" spc="-12" strike="noStrike">
                <a:solidFill>
                  <a:srgbClr val="3297fc"/>
                </a:solidFill>
                <a:latin typeface="Calibri"/>
                <a:ea typeface="標楷體"/>
              </a:rPr>
              <a:t>extended </a:t>
            </a:r>
            <a:r>
              <a:rPr b="0" lang="en-US" sz="2600" spc="-15" strike="noStrike">
                <a:solidFill>
                  <a:srgbClr val="3297fc"/>
                </a:solidFill>
                <a:latin typeface="Calibri"/>
                <a:ea typeface="標楷體"/>
              </a:rPr>
              <a:t>privileges</a:t>
            </a:r>
            <a:r>
              <a:rPr b="0" lang="en-US" sz="2600" spc="-7" strike="noStrike">
                <a:solidFill>
                  <a:srgbClr val="3297fc"/>
                </a:solidFill>
                <a:latin typeface="Calibri"/>
                <a:ea typeface="標楷體"/>
              </a:rPr>
              <a:t> to</a:t>
            </a:r>
            <a:r>
              <a:rPr b="0" lang="en-US" sz="2600" spc="-12" strike="noStrike">
                <a:solidFill>
                  <a:srgbClr val="3297fc"/>
                </a:solidFill>
                <a:latin typeface="Calibri"/>
                <a:ea typeface="標楷體"/>
              </a:rPr>
              <a:t> this container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600" spc="-7" strike="noStrike">
                <a:solidFill>
                  <a:srgbClr val="3297fc"/>
                </a:solidFill>
                <a:latin typeface="Calibri"/>
                <a:ea typeface="標楷體"/>
              </a:rPr>
              <a:t>--cap-add:</a:t>
            </a:r>
            <a:r>
              <a:rPr b="0" lang="en-US" sz="26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600" spc="-7" strike="noStrike">
                <a:solidFill>
                  <a:srgbClr val="3297fc"/>
                </a:solidFill>
                <a:latin typeface="Calibri"/>
                <a:ea typeface="標楷體"/>
              </a:rPr>
              <a:t>Add</a:t>
            </a:r>
            <a:r>
              <a:rPr b="0" lang="en-US" sz="2600" spc="-2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600" spc="-12" strike="noStrike">
                <a:solidFill>
                  <a:srgbClr val="3297fc"/>
                </a:solidFill>
                <a:latin typeface="Calibri"/>
                <a:ea typeface="標楷體"/>
              </a:rPr>
              <a:t>Linux</a:t>
            </a:r>
            <a:r>
              <a:rPr b="0" lang="en-US" sz="26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600" spc="-12" strike="noStrike">
                <a:solidFill>
                  <a:srgbClr val="3297fc"/>
                </a:solidFill>
                <a:latin typeface="Calibri"/>
                <a:ea typeface="標楷體"/>
              </a:rPr>
              <a:t>capabilities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NET_ADMIN: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Enable</a:t>
            </a:r>
            <a:r>
              <a:rPr b="0" lang="en-US" sz="2400" spc="-2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network administration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operations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NET_BROADCAST: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Make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socket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able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to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broadcasts,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listen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to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multicasts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8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A0FF1F7-03D3-4112-BA50-292FBD1184D3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73" name="object 7"/>
          <p:cNvSpPr/>
          <p:nvPr/>
        </p:nvSpPr>
        <p:spPr>
          <a:xfrm>
            <a:off x="983520" y="1556640"/>
            <a:ext cx="9000720" cy="12362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run --privileged --cap-add NET_ADMIN \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--cap-add NET_BROADCAST -d -it \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--name &lt;container name&gt; &lt;image&gt;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2 – Create Containers (2/2)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container for a host h1 (h2)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container for a virtual router R1 (R2)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9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3A15D0E-D9D7-40EF-8C98-951D4459442C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77" name="object 7"/>
          <p:cNvSpPr/>
          <p:nvPr/>
        </p:nvSpPr>
        <p:spPr>
          <a:xfrm>
            <a:off x="983520" y="1544760"/>
            <a:ext cx="9000720" cy="12362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run --privileged --cap-add NET_ADMIN \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--cap-add NET_BROADCAST -d -it \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--name </a:t>
            </a:r>
            <a:r>
              <a:rPr b="0" lang="en-US" sz="2400" spc="168" strike="noStrike">
                <a:solidFill>
                  <a:srgbClr val="ff0000"/>
                </a:solidFill>
                <a:latin typeface="Arial MT"/>
                <a:ea typeface="標楷體"/>
              </a:rPr>
              <a:t>h1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host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8" name="object 7"/>
          <p:cNvSpPr/>
          <p:nvPr/>
        </p:nvSpPr>
        <p:spPr>
          <a:xfrm>
            <a:off x="983520" y="3432960"/>
            <a:ext cx="9000720" cy="12362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run --privileged --cap-add NET_ADMIN \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--cap-add NET_BROADCAST -d -it \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--name </a:t>
            </a:r>
            <a:r>
              <a:rPr b="0" lang="en-US" sz="2400" spc="168" strike="noStrike">
                <a:solidFill>
                  <a:srgbClr val="ff0000"/>
                </a:solidFill>
                <a:latin typeface="Arial MT"/>
                <a:ea typeface="標楷體"/>
              </a:rPr>
              <a:t>R1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frrouting/frr-debian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79" name="群組 7"/>
          <p:cNvGrpSpPr/>
          <p:nvPr/>
        </p:nvGrpSpPr>
        <p:grpSpPr>
          <a:xfrm>
            <a:off x="7484400" y="5236920"/>
            <a:ext cx="1279080" cy="1066680"/>
            <a:chOff x="7484400" y="5236920"/>
            <a:chExt cx="1279080" cy="1066680"/>
          </a:xfrm>
        </p:grpSpPr>
        <p:pic>
          <p:nvPicPr>
            <p:cNvPr id="280" name="圖形 8" descr=""/>
            <p:cNvPicPr/>
            <p:nvPr/>
          </p:nvPicPr>
          <p:blipFill>
            <a:blip r:embed="rId1"/>
            <a:stretch/>
          </p:blipFill>
          <p:spPr>
            <a:xfrm>
              <a:off x="7791120" y="5355000"/>
              <a:ext cx="666000" cy="59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1" name="圓角矩形 9"/>
            <p:cNvSpPr/>
            <p:nvPr/>
          </p:nvSpPr>
          <p:spPr>
            <a:xfrm>
              <a:off x="7498440" y="5236920"/>
              <a:ext cx="1198440" cy="1047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文字方塊 10"/>
            <p:cNvSpPr/>
            <p:nvPr/>
          </p:nvSpPr>
          <p:spPr>
            <a:xfrm>
              <a:off x="7484400" y="5909040"/>
              <a:ext cx="12790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h2</a:t>
              </a:r>
              <a:endParaRPr b="0" lang="en-US" sz="2000" spc="-1" strike="noStrike">
                <a:latin typeface="Arial"/>
              </a:endParaRPr>
            </a:p>
          </p:txBody>
        </p:sp>
      </p:grpSp>
      <p:sp>
        <p:nvSpPr>
          <p:cNvPr id="283" name="圓角矩形 11"/>
          <p:cNvSpPr/>
          <p:nvPr/>
        </p:nvSpPr>
        <p:spPr>
          <a:xfrm>
            <a:off x="3090600" y="4848840"/>
            <a:ext cx="5832360" cy="157248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84" name="群組 12"/>
          <p:cNvGrpSpPr/>
          <p:nvPr/>
        </p:nvGrpSpPr>
        <p:grpSpPr>
          <a:xfrm>
            <a:off x="4691160" y="5244840"/>
            <a:ext cx="1279080" cy="1058760"/>
            <a:chOff x="4691160" y="5244840"/>
            <a:chExt cx="1279080" cy="1058760"/>
          </a:xfrm>
        </p:grpSpPr>
        <p:pic>
          <p:nvPicPr>
            <p:cNvPr id="285" name="圖形 13" descr=""/>
            <p:cNvPicPr/>
            <p:nvPr/>
          </p:nvPicPr>
          <p:blipFill>
            <a:blip r:embed="rId2"/>
            <a:stretch/>
          </p:blipFill>
          <p:spPr>
            <a:xfrm>
              <a:off x="4976280" y="5443920"/>
              <a:ext cx="709560" cy="473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6" name="圓角矩形 14"/>
            <p:cNvSpPr/>
            <p:nvPr/>
          </p:nvSpPr>
          <p:spPr>
            <a:xfrm>
              <a:off x="4731840" y="5244840"/>
              <a:ext cx="1198440" cy="1047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文字方塊 15"/>
            <p:cNvSpPr/>
            <p:nvPr/>
          </p:nvSpPr>
          <p:spPr>
            <a:xfrm>
              <a:off x="4691160" y="5909040"/>
              <a:ext cx="12790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R1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288" name="群組 16"/>
          <p:cNvGrpSpPr/>
          <p:nvPr/>
        </p:nvGrpSpPr>
        <p:grpSpPr>
          <a:xfrm>
            <a:off x="3328920" y="5236920"/>
            <a:ext cx="1279080" cy="1066680"/>
            <a:chOff x="3328920" y="5236920"/>
            <a:chExt cx="1279080" cy="1066680"/>
          </a:xfrm>
        </p:grpSpPr>
        <p:pic>
          <p:nvPicPr>
            <p:cNvPr id="289" name="圖形 17" descr=""/>
            <p:cNvPicPr/>
            <p:nvPr/>
          </p:nvPicPr>
          <p:blipFill>
            <a:blip r:embed="rId3"/>
            <a:stretch/>
          </p:blipFill>
          <p:spPr>
            <a:xfrm>
              <a:off x="3635280" y="5355000"/>
              <a:ext cx="666000" cy="59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0" name="圓角矩形 18"/>
            <p:cNvSpPr/>
            <p:nvPr/>
          </p:nvSpPr>
          <p:spPr>
            <a:xfrm>
              <a:off x="3342600" y="5236920"/>
              <a:ext cx="1198440" cy="1047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文字方塊 19"/>
            <p:cNvSpPr/>
            <p:nvPr/>
          </p:nvSpPr>
          <p:spPr>
            <a:xfrm>
              <a:off x="3328920" y="5909040"/>
              <a:ext cx="12790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h1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292" name="群組 20"/>
          <p:cNvGrpSpPr/>
          <p:nvPr/>
        </p:nvGrpSpPr>
        <p:grpSpPr>
          <a:xfrm>
            <a:off x="6095880" y="5244840"/>
            <a:ext cx="1279080" cy="1058760"/>
            <a:chOff x="6095880" y="5244840"/>
            <a:chExt cx="1279080" cy="1058760"/>
          </a:xfrm>
        </p:grpSpPr>
        <p:pic>
          <p:nvPicPr>
            <p:cNvPr id="293" name="圖形 21" descr=""/>
            <p:cNvPicPr/>
            <p:nvPr/>
          </p:nvPicPr>
          <p:blipFill>
            <a:blip r:embed="rId4"/>
            <a:stretch/>
          </p:blipFill>
          <p:spPr>
            <a:xfrm>
              <a:off x="6380640" y="5443920"/>
              <a:ext cx="709560" cy="473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4" name="圓角矩形 22"/>
            <p:cNvSpPr/>
            <p:nvPr/>
          </p:nvSpPr>
          <p:spPr>
            <a:xfrm>
              <a:off x="6136560" y="5244840"/>
              <a:ext cx="1198440" cy="1047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文字方塊 23"/>
            <p:cNvSpPr/>
            <p:nvPr/>
          </p:nvSpPr>
          <p:spPr>
            <a:xfrm>
              <a:off x="6095880" y="5909040"/>
              <a:ext cx="12790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R2</a:t>
              </a:r>
              <a:endParaRPr b="0" lang="en-US" sz="2000" spc="-1" strike="noStrike">
                <a:latin typeface="Arial"/>
              </a:endParaRPr>
            </a:p>
          </p:txBody>
        </p:sp>
      </p:grpSp>
      <p:sp>
        <p:nvSpPr>
          <p:cNvPr id="296" name="文字方塊 30"/>
          <p:cNvSpPr/>
          <p:nvPr/>
        </p:nvSpPr>
        <p:spPr>
          <a:xfrm>
            <a:off x="3151080" y="4844520"/>
            <a:ext cx="1073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a6a6a6"/>
                </a:solidFill>
                <a:latin typeface="Calibri"/>
                <a:ea typeface="標楷體"/>
              </a:rPr>
              <a:t>Docker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3 – Setup Container Networks (1/3)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Setup network for domains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a bridge network R1h1br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R1h1br: Bridge name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Connect containers h1 and R1 to bridge R1h1br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Docker will assign IP to interfaces automatically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20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0A70632-3948-401F-96E8-1C2A24443513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00" name="object 7"/>
          <p:cNvSpPr/>
          <p:nvPr/>
        </p:nvSpPr>
        <p:spPr>
          <a:xfrm>
            <a:off x="983520" y="2008800"/>
            <a:ext cx="90007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create R1h1br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01" name="object 7"/>
          <p:cNvSpPr/>
          <p:nvPr/>
        </p:nvSpPr>
        <p:spPr>
          <a:xfrm>
            <a:off x="983520" y="3438000"/>
            <a:ext cx="9000720" cy="8240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connect R1h1br R1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connect R1h1br h1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302" name="Group 6"/>
          <p:cNvGrpSpPr/>
          <p:nvPr/>
        </p:nvGrpSpPr>
        <p:grpSpPr>
          <a:xfrm>
            <a:off x="2999520" y="4808520"/>
            <a:ext cx="5770800" cy="2336760"/>
            <a:chOff x="2999520" y="4808520"/>
            <a:chExt cx="5770800" cy="2336760"/>
          </a:xfrm>
        </p:grpSpPr>
        <p:grpSp>
          <p:nvGrpSpPr>
            <p:cNvPr id="303" name="群組 12"/>
            <p:cNvGrpSpPr/>
            <p:nvPr/>
          </p:nvGrpSpPr>
          <p:grpSpPr>
            <a:xfrm>
              <a:off x="7491240" y="5059080"/>
              <a:ext cx="1279080" cy="1058760"/>
              <a:chOff x="7491240" y="5059080"/>
              <a:chExt cx="1279080" cy="1058760"/>
            </a:xfrm>
          </p:grpSpPr>
          <p:pic>
            <p:nvPicPr>
              <p:cNvPr id="304" name="圖形 13" descr=""/>
              <p:cNvPicPr/>
              <p:nvPr/>
            </p:nvPicPr>
            <p:blipFill>
              <a:blip r:embed="rId1"/>
              <a:stretch/>
            </p:blipFill>
            <p:spPr>
              <a:xfrm>
                <a:off x="7776360" y="5258160"/>
                <a:ext cx="709560" cy="4730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05" name="圓角矩形 14"/>
              <p:cNvSpPr/>
              <p:nvPr/>
            </p:nvSpPr>
            <p:spPr>
              <a:xfrm>
                <a:off x="7531920" y="5059080"/>
                <a:ext cx="1198440" cy="104760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6" name="文字方塊 15"/>
              <p:cNvSpPr/>
              <p:nvPr/>
            </p:nvSpPr>
            <p:spPr>
              <a:xfrm>
                <a:off x="7491240" y="5723280"/>
                <a:ext cx="127908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R1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grpSp>
          <p:nvGrpSpPr>
            <p:cNvPr id="307" name="群組 16"/>
            <p:cNvGrpSpPr/>
            <p:nvPr/>
          </p:nvGrpSpPr>
          <p:grpSpPr>
            <a:xfrm>
              <a:off x="3043800" y="5051160"/>
              <a:ext cx="1279080" cy="1066680"/>
              <a:chOff x="3043800" y="5051160"/>
              <a:chExt cx="1279080" cy="1066680"/>
            </a:xfrm>
          </p:grpSpPr>
          <p:pic>
            <p:nvPicPr>
              <p:cNvPr id="308" name="圖形 17" descr=""/>
              <p:cNvPicPr/>
              <p:nvPr/>
            </p:nvPicPr>
            <p:blipFill>
              <a:blip r:embed="rId2"/>
              <a:stretch/>
            </p:blipFill>
            <p:spPr>
              <a:xfrm>
                <a:off x="3350520" y="5169240"/>
                <a:ext cx="666000" cy="5904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09" name="圓角矩形 18"/>
              <p:cNvSpPr/>
              <p:nvPr/>
            </p:nvSpPr>
            <p:spPr>
              <a:xfrm>
                <a:off x="3057840" y="5051160"/>
                <a:ext cx="1198440" cy="104760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0" name="文字方塊 19"/>
              <p:cNvSpPr/>
              <p:nvPr/>
            </p:nvSpPr>
            <p:spPr>
              <a:xfrm>
                <a:off x="3043800" y="5723280"/>
                <a:ext cx="127908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h1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sp>
          <p:nvSpPr>
            <p:cNvPr id="311" name="剪去同側角落矩形 24"/>
            <p:cNvSpPr/>
            <p:nvPr/>
          </p:nvSpPr>
          <p:spPr>
            <a:xfrm>
              <a:off x="5344920" y="5232960"/>
              <a:ext cx="1079640" cy="438480"/>
            </a:xfrm>
            <a:prstGeom prst="snip2SameRect">
              <a:avLst>
                <a:gd name="adj1" fmla="val 19853"/>
                <a:gd name="adj2" fmla="val 0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文字方塊 25"/>
            <p:cNvSpPr/>
            <p:nvPr/>
          </p:nvSpPr>
          <p:spPr>
            <a:xfrm>
              <a:off x="5010840" y="4808520"/>
              <a:ext cx="174780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a6a6a6"/>
                  </a:solidFill>
                  <a:latin typeface="Calibri"/>
                  <a:ea typeface="標楷體"/>
                </a:rPr>
                <a:t>Docker bridge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313" name="直線接點 27"/>
            <p:cNvSpPr/>
            <p:nvPr/>
          </p:nvSpPr>
          <p:spPr>
            <a:xfrm flipV="1">
              <a:off x="4256280" y="5452200"/>
              <a:ext cx="1088640" cy="12240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直線接點 28"/>
            <p:cNvSpPr/>
            <p:nvPr/>
          </p:nvSpPr>
          <p:spPr>
            <a:xfrm>
              <a:off x="6424920" y="5452200"/>
              <a:ext cx="1106640" cy="130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直線箭頭接點 33"/>
            <p:cNvSpPr/>
            <p:nvPr/>
          </p:nvSpPr>
          <p:spPr>
            <a:xfrm flipH="1" flipV="1">
              <a:off x="5884920" y="5671800"/>
              <a:ext cx="69840" cy="451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16" name="直線箭頭接點 35"/>
            <p:cNvSpPr/>
            <p:nvPr/>
          </p:nvSpPr>
          <p:spPr>
            <a:xfrm flipV="1">
              <a:off x="4057200" y="5574960"/>
              <a:ext cx="198720" cy="771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17" name="直線箭頭接點 39"/>
            <p:cNvSpPr/>
            <p:nvPr/>
          </p:nvSpPr>
          <p:spPr>
            <a:xfrm flipH="1" flipV="1">
              <a:off x="7531200" y="5582880"/>
              <a:ext cx="129960" cy="771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18" name="文字方塊 43"/>
            <p:cNvSpPr/>
            <p:nvPr/>
          </p:nvSpPr>
          <p:spPr>
            <a:xfrm>
              <a:off x="2999520" y="6314040"/>
              <a:ext cx="174780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172.18.0.</a:t>
              </a:r>
              <a:r>
                <a:rPr b="0" lang="en-US" sz="24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19" name="文字方塊 44"/>
            <p:cNvSpPr/>
            <p:nvPr/>
          </p:nvSpPr>
          <p:spPr>
            <a:xfrm>
              <a:off x="6987600" y="6324120"/>
              <a:ext cx="174780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172.18.0.</a:t>
              </a:r>
              <a:r>
                <a:rPr b="0" lang="en-US" sz="24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20" name="文字方塊 46"/>
            <p:cNvSpPr/>
            <p:nvPr/>
          </p:nvSpPr>
          <p:spPr>
            <a:xfrm>
              <a:off x="5394600" y="6116760"/>
              <a:ext cx="112752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R1h1br</a:t>
              </a:r>
              <a:endParaRPr b="0" lang="en-US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Check the IP addresses of network interfaces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Repeat network setup procedure for another domain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buClr>
                <a:srgbClr val="0088ee"/>
              </a:buClr>
              <a:buFont typeface="Calibri"/>
              <a:buChar char="◦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bridge network R2h2br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buClr>
                <a:srgbClr val="0088ee"/>
              </a:buClr>
              <a:buFont typeface="Calibri"/>
              <a:buChar char="◦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Connect containers R2 and h2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3 – Setup Container Networks (2/3)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21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9097BE1-EFD7-48C5-9F93-B1311E6D825B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24" name="object 7"/>
          <p:cNvSpPr/>
          <p:nvPr/>
        </p:nvSpPr>
        <p:spPr>
          <a:xfrm>
            <a:off x="983520" y="1544760"/>
            <a:ext cx="4896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inspect h1 (R1)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325" name="群組 6"/>
          <p:cNvGrpSpPr/>
          <p:nvPr/>
        </p:nvGrpSpPr>
        <p:grpSpPr>
          <a:xfrm>
            <a:off x="7702200" y="729360"/>
            <a:ext cx="4339080" cy="2004480"/>
            <a:chOff x="7702200" y="729360"/>
            <a:chExt cx="4339080" cy="2004480"/>
          </a:xfrm>
        </p:grpSpPr>
        <p:grpSp>
          <p:nvGrpSpPr>
            <p:cNvPr id="326" name="群組 12"/>
            <p:cNvGrpSpPr/>
            <p:nvPr/>
          </p:nvGrpSpPr>
          <p:grpSpPr>
            <a:xfrm>
              <a:off x="11077560" y="1022400"/>
              <a:ext cx="963720" cy="909000"/>
              <a:chOff x="11077560" y="1022400"/>
              <a:chExt cx="963720" cy="909000"/>
            </a:xfrm>
          </p:grpSpPr>
          <p:pic>
            <p:nvPicPr>
              <p:cNvPr id="327" name="圖形 13" descr=""/>
              <p:cNvPicPr/>
              <p:nvPr/>
            </p:nvPicPr>
            <p:blipFill>
              <a:blip r:embed="rId1"/>
              <a:stretch/>
            </p:blipFill>
            <p:spPr>
              <a:xfrm>
                <a:off x="11279880" y="1187640"/>
                <a:ext cx="534600" cy="3920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28" name="圓角矩形 14"/>
              <p:cNvSpPr/>
              <p:nvPr/>
            </p:nvSpPr>
            <p:spPr>
              <a:xfrm>
                <a:off x="11095560" y="1022400"/>
                <a:ext cx="902880" cy="86868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9" name="文字方塊 15"/>
              <p:cNvSpPr/>
              <p:nvPr/>
            </p:nvSpPr>
            <p:spPr>
              <a:xfrm>
                <a:off x="11077560" y="1536840"/>
                <a:ext cx="9637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R1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grpSp>
          <p:nvGrpSpPr>
            <p:cNvPr id="330" name="群組 16"/>
            <p:cNvGrpSpPr/>
            <p:nvPr/>
          </p:nvGrpSpPr>
          <p:grpSpPr>
            <a:xfrm>
              <a:off x="7714440" y="1015920"/>
              <a:ext cx="963720" cy="902880"/>
              <a:chOff x="7714440" y="1015920"/>
              <a:chExt cx="963720" cy="902880"/>
            </a:xfrm>
          </p:grpSpPr>
          <p:pic>
            <p:nvPicPr>
              <p:cNvPr id="331" name="圖形 17" descr=""/>
              <p:cNvPicPr/>
              <p:nvPr/>
            </p:nvPicPr>
            <p:blipFill>
              <a:blip r:embed="rId2"/>
              <a:stretch/>
            </p:blipFill>
            <p:spPr>
              <a:xfrm>
                <a:off x="7945200" y="1113840"/>
                <a:ext cx="501840" cy="489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32" name="圓角矩形 18"/>
              <p:cNvSpPr/>
              <p:nvPr/>
            </p:nvSpPr>
            <p:spPr>
              <a:xfrm>
                <a:off x="7724880" y="1015920"/>
                <a:ext cx="902880" cy="86868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3" name="文字方塊 19"/>
              <p:cNvSpPr/>
              <p:nvPr/>
            </p:nvSpPr>
            <p:spPr>
              <a:xfrm>
                <a:off x="7714440" y="1524240"/>
                <a:ext cx="9637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h1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sp>
          <p:nvSpPr>
            <p:cNvPr id="334" name="剪去同側角落矩形 24"/>
            <p:cNvSpPr/>
            <p:nvPr/>
          </p:nvSpPr>
          <p:spPr>
            <a:xfrm>
              <a:off x="9448200" y="1166760"/>
              <a:ext cx="813600" cy="363240"/>
            </a:xfrm>
            <a:prstGeom prst="snip2SameRect">
              <a:avLst>
                <a:gd name="adj1" fmla="val 19853"/>
                <a:gd name="adj2" fmla="val 0"/>
              </a:avLst>
            </a:prstGeom>
            <a:noFill/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文字方塊 25"/>
            <p:cNvSpPr/>
            <p:nvPr/>
          </p:nvSpPr>
          <p:spPr>
            <a:xfrm>
              <a:off x="8936640" y="729360"/>
              <a:ext cx="192780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a6a6a6"/>
                  </a:solidFill>
                  <a:latin typeface="Calibri"/>
                  <a:ea typeface="標楷體"/>
                </a:rPr>
                <a:t>Docker bridge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336" name="直線接點 27"/>
            <p:cNvSpPr/>
            <p:nvPr/>
          </p:nvSpPr>
          <p:spPr>
            <a:xfrm flipV="1">
              <a:off x="8627760" y="1348560"/>
              <a:ext cx="820080" cy="10152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直線接點 28"/>
            <p:cNvSpPr/>
            <p:nvPr/>
          </p:nvSpPr>
          <p:spPr>
            <a:xfrm>
              <a:off x="10261800" y="1348560"/>
              <a:ext cx="833760" cy="10836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直線箭頭接點 33"/>
            <p:cNvSpPr/>
            <p:nvPr/>
          </p:nvSpPr>
          <p:spPr>
            <a:xfrm flipH="1" flipV="1">
              <a:off x="9855000" y="1530000"/>
              <a:ext cx="52560" cy="374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39" name="直線箭頭接點 35"/>
            <p:cNvSpPr/>
            <p:nvPr/>
          </p:nvSpPr>
          <p:spPr>
            <a:xfrm flipV="1">
              <a:off x="8485560" y="1449360"/>
              <a:ext cx="141840" cy="592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40" name="直線箭頭接點 39"/>
            <p:cNvSpPr/>
            <p:nvPr/>
          </p:nvSpPr>
          <p:spPr>
            <a:xfrm flipH="1" flipV="1">
              <a:off x="11095560" y="1456920"/>
              <a:ext cx="103680" cy="64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41" name="文字方塊 43"/>
            <p:cNvSpPr/>
            <p:nvPr/>
          </p:nvSpPr>
          <p:spPr>
            <a:xfrm>
              <a:off x="7702200" y="2000160"/>
              <a:ext cx="131688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172.18.0.</a:t>
              </a: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3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342" name="文字方塊 44"/>
            <p:cNvSpPr/>
            <p:nvPr/>
          </p:nvSpPr>
          <p:spPr>
            <a:xfrm>
              <a:off x="10709280" y="2034360"/>
              <a:ext cx="131688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172.18.0.</a:t>
              </a: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343" name="文字方塊 46"/>
            <p:cNvSpPr/>
            <p:nvPr/>
          </p:nvSpPr>
          <p:spPr>
            <a:xfrm>
              <a:off x="9394200" y="1912680"/>
              <a:ext cx="97380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R1h1br</a:t>
              </a:r>
              <a:endParaRPr b="0" lang="en-US" sz="2000" spc="-1" strike="noStrike">
                <a:latin typeface="Arial"/>
              </a:endParaRPr>
            </a:p>
          </p:txBody>
        </p:sp>
      </p:grpSp>
      <p:sp>
        <p:nvSpPr>
          <p:cNvPr id="344" name="文字方塊 8"/>
          <p:cNvSpPr/>
          <p:nvPr/>
        </p:nvSpPr>
        <p:spPr>
          <a:xfrm>
            <a:off x="945000" y="2205000"/>
            <a:ext cx="4089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3197fd"/>
              </a:buClr>
              <a:buFont typeface="Wingdings" charset="2"/>
              <a:buChar char=""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Inspected result for h1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5" name="文字方塊 11"/>
          <p:cNvSpPr/>
          <p:nvPr/>
        </p:nvSpPr>
        <p:spPr>
          <a:xfrm>
            <a:off x="6014520" y="2230200"/>
            <a:ext cx="4228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3197fd"/>
              </a:buClr>
              <a:buFont typeface="Wingdings" charset="2"/>
              <a:buChar char=""/>
            </a:pPr>
            <a:r>
              <a:rPr b="0" lang="en-US" sz="2400" spc="-1" strike="noStrike">
                <a:solidFill>
                  <a:srgbClr val="3197fd"/>
                </a:solidFill>
                <a:latin typeface="Calibri"/>
                <a:ea typeface="標楷體"/>
              </a:rPr>
              <a:t>Inspected result for R1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346" name="Group 10"/>
          <p:cNvGrpSpPr/>
          <p:nvPr/>
        </p:nvGrpSpPr>
        <p:grpSpPr>
          <a:xfrm>
            <a:off x="1620000" y="2614680"/>
            <a:ext cx="4089600" cy="2642760"/>
            <a:chOff x="1620000" y="2614680"/>
            <a:chExt cx="4089600" cy="2642760"/>
          </a:xfrm>
        </p:grpSpPr>
        <p:pic>
          <p:nvPicPr>
            <p:cNvPr id="347" name="圖片 5" descr=""/>
            <p:cNvPicPr/>
            <p:nvPr/>
          </p:nvPicPr>
          <p:blipFill>
            <a:blip r:embed="rId3"/>
            <a:stretch/>
          </p:blipFill>
          <p:spPr>
            <a:xfrm>
              <a:off x="1620000" y="2614680"/>
              <a:ext cx="4089600" cy="2642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48" name="矩形 22"/>
            <p:cNvSpPr/>
            <p:nvPr/>
          </p:nvSpPr>
          <p:spPr>
            <a:xfrm>
              <a:off x="2404080" y="5013000"/>
              <a:ext cx="2808000" cy="24264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矩形 23"/>
            <p:cNvSpPr/>
            <p:nvPr/>
          </p:nvSpPr>
          <p:spPr>
            <a:xfrm>
              <a:off x="2030040" y="2831040"/>
              <a:ext cx="998280" cy="2862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0" name="Group 7"/>
          <p:cNvGrpSpPr/>
          <p:nvPr/>
        </p:nvGrpSpPr>
        <p:grpSpPr>
          <a:xfrm>
            <a:off x="6720120" y="2638080"/>
            <a:ext cx="4089600" cy="2637000"/>
            <a:chOff x="6720120" y="2638080"/>
            <a:chExt cx="4089600" cy="2637000"/>
          </a:xfrm>
        </p:grpSpPr>
        <p:pic>
          <p:nvPicPr>
            <p:cNvPr id="351" name="圖片 9" descr=""/>
            <p:cNvPicPr/>
            <p:nvPr/>
          </p:nvPicPr>
          <p:blipFill>
            <a:blip r:embed="rId4"/>
            <a:stretch/>
          </p:blipFill>
          <p:spPr>
            <a:xfrm>
              <a:off x="6720120" y="2638080"/>
              <a:ext cx="4089600" cy="2637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2" name="矩形 26"/>
            <p:cNvSpPr/>
            <p:nvPr/>
          </p:nvSpPr>
          <p:spPr>
            <a:xfrm>
              <a:off x="7633800" y="5008320"/>
              <a:ext cx="2768400" cy="2491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矩形 29"/>
            <p:cNvSpPr/>
            <p:nvPr/>
          </p:nvSpPr>
          <p:spPr>
            <a:xfrm>
              <a:off x="7190640" y="2856240"/>
              <a:ext cx="969480" cy="2782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3 – Setup Container Networks (3/3)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Connect two domains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Create inter domain bridge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Connect containers R1 and R2 to bridge R1R2br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2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D01CC44-EFDA-46D8-9373-E86AB414DB31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57" name="object 7"/>
          <p:cNvSpPr/>
          <p:nvPr/>
        </p:nvSpPr>
        <p:spPr>
          <a:xfrm>
            <a:off x="985680" y="2002320"/>
            <a:ext cx="899820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create R1R2br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58" name="object 7"/>
          <p:cNvSpPr/>
          <p:nvPr/>
        </p:nvSpPr>
        <p:spPr>
          <a:xfrm>
            <a:off x="983520" y="3022560"/>
            <a:ext cx="9000720" cy="8240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connect R1R2br R1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network connect R1R2br R2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359" name="群組 10"/>
          <p:cNvGrpSpPr/>
          <p:nvPr/>
        </p:nvGrpSpPr>
        <p:grpSpPr>
          <a:xfrm>
            <a:off x="1339920" y="4447800"/>
            <a:ext cx="3447360" cy="1559880"/>
            <a:chOff x="1339920" y="4447800"/>
            <a:chExt cx="3447360" cy="1559880"/>
          </a:xfrm>
        </p:grpSpPr>
        <p:grpSp>
          <p:nvGrpSpPr>
            <p:cNvPr id="360" name="群組 20"/>
            <p:cNvGrpSpPr/>
            <p:nvPr/>
          </p:nvGrpSpPr>
          <p:grpSpPr>
            <a:xfrm>
              <a:off x="3737160" y="4447800"/>
              <a:ext cx="1050120" cy="903960"/>
              <a:chOff x="3737160" y="4447800"/>
              <a:chExt cx="1050120" cy="903960"/>
            </a:xfrm>
          </p:grpSpPr>
          <p:pic>
            <p:nvPicPr>
              <p:cNvPr id="361" name="圖形 45" descr=""/>
              <p:cNvPicPr/>
              <p:nvPr/>
            </p:nvPicPr>
            <p:blipFill>
              <a:blip r:embed="rId1"/>
              <a:stretch/>
            </p:blipFill>
            <p:spPr>
              <a:xfrm>
                <a:off x="3957840" y="4611240"/>
                <a:ext cx="582480" cy="3880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62" name="圓角矩形 47"/>
              <p:cNvSpPr/>
              <p:nvPr/>
            </p:nvSpPr>
            <p:spPr>
              <a:xfrm>
                <a:off x="3757320" y="4447800"/>
                <a:ext cx="983880" cy="86004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3" name="文字方塊 48"/>
              <p:cNvSpPr/>
              <p:nvPr/>
            </p:nvSpPr>
            <p:spPr>
              <a:xfrm>
                <a:off x="3737160" y="4957200"/>
                <a:ext cx="10501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R1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grpSp>
          <p:nvGrpSpPr>
            <p:cNvPr id="364" name="群組 22"/>
            <p:cNvGrpSpPr/>
            <p:nvPr/>
          </p:nvGrpSpPr>
          <p:grpSpPr>
            <a:xfrm>
              <a:off x="1339920" y="4462560"/>
              <a:ext cx="1050120" cy="898200"/>
              <a:chOff x="1339920" y="4462560"/>
              <a:chExt cx="1050120" cy="898200"/>
            </a:xfrm>
          </p:grpSpPr>
          <p:pic>
            <p:nvPicPr>
              <p:cNvPr id="365" name="圖形 40" descr=""/>
              <p:cNvPicPr/>
              <p:nvPr/>
            </p:nvPicPr>
            <p:blipFill>
              <a:blip r:embed="rId2"/>
              <a:stretch/>
            </p:blipFill>
            <p:spPr>
              <a:xfrm>
                <a:off x="1591560" y="4559760"/>
                <a:ext cx="546840" cy="4845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66" name="圓角矩形 41"/>
              <p:cNvSpPr/>
              <p:nvPr/>
            </p:nvSpPr>
            <p:spPr>
              <a:xfrm>
                <a:off x="1351080" y="4462560"/>
                <a:ext cx="983880" cy="86004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7" name="文字方塊 42"/>
              <p:cNvSpPr/>
              <p:nvPr/>
            </p:nvSpPr>
            <p:spPr>
              <a:xfrm>
                <a:off x="1339920" y="4966200"/>
                <a:ext cx="10501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h1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sp>
          <p:nvSpPr>
            <p:cNvPr id="368" name="剪去同側角落矩形 23"/>
            <p:cNvSpPr/>
            <p:nvPr/>
          </p:nvSpPr>
          <p:spPr>
            <a:xfrm>
              <a:off x="2608200" y="4597560"/>
              <a:ext cx="886680" cy="360000"/>
            </a:xfrm>
            <a:prstGeom prst="snip2SameRect">
              <a:avLst>
                <a:gd name="adj1" fmla="val 19853"/>
                <a:gd name="adj2" fmla="val 0"/>
              </a:avLst>
            </a:prstGeom>
            <a:noFill/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直線接點 29"/>
            <p:cNvSpPr/>
            <p:nvPr/>
          </p:nvSpPr>
          <p:spPr>
            <a:xfrm flipV="1">
              <a:off x="2335320" y="4777200"/>
              <a:ext cx="272880" cy="11556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直線接點 30"/>
            <p:cNvSpPr/>
            <p:nvPr/>
          </p:nvSpPr>
          <p:spPr>
            <a:xfrm>
              <a:off x="3494880" y="4777200"/>
              <a:ext cx="262080" cy="10080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直線箭頭接點 31"/>
            <p:cNvSpPr/>
            <p:nvPr/>
          </p:nvSpPr>
          <p:spPr>
            <a:xfrm flipH="1" flipV="1">
              <a:off x="3051720" y="4956840"/>
              <a:ext cx="36000" cy="350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72" name="文字方塊 38"/>
            <p:cNvSpPr/>
            <p:nvPr/>
          </p:nvSpPr>
          <p:spPr>
            <a:xfrm>
              <a:off x="2608200" y="5308200"/>
              <a:ext cx="9590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R1h1br</a:t>
              </a:r>
              <a:endParaRPr b="0" lang="en-US" sz="2000" spc="-1" strike="noStrike">
                <a:latin typeface="Arial"/>
              </a:endParaRPr>
            </a:p>
          </p:txBody>
        </p:sp>
      </p:grpSp>
      <p:sp>
        <p:nvSpPr>
          <p:cNvPr id="373" name="圓角矩形 54"/>
          <p:cNvSpPr/>
          <p:nvPr/>
        </p:nvSpPr>
        <p:spPr>
          <a:xfrm>
            <a:off x="1162080" y="4185720"/>
            <a:ext cx="3849840" cy="16657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74" name="群組 55"/>
          <p:cNvGrpSpPr/>
          <p:nvPr/>
        </p:nvGrpSpPr>
        <p:grpSpPr>
          <a:xfrm>
            <a:off x="7223760" y="4466520"/>
            <a:ext cx="3447720" cy="1559880"/>
            <a:chOff x="7223760" y="4466520"/>
            <a:chExt cx="3447720" cy="1559880"/>
          </a:xfrm>
        </p:grpSpPr>
        <p:grpSp>
          <p:nvGrpSpPr>
            <p:cNvPr id="375" name="群組 56"/>
            <p:cNvGrpSpPr/>
            <p:nvPr/>
          </p:nvGrpSpPr>
          <p:grpSpPr>
            <a:xfrm>
              <a:off x="9621360" y="4466520"/>
              <a:ext cx="1050120" cy="903600"/>
              <a:chOff x="9621360" y="4466520"/>
              <a:chExt cx="1050120" cy="903600"/>
            </a:xfrm>
          </p:grpSpPr>
          <p:sp>
            <p:nvSpPr>
              <p:cNvPr id="376" name="圓角矩形 67"/>
              <p:cNvSpPr/>
              <p:nvPr/>
            </p:nvSpPr>
            <p:spPr>
              <a:xfrm>
                <a:off x="9641160" y="4466520"/>
                <a:ext cx="983880" cy="86004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7" name="文字方塊 68"/>
              <p:cNvSpPr/>
              <p:nvPr/>
            </p:nvSpPr>
            <p:spPr>
              <a:xfrm>
                <a:off x="9621360" y="4975560"/>
                <a:ext cx="10501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h2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grpSp>
          <p:nvGrpSpPr>
            <p:cNvPr id="378" name="群組 57"/>
            <p:cNvGrpSpPr/>
            <p:nvPr/>
          </p:nvGrpSpPr>
          <p:grpSpPr>
            <a:xfrm>
              <a:off x="7223760" y="4481280"/>
              <a:ext cx="3196080" cy="898200"/>
              <a:chOff x="7223760" y="4481280"/>
              <a:chExt cx="3196080" cy="898200"/>
            </a:xfrm>
          </p:grpSpPr>
          <p:pic>
            <p:nvPicPr>
              <p:cNvPr id="379" name="圖形 63" descr=""/>
              <p:cNvPicPr/>
              <p:nvPr/>
            </p:nvPicPr>
            <p:blipFill>
              <a:blip r:embed="rId3"/>
              <a:stretch/>
            </p:blipFill>
            <p:spPr>
              <a:xfrm>
                <a:off x="9873000" y="4553640"/>
                <a:ext cx="546840" cy="4845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80" name="圓角矩形 64"/>
              <p:cNvSpPr/>
              <p:nvPr/>
            </p:nvSpPr>
            <p:spPr>
              <a:xfrm>
                <a:off x="7235280" y="4481280"/>
                <a:ext cx="983880" cy="86004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1" name="文字方塊 65"/>
              <p:cNvSpPr/>
              <p:nvPr/>
            </p:nvSpPr>
            <p:spPr>
              <a:xfrm>
                <a:off x="7223760" y="4984920"/>
                <a:ext cx="10501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R2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sp>
          <p:nvSpPr>
            <p:cNvPr id="382" name="剪去同側角落矩形 58"/>
            <p:cNvSpPr/>
            <p:nvPr/>
          </p:nvSpPr>
          <p:spPr>
            <a:xfrm>
              <a:off x="8492400" y="4615920"/>
              <a:ext cx="886680" cy="360000"/>
            </a:xfrm>
            <a:prstGeom prst="snip2SameRect">
              <a:avLst>
                <a:gd name="adj1" fmla="val 19853"/>
                <a:gd name="adj2" fmla="val 0"/>
              </a:avLst>
            </a:prstGeom>
            <a:noFill/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" name="直線接點 59"/>
            <p:cNvSpPr/>
            <p:nvPr/>
          </p:nvSpPr>
          <p:spPr>
            <a:xfrm flipV="1">
              <a:off x="8219520" y="4795920"/>
              <a:ext cx="272520" cy="11556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4" name="直線接點 60"/>
            <p:cNvSpPr/>
            <p:nvPr/>
          </p:nvSpPr>
          <p:spPr>
            <a:xfrm>
              <a:off x="9379080" y="4795920"/>
              <a:ext cx="262080" cy="10044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5" name="直線箭頭接點 61"/>
            <p:cNvSpPr/>
            <p:nvPr/>
          </p:nvSpPr>
          <p:spPr>
            <a:xfrm flipH="1" flipV="1">
              <a:off x="8935920" y="4975560"/>
              <a:ext cx="36000" cy="350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386" name="文字方塊 62"/>
            <p:cNvSpPr/>
            <p:nvPr/>
          </p:nvSpPr>
          <p:spPr>
            <a:xfrm>
              <a:off x="8492400" y="5326920"/>
              <a:ext cx="9590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R2h2br</a:t>
              </a:r>
              <a:endParaRPr b="0" lang="en-US" sz="2000" spc="-1" strike="noStrike">
                <a:latin typeface="Arial"/>
              </a:endParaRPr>
            </a:p>
          </p:txBody>
        </p:sp>
      </p:grpSp>
      <p:sp>
        <p:nvSpPr>
          <p:cNvPr id="387" name="圓角矩形 69"/>
          <p:cNvSpPr/>
          <p:nvPr/>
        </p:nvSpPr>
        <p:spPr>
          <a:xfrm>
            <a:off x="7046280" y="4204440"/>
            <a:ext cx="3849840" cy="16657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88" name="圖形 70" descr=""/>
          <p:cNvPicPr/>
          <p:nvPr/>
        </p:nvPicPr>
        <p:blipFill>
          <a:blip r:embed="rId4"/>
          <a:stretch/>
        </p:blipFill>
        <p:spPr>
          <a:xfrm>
            <a:off x="7435800" y="4629960"/>
            <a:ext cx="582480" cy="388080"/>
          </a:xfrm>
          <a:prstGeom prst="rect">
            <a:avLst/>
          </a:prstGeom>
          <a:ln w="0">
            <a:noFill/>
          </a:ln>
        </p:spPr>
      </p:pic>
      <p:sp>
        <p:nvSpPr>
          <p:cNvPr id="389" name="剪去同側角落矩形 71"/>
          <p:cNvSpPr/>
          <p:nvPr/>
        </p:nvSpPr>
        <p:spPr>
          <a:xfrm>
            <a:off x="5452560" y="4558320"/>
            <a:ext cx="1079640" cy="438480"/>
          </a:xfrm>
          <a:prstGeom prst="snip2SameRect">
            <a:avLst>
              <a:gd name="adj1" fmla="val 19853"/>
              <a:gd name="adj2" fmla="val 0"/>
            </a:avLst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直線接點 72"/>
          <p:cNvSpPr/>
          <p:nvPr/>
        </p:nvSpPr>
        <p:spPr>
          <a:xfrm flipV="1">
            <a:off x="4741200" y="4777200"/>
            <a:ext cx="711000" cy="100800"/>
          </a:xfrm>
          <a:prstGeom prst="line">
            <a:avLst/>
          </a:prstGeom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直線接點 77"/>
          <p:cNvSpPr/>
          <p:nvPr/>
        </p:nvSpPr>
        <p:spPr>
          <a:xfrm>
            <a:off x="6532560" y="4777200"/>
            <a:ext cx="702360" cy="134280"/>
          </a:xfrm>
          <a:prstGeom prst="line">
            <a:avLst/>
          </a:prstGeom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直線箭頭接點 82"/>
          <p:cNvSpPr/>
          <p:nvPr/>
        </p:nvSpPr>
        <p:spPr>
          <a:xfrm flipH="1" flipV="1">
            <a:off x="5992560" y="4996800"/>
            <a:ext cx="64080" cy="451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393" name="文字方塊 84"/>
          <p:cNvSpPr/>
          <p:nvPr/>
        </p:nvSpPr>
        <p:spPr>
          <a:xfrm>
            <a:off x="5497920" y="5452200"/>
            <a:ext cx="1127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R1R2br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4" name="文字方塊 88"/>
          <p:cNvSpPr/>
          <p:nvPr/>
        </p:nvSpPr>
        <p:spPr>
          <a:xfrm>
            <a:off x="2267640" y="5844600"/>
            <a:ext cx="1747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a6a6a6"/>
                </a:solidFill>
                <a:latin typeface="Calibri"/>
                <a:ea typeface="標楷體"/>
              </a:rPr>
              <a:t>Domain 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5" name="文字方塊 89"/>
          <p:cNvSpPr/>
          <p:nvPr/>
        </p:nvSpPr>
        <p:spPr>
          <a:xfrm>
            <a:off x="8155080" y="5852160"/>
            <a:ext cx="1747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a6a6a6"/>
                </a:solidFill>
                <a:latin typeface="Calibri"/>
                <a:ea typeface="標楷體"/>
              </a:rPr>
              <a:t>Domain 2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4 – Configure Host Gateways (1/1)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Run bash on h1 (h2)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Set R1 (R2) as default gateway of h1 (h2)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Check route on h1 (h2)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Exit h1 bash via CTRL+D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3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1D8890-2314-4C26-8B88-89E1D1AE29AC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99" name="object 7"/>
          <p:cNvSpPr/>
          <p:nvPr/>
        </p:nvSpPr>
        <p:spPr>
          <a:xfrm>
            <a:off x="983520" y="1500840"/>
            <a:ext cx="648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exec -it h1 bash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00" name="object 7"/>
          <p:cNvSpPr/>
          <p:nvPr/>
        </p:nvSpPr>
        <p:spPr>
          <a:xfrm>
            <a:off x="983520" y="2489040"/>
            <a:ext cx="6480360" cy="11898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h1/#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ip route del default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h1/#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ip route add default via 172.18.0.2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01" name="object 7"/>
          <p:cNvSpPr/>
          <p:nvPr/>
        </p:nvSpPr>
        <p:spPr>
          <a:xfrm>
            <a:off x="988560" y="3898080"/>
            <a:ext cx="648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h1/#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route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02" name="Group 17"/>
          <p:cNvGrpSpPr/>
          <p:nvPr/>
        </p:nvGrpSpPr>
        <p:grpSpPr>
          <a:xfrm>
            <a:off x="7659000" y="1033920"/>
            <a:ext cx="3808800" cy="2233800"/>
            <a:chOff x="7659000" y="1033920"/>
            <a:chExt cx="3808800" cy="2233800"/>
          </a:xfrm>
        </p:grpSpPr>
        <p:grpSp>
          <p:nvGrpSpPr>
            <p:cNvPr id="403" name="群組 11"/>
            <p:cNvGrpSpPr/>
            <p:nvPr/>
          </p:nvGrpSpPr>
          <p:grpSpPr>
            <a:xfrm>
              <a:off x="10417680" y="1513800"/>
              <a:ext cx="1050120" cy="903960"/>
              <a:chOff x="10417680" y="1513800"/>
              <a:chExt cx="1050120" cy="903960"/>
            </a:xfrm>
          </p:grpSpPr>
          <p:pic>
            <p:nvPicPr>
              <p:cNvPr id="404" name="圖形 26" descr=""/>
              <p:cNvPicPr/>
              <p:nvPr/>
            </p:nvPicPr>
            <p:blipFill>
              <a:blip r:embed="rId1"/>
              <a:stretch/>
            </p:blipFill>
            <p:spPr>
              <a:xfrm>
                <a:off x="10638360" y="1677600"/>
                <a:ext cx="582480" cy="3880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405" name="圓角矩形 27"/>
              <p:cNvSpPr/>
              <p:nvPr/>
            </p:nvSpPr>
            <p:spPr>
              <a:xfrm>
                <a:off x="10437840" y="1513800"/>
                <a:ext cx="983880" cy="86004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6" name="文字方塊 28"/>
              <p:cNvSpPr/>
              <p:nvPr/>
            </p:nvSpPr>
            <p:spPr>
              <a:xfrm>
                <a:off x="10417680" y="2023200"/>
                <a:ext cx="10501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R1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grpSp>
          <p:nvGrpSpPr>
            <p:cNvPr id="407" name="群組 12"/>
            <p:cNvGrpSpPr/>
            <p:nvPr/>
          </p:nvGrpSpPr>
          <p:grpSpPr>
            <a:xfrm>
              <a:off x="7818840" y="1534680"/>
              <a:ext cx="1050120" cy="898200"/>
              <a:chOff x="7818840" y="1534680"/>
              <a:chExt cx="1050120" cy="898200"/>
            </a:xfrm>
          </p:grpSpPr>
          <p:pic>
            <p:nvPicPr>
              <p:cNvPr id="408" name="圖形 23" descr=""/>
              <p:cNvPicPr/>
              <p:nvPr/>
            </p:nvPicPr>
            <p:blipFill>
              <a:blip r:embed="rId2"/>
              <a:stretch/>
            </p:blipFill>
            <p:spPr>
              <a:xfrm>
                <a:off x="8070480" y="1631880"/>
                <a:ext cx="546840" cy="4845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409" name="圓角矩形 24"/>
              <p:cNvSpPr/>
              <p:nvPr/>
            </p:nvSpPr>
            <p:spPr>
              <a:xfrm>
                <a:off x="7830000" y="1534680"/>
                <a:ext cx="983880" cy="86004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0" name="文字方塊 25"/>
              <p:cNvSpPr/>
              <p:nvPr/>
            </p:nvSpPr>
            <p:spPr>
              <a:xfrm>
                <a:off x="7818840" y="2038320"/>
                <a:ext cx="10501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197fd"/>
                    </a:solidFill>
                    <a:latin typeface="Calibri"/>
                    <a:ea typeface="標楷體"/>
                  </a:rPr>
                  <a:t>h1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  <p:sp>
          <p:nvSpPr>
            <p:cNvPr id="411" name="直線接點 16"/>
            <p:cNvSpPr/>
            <p:nvPr/>
          </p:nvSpPr>
          <p:spPr>
            <a:xfrm flipV="1">
              <a:off x="8814240" y="1871640"/>
              <a:ext cx="440640" cy="9324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2" name="直線箭頭接點 19"/>
            <p:cNvSpPr/>
            <p:nvPr/>
          </p:nvSpPr>
          <p:spPr>
            <a:xfrm>
              <a:off x="10200600" y="1434240"/>
              <a:ext cx="236880" cy="50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413" name="文字方塊 21"/>
            <p:cNvSpPr/>
            <p:nvPr/>
          </p:nvSpPr>
          <p:spPr>
            <a:xfrm>
              <a:off x="9482760" y="1033920"/>
              <a:ext cx="143532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172.18.0.2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14" name="object 19"/>
            <p:cNvSpPr/>
            <p:nvPr/>
          </p:nvSpPr>
          <p:spPr>
            <a:xfrm>
              <a:off x="7659000" y="2608200"/>
              <a:ext cx="2841480" cy="65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50040" bIns="0" anchor="t">
              <a:spAutoFit/>
            </a:bodyPr>
            <a:p>
              <a:pPr marL="12600">
                <a:lnSpc>
                  <a:spcPct val="100000"/>
                </a:lnSpc>
                <a:spcBef>
                  <a:spcPts val="258"/>
                </a:spcBef>
                <a:buNone/>
              </a:pPr>
              <a:r>
                <a:rPr b="0" lang="en-US" sz="2000" spc="-26" strike="noStrike">
                  <a:solidFill>
                    <a:srgbClr val="ff0000"/>
                  </a:solidFill>
                  <a:latin typeface="Calibri"/>
                  <a:ea typeface="標楷體"/>
                </a:rPr>
                <a:t>Gateway</a:t>
              </a:r>
              <a:r>
                <a:rPr b="0" lang="en-US" sz="2000" spc="-21" strike="noStrike">
                  <a:solidFill>
                    <a:srgbClr val="ff0000"/>
                  </a:solidFill>
                  <a:latin typeface="Calibri"/>
                  <a:ea typeface="標楷體"/>
                </a:rPr>
                <a:t> </a:t>
              </a:r>
              <a:r>
                <a:rPr b="0" lang="en-US" sz="2000" spc="-1" strike="noStrike">
                  <a:solidFill>
                    <a:srgbClr val="ff0000"/>
                  </a:solidFill>
                  <a:latin typeface="Calibri"/>
                  <a:ea typeface="標楷體"/>
                </a:rPr>
                <a:t>=</a:t>
              </a:r>
              <a:r>
                <a:rPr b="0" lang="en-US" sz="2000" spc="-12" strike="noStrike">
                  <a:solidFill>
                    <a:srgbClr val="ff0000"/>
                  </a:solidFill>
                  <a:latin typeface="Calibri"/>
                  <a:ea typeface="標楷體"/>
                </a:rPr>
                <a:t> 172.18.0.2</a:t>
              </a:r>
              <a:r>
                <a:rPr b="0" lang="en-US" sz="2000" spc="-26" strike="noStrike">
                  <a:solidFill>
                    <a:srgbClr val="ff0000"/>
                  </a:solidFill>
                  <a:latin typeface="Calibri"/>
                  <a:ea typeface="標楷體"/>
                </a:rPr>
                <a:t> </a:t>
              </a:r>
              <a:r>
                <a:rPr b="0" lang="en-US" sz="2000" spc="-7" strike="noStrike">
                  <a:solidFill>
                    <a:srgbClr val="ff0000"/>
                  </a:solidFill>
                  <a:latin typeface="Calibri"/>
                  <a:ea typeface="標楷體"/>
                </a:rPr>
                <a:t>(R1)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15" name="直線箭頭接點 35"/>
            <p:cNvSpPr/>
            <p:nvPr/>
          </p:nvSpPr>
          <p:spPr>
            <a:xfrm flipH="1" flipV="1">
              <a:off x="8553960" y="2423880"/>
              <a:ext cx="74520" cy="226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416" name="剪去同側角落矩形 42"/>
            <p:cNvSpPr/>
            <p:nvPr/>
          </p:nvSpPr>
          <p:spPr>
            <a:xfrm>
              <a:off x="9255240" y="1732680"/>
              <a:ext cx="708840" cy="277920"/>
            </a:xfrm>
            <a:prstGeom prst="snip2SameRect">
              <a:avLst>
                <a:gd name="adj1" fmla="val 19853"/>
                <a:gd name="adj2" fmla="val 0"/>
              </a:avLst>
            </a:prstGeom>
            <a:noFill/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7" name="直線接點 43"/>
            <p:cNvSpPr/>
            <p:nvPr/>
          </p:nvSpPr>
          <p:spPr>
            <a:xfrm>
              <a:off x="9964080" y="1871640"/>
              <a:ext cx="473400" cy="7236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文字方塊 49"/>
            <p:cNvSpPr/>
            <p:nvPr/>
          </p:nvSpPr>
          <p:spPr>
            <a:xfrm>
              <a:off x="9163800" y="2004480"/>
              <a:ext cx="9590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Calibri"/>
                  <a:ea typeface="標楷體"/>
                </a:rPr>
                <a:t>R1h1br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419" name="Group 14"/>
          <p:cNvGrpSpPr/>
          <p:nvPr/>
        </p:nvGrpSpPr>
        <p:grpSpPr>
          <a:xfrm>
            <a:off x="966960" y="4584600"/>
            <a:ext cx="9504360" cy="1566000"/>
            <a:chOff x="966960" y="4584600"/>
            <a:chExt cx="9504360" cy="1566000"/>
          </a:xfrm>
        </p:grpSpPr>
        <p:pic>
          <p:nvPicPr>
            <p:cNvPr id="420" name="圖片 8" descr=""/>
            <p:cNvPicPr/>
            <p:nvPr/>
          </p:nvPicPr>
          <p:blipFill>
            <a:blip r:embed="rId3"/>
            <a:stretch/>
          </p:blipFill>
          <p:spPr>
            <a:xfrm>
              <a:off x="966960" y="4584600"/>
              <a:ext cx="9504360" cy="156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1" name="矩形 9"/>
            <p:cNvSpPr/>
            <p:nvPr/>
          </p:nvSpPr>
          <p:spPr>
            <a:xfrm>
              <a:off x="2812680" y="5340240"/>
              <a:ext cx="1151640" cy="30384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2" name="矩形 9"/>
            <p:cNvSpPr/>
            <p:nvPr/>
          </p:nvSpPr>
          <p:spPr>
            <a:xfrm>
              <a:off x="988200" y="4584600"/>
              <a:ext cx="2371320" cy="24876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3" name="object 19"/>
          <p:cNvSpPr/>
          <p:nvPr/>
        </p:nvSpPr>
        <p:spPr>
          <a:xfrm>
            <a:off x="2099520" y="4269960"/>
            <a:ext cx="28364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040" bIns="0" anchor="t">
            <a:spAutoFit/>
          </a:bodyPr>
          <a:p>
            <a:pPr marL="12600">
              <a:lnSpc>
                <a:spcPct val="100000"/>
              </a:lnSpc>
              <a:spcBef>
                <a:spcPts val="258"/>
              </a:spcBef>
              <a:buNone/>
            </a:pPr>
            <a:r>
              <a:rPr b="0" lang="en-US" sz="2000" spc="-26" strike="noStrike">
                <a:solidFill>
                  <a:srgbClr val="ff0000"/>
                </a:solidFill>
                <a:latin typeface="Calibri"/>
                <a:ea typeface="標楷體"/>
              </a:rPr>
              <a:t>h1’s</a:t>
            </a:r>
            <a:r>
              <a:rPr b="0" lang="en-US" sz="2000" spc="-26" strike="noStrike">
                <a:solidFill>
                  <a:srgbClr val="ff0000"/>
                </a:solidFill>
                <a:latin typeface="Calibri"/>
                <a:ea typeface="標楷體"/>
              </a:rPr>
              <a:t> bash prompt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5 – Setup Routers (1/4)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Run bash on R1 (R2)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Enable IP forwarding on R1 (R2)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Uncomment 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    “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net.ipv4.ip_forward=1”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Run sysctl to 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  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load configuration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24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9E87141-C65D-4BDA-99B0-CF09EFD43582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27" name="object 7"/>
          <p:cNvSpPr/>
          <p:nvPr/>
        </p:nvSpPr>
        <p:spPr>
          <a:xfrm>
            <a:off x="983520" y="1500840"/>
            <a:ext cx="5112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exec -it R1 bash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8" name="object 7"/>
          <p:cNvSpPr/>
          <p:nvPr/>
        </p:nvSpPr>
        <p:spPr>
          <a:xfrm>
            <a:off x="983520" y="2421000"/>
            <a:ext cx="5112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vi /etc/sysctl.conf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29" name="object 8" descr=""/>
          <p:cNvPicPr/>
          <p:nvPr/>
        </p:nvPicPr>
        <p:blipFill>
          <a:blip r:embed="rId1"/>
          <a:srcRect l="0" t="0" r="8989" b="0"/>
          <a:stretch/>
        </p:blipFill>
        <p:spPr>
          <a:xfrm>
            <a:off x="4754520" y="5173560"/>
            <a:ext cx="7384320" cy="1277640"/>
          </a:xfrm>
          <a:prstGeom prst="rect">
            <a:avLst/>
          </a:prstGeom>
          <a:ln w="0">
            <a:noFill/>
          </a:ln>
        </p:spPr>
      </p:pic>
      <p:pic>
        <p:nvPicPr>
          <p:cNvPr id="430" name="object 11" descr=""/>
          <p:cNvPicPr/>
          <p:nvPr/>
        </p:nvPicPr>
        <p:blipFill>
          <a:blip r:embed="rId2"/>
          <a:srcRect l="0" t="0" r="9084" b="16263"/>
          <a:stretch/>
        </p:blipFill>
        <p:spPr>
          <a:xfrm>
            <a:off x="4727880" y="2937600"/>
            <a:ext cx="7410960" cy="1768680"/>
          </a:xfrm>
          <a:prstGeom prst="rect">
            <a:avLst/>
          </a:prstGeom>
          <a:ln w="0">
            <a:noFill/>
          </a:ln>
        </p:spPr>
      </p:pic>
      <p:sp>
        <p:nvSpPr>
          <p:cNvPr id="431" name="object 7"/>
          <p:cNvSpPr/>
          <p:nvPr/>
        </p:nvSpPr>
        <p:spPr>
          <a:xfrm>
            <a:off x="983520" y="4795920"/>
            <a:ext cx="317448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sysctl -p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2" name="矩形 12"/>
          <p:cNvSpPr/>
          <p:nvPr/>
        </p:nvSpPr>
        <p:spPr>
          <a:xfrm>
            <a:off x="4777200" y="6125040"/>
            <a:ext cx="2637360" cy="2858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矩形 13"/>
          <p:cNvSpPr/>
          <p:nvPr/>
        </p:nvSpPr>
        <p:spPr>
          <a:xfrm>
            <a:off x="4754520" y="4009320"/>
            <a:ext cx="2637360" cy="2113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向下箭號 14"/>
          <p:cNvSpPr/>
          <p:nvPr/>
        </p:nvSpPr>
        <p:spPr>
          <a:xfrm>
            <a:off x="8358120" y="4706640"/>
            <a:ext cx="431640" cy="466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890f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5 –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Setu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p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Rout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ers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(2/4)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FRR daemons config file R1(R2)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Edit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FRR daemon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configuration file on R1 (R2)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8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Edit </a:t>
            </a:r>
            <a:r>
              <a:rPr b="1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bgpd=yes </a:t>
            </a:r>
            <a:r>
              <a:rPr b="0" lang="en-US" sz="2600" spc="-1" strike="noStrike">
                <a:solidFill>
                  <a:srgbClr val="3297fc"/>
                </a:solidFill>
                <a:latin typeface="Calibri"/>
                <a:ea typeface="標楷體"/>
              </a:rPr>
              <a:t>to turn on bgp routing daemon </a:t>
            </a: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25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4F27219-B426-4E1E-9211-A01FFB8C29CE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38" name="object 7"/>
          <p:cNvSpPr/>
          <p:nvPr/>
        </p:nvSpPr>
        <p:spPr>
          <a:xfrm>
            <a:off x="1259640" y="1990800"/>
            <a:ext cx="648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vi /etc/frr/daemons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39" name="圖片 10" descr=""/>
          <p:cNvPicPr/>
          <p:nvPr/>
        </p:nvPicPr>
        <p:blipFill>
          <a:blip r:embed="rId1"/>
          <a:stretch/>
        </p:blipFill>
        <p:spPr>
          <a:xfrm>
            <a:off x="1259640" y="3002040"/>
            <a:ext cx="9517680" cy="2442600"/>
          </a:xfrm>
          <a:prstGeom prst="rect">
            <a:avLst/>
          </a:prstGeom>
          <a:ln w="0">
            <a:noFill/>
          </a:ln>
        </p:spPr>
      </p:pic>
      <p:sp>
        <p:nvSpPr>
          <p:cNvPr id="440" name="矩形 57"/>
          <p:cNvSpPr/>
          <p:nvPr/>
        </p:nvSpPr>
        <p:spPr>
          <a:xfrm>
            <a:off x="1976760" y="3619080"/>
            <a:ext cx="8502840" cy="311400"/>
          </a:xfrm>
          <a:prstGeom prst="rect">
            <a:avLst/>
          </a:prstGeom>
          <a:noFill/>
          <a:ln w="1905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5 – Setup Routers (3/4)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Set BGP configuration for routers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Edit configuration file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frr.conf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on R1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6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4B0C9F3-4FFA-4649-8817-0450BF37D61A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44" name="object 7"/>
          <p:cNvSpPr/>
          <p:nvPr/>
        </p:nvSpPr>
        <p:spPr>
          <a:xfrm>
            <a:off x="1055520" y="1917000"/>
            <a:ext cx="648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vi /etc/frr/frr.conf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5" name="圓角矩形 5"/>
          <p:cNvSpPr/>
          <p:nvPr/>
        </p:nvSpPr>
        <p:spPr>
          <a:xfrm>
            <a:off x="839520" y="2355840"/>
            <a:ext cx="7429680" cy="418788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文字方塊 7"/>
          <p:cNvSpPr/>
          <p:nvPr/>
        </p:nvSpPr>
        <p:spPr>
          <a:xfrm>
            <a:off x="1267920" y="2355840"/>
            <a:ext cx="684360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 FRR configuration for R1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frr defaults datacenter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router bgp 65000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bgp router-id 172.20.0.2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timers bgp 3 9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172.20.0.3 remote-as 65001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172.20.0.3 ebgp-multihop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172.20.0.3 timers connect 5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172.20.0.3 advertisement-interval 5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network 172.18.0.0/16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log stdout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line vty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7" name="object 28"/>
          <p:cNvSpPr/>
          <p:nvPr/>
        </p:nvSpPr>
        <p:spPr>
          <a:xfrm>
            <a:off x="8552160" y="5322240"/>
            <a:ext cx="1605600" cy="16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320" bIns="0" anchor="t">
            <a:spAutoFit/>
          </a:bodyPr>
          <a:p>
            <a:pPr marL="31680"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2400" spc="-7" strike="noStrike">
                <a:solidFill>
                  <a:srgbClr val="ff0000"/>
                </a:solidFill>
                <a:latin typeface="Arial MT"/>
                <a:ea typeface="標楷體"/>
              </a:rPr>
              <a:t>ASN</a:t>
            </a:r>
            <a:r>
              <a:rPr b="0" lang="en-US" sz="2400" spc="-100" strike="noStrike">
                <a:solidFill>
                  <a:srgbClr val="ff0000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ff0000"/>
                </a:solidFill>
                <a:latin typeface="Arial MT"/>
                <a:ea typeface="標楷體"/>
              </a:rPr>
              <a:t>65000</a:t>
            </a:r>
            <a:endParaRPr b="0" lang="en-US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05"/>
              </a:spcBef>
              <a:buNone/>
            </a:pPr>
            <a:r>
              <a:rPr b="0" lang="en-US" sz="2400" spc="-7" strike="noStrike">
                <a:solidFill>
                  <a:srgbClr val="00b050"/>
                </a:solidFill>
                <a:latin typeface="Arial MT"/>
                <a:ea typeface="標楷體"/>
              </a:rPr>
              <a:t>ASN</a:t>
            </a:r>
            <a:r>
              <a:rPr b="0" lang="en-US" sz="2400" spc="-100" strike="noStrike">
                <a:solidFill>
                  <a:srgbClr val="00b050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b050"/>
                </a:solidFill>
                <a:latin typeface="Arial MT"/>
                <a:ea typeface="標楷體"/>
              </a:rPr>
              <a:t>65001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8" name="object 27"/>
          <p:cNvSpPr/>
          <p:nvPr/>
        </p:nvSpPr>
        <p:spPr>
          <a:xfrm>
            <a:off x="10321920" y="5589360"/>
            <a:ext cx="535680" cy="9720"/>
          </a:xfrm>
          <a:custGeom>
            <a:avLst/>
            <a:gdLst/>
            <a:ahLst/>
            <a:rect l="l" t="t" r="r" b="b"/>
            <a:pathLst>
              <a:path w="535940" h="10160">
                <a:moveTo>
                  <a:pt x="0" y="0"/>
                </a:moveTo>
                <a:lnTo>
                  <a:pt x="535600" y="9628"/>
                </a:lnTo>
              </a:path>
            </a:pathLst>
          </a:cu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object 31"/>
          <p:cNvSpPr/>
          <p:nvPr/>
        </p:nvSpPr>
        <p:spPr>
          <a:xfrm>
            <a:off x="10311840" y="6041880"/>
            <a:ext cx="555120" cy="360"/>
          </a:xfrm>
          <a:custGeom>
            <a:avLst/>
            <a:gdLst/>
            <a:ahLst/>
            <a:rect l="l" t="t" r="r" b="b"/>
            <a:pathLst>
              <a:path w="555625" h="635">
                <a:moveTo>
                  <a:pt x="0" y="0"/>
                </a:moveTo>
                <a:lnTo>
                  <a:pt x="555200" y="29"/>
                </a:lnTo>
              </a:path>
            </a:pathLst>
          </a:custGeom>
          <a:noFill/>
          <a:ln w="28575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0" name="群組 10"/>
          <p:cNvGrpSpPr/>
          <p:nvPr/>
        </p:nvGrpSpPr>
        <p:grpSpPr>
          <a:xfrm>
            <a:off x="8475120" y="1454400"/>
            <a:ext cx="2905920" cy="3340080"/>
            <a:chOff x="8475120" y="1454400"/>
            <a:chExt cx="2905920" cy="3340080"/>
          </a:xfrm>
        </p:grpSpPr>
        <p:grpSp>
          <p:nvGrpSpPr>
            <p:cNvPr id="451" name="群組 11"/>
            <p:cNvGrpSpPr/>
            <p:nvPr/>
          </p:nvGrpSpPr>
          <p:grpSpPr>
            <a:xfrm>
              <a:off x="8641800" y="1821600"/>
              <a:ext cx="2629440" cy="827280"/>
              <a:chOff x="8641800" y="1821600"/>
              <a:chExt cx="2629440" cy="827280"/>
            </a:xfrm>
          </p:grpSpPr>
          <p:grpSp>
            <p:nvGrpSpPr>
              <p:cNvPr id="452" name="群組 35"/>
              <p:cNvGrpSpPr/>
              <p:nvPr/>
            </p:nvGrpSpPr>
            <p:grpSpPr>
              <a:xfrm>
                <a:off x="8641800" y="1821600"/>
                <a:ext cx="864720" cy="783360"/>
                <a:chOff x="8641800" y="1821600"/>
                <a:chExt cx="864720" cy="783360"/>
              </a:xfrm>
            </p:grpSpPr>
            <p:pic>
              <p:nvPicPr>
                <p:cNvPr id="453" name="圖形 45" descr=""/>
                <p:cNvPicPr/>
                <p:nvPr/>
              </p:nvPicPr>
              <p:blipFill>
                <a:blip r:embed="rId1"/>
                <a:stretch/>
              </p:blipFill>
              <p:spPr>
                <a:xfrm>
                  <a:off x="8870400" y="1924920"/>
                  <a:ext cx="412560" cy="33444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454" name="圓角矩形 46"/>
                <p:cNvSpPr/>
                <p:nvPr/>
              </p:nvSpPr>
              <p:spPr>
                <a:xfrm>
                  <a:off x="8671680" y="1821600"/>
                  <a:ext cx="812520" cy="765000"/>
                </a:xfrm>
                <a:prstGeom prst="roundRect">
                  <a:avLst>
                    <a:gd name="adj" fmla="val 16667"/>
                  </a:avLst>
                </a:prstGeom>
                <a:noFill/>
                <a:ln w="28575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55" name="文字方塊 47"/>
                <p:cNvSpPr/>
                <p:nvPr/>
              </p:nvSpPr>
              <p:spPr>
                <a:xfrm>
                  <a:off x="8641800" y="221040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R1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456" name="群組 36"/>
              <p:cNvGrpSpPr/>
              <p:nvPr/>
            </p:nvGrpSpPr>
            <p:grpSpPr>
              <a:xfrm>
                <a:off x="10406520" y="1821600"/>
                <a:ext cx="864720" cy="827280"/>
                <a:chOff x="10406520" y="1821600"/>
                <a:chExt cx="864720" cy="827280"/>
              </a:xfrm>
            </p:grpSpPr>
            <p:pic>
              <p:nvPicPr>
                <p:cNvPr id="457" name="圖形 42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10676520" y="1898640"/>
                  <a:ext cx="361800" cy="39024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458" name="圓角矩形 43"/>
                <p:cNvSpPr/>
                <p:nvPr/>
              </p:nvSpPr>
              <p:spPr>
                <a:xfrm>
                  <a:off x="10424160" y="1821600"/>
                  <a:ext cx="812520" cy="75924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59" name="文字方塊 44"/>
                <p:cNvSpPr/>
                <p:nvPr/>
              </p:nvSpPr>
              <p:spPr>
                <a:xfrm>
                  <a:off x="10406520" y="225432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h1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sp>
            <p:nvSpPr>
              <p:cNvPr id="460" name="直線接點 39"/>
              <p:cNvSpPr/>
              <p:nvPr/>
            </p:nvSpPr>
            <p:spPr>
              <a:xfrm flipH="1">
                <a:off x="9484560" y="2201040"/>
                <a:ext cx="939600" cy="2880"/>
              </a:xfrm>
              <a:prstGeom prst="line">
                <a:avLst/>
              </a:prstGeom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61" name="圓角矩形 12"/>
            <p:cNvSpPr/>
            <p:nvPr/>
          </p:nvSpPr>
          <p:spPr>
            <a:xfrm>
              <a:off x="8475120" y="1454400"/>
              <a:ext cx="2905920" cy="12200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62" name="群組 13"/>
            <p:cNvGrpSpPr/>
            <p:nvPr/>
          </p:nvGrpSpPr>
          <p:grpSpPr>
            <a:xfrm>
              <a:off x="8641800" y="3674520"/>
              <a:ext cx="2626200" cy="830880"/>
              <a:chOff x="8641800" y="3674520"/>
              <a:chExt cx="2626200" cy="830880"/>
            </a:xfrm>
          </p:grpSpPr>
          <p:grpSp>
            <p:nvGrpSpPr>
              <p:cNvPr id="463" name="群組 23"/>
              <p:cNvGrpSpPr/>
              <p:nvPr/>
            </p:nvGrpSpPr>
            <p:grpSpPr>
              <a:xfrm>
                <a:off x="10403280" y="3674520"/>
                <a:ext cx="864720" cy="830880"/>
                <a:chOff x="10403280" y="3674520"/>
                <a:chExt cx="864720" cy="830880"/>
              </a:xfrm>
            </p:grpSpPr>
            <p:sp>
              <p:nvSpPr>
                <p:cNvPr id="464" name="圓角矩形 33"/>
                <p:cNvSpPr/>
                <p:nvPr/>
              </p:nvSpPr>
              <p:spPr>
                <a:xfrm>
                  <a:off x="10403280" y="3674520"/>
                  <a:ext cx="807840" cy="77004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65" name="文字方塊 34"/>
                <p:cNvSpPr/>
                <p:nvPr/>
              </p:nvSpPr>
              <p:spPr>
                <a:xfrm>
                  <a:off x="10403280" y="411084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h2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466" name="群組 24"/>
              <p:cNvGrpSpPr/>
              <p:nvPr/>
            </p:nvGrpSpPr>
            <p:grpSpPr>
              <a:xfrm>
                <a:off x="8641800" y="3681720"/>
                <a:ext cx="2405520" cy="802800"/>
                <a:chOff x="8641800" y="3681720"/>
                <a:chExt cx="2405520" cy="802800"/>
              </a:xfrm>
            </p:grpSpPr>
            <p:pic>
              <p:nvPicPr>
                <p:cNvPr id="467" name="圖形 30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10665720" y="3725640"/>
                  <a:ext cx="381600" cy="41148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468" name="圓角矩形 31"/>
                <p:cNvSpPr/>
                <p:nvPr/>
              </p:nvSpPr>
              <p:spPr>
                <a:xfrm>
                  <a:off x="8676000" y="3681720"/>
                  <a:ext cx="807840" cy="75492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69" name="文字方塊 32"/>
                <p:cNvSpPr/>
                <p:nvPr/>
              </p:nvSpPr>
              <p:spPr>
                <a:xfrm>
                  <a:off x="8641800" y="408996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R2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sp>
            <p:nvSpPr>
              <p:cNvPr id="470" name="直線接點 26"/>
              <p:cNvSpPr/>
              <p:nvPr/>
            </p:nvSpPr>
            <p:spPr>
              <a:xfrm>
                <a:off x="9483840" y="4059360"/>
                <a:ext cx="919080" cy="0"/>
              </a:xfrm>
              <a:prstGeom prst="line">
                <a:avLst/>
              </a:prstGeom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71" name="圓角矩形 14"/>
            <p:cNvSpPr/>
            <p:nvPr/>
          </p:nvSpPr>
          <p:spPr>
            <a:xfrm>
              <a:off x="8517240" y="3593520"/>
              <a:ext cx="2847960" cy="120096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b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72" name="圖形 15" descr=""/>
            <p:cNvPicPr/>
            <p:nvPr/>
          </p:nvPicPr>
          <p:blipFill>
            <a:blip r:embed="rId4"/>
            <a:stretch/>
          </p:blipFill>
          <p:spPr>
            <a:xfrm>
              <a:off x="8870400" y="3773880"/>
              <a:ext cx="404640" cy="328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3" name="直線接點 18"/>
            <p:cNvSpPr/>
            <p:nvPr/>
          </p:nvSpPr>
          <p:spPr>
            <a:xfrm>
              <a:off x="9078120" y="2586600"/>
              <a:ext cx="1800" cy="109512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4" name="文字方塊 48"/>
          <p:cNvSpPr/>
          <p:nvPr/>
        </p:nvSpPr>
        <p:spPr>
          <a:xfrm>
            <a:off x="9711000" y="4440240"/>
            <a:ext cx="16412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  <a:ea typeface="標楷體"/>
              </a:rPr>
              <a:t>19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.0.0/16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5" name="文字方塊 49"/>
          <p:cNvSpPr/>
          <p:nvPr/>
        </p:nvSpPr>
        <p:spPr>
          <a:xfrm>
            <a:off x="9618480" y="1434240"/>
            <a:ext cx="16412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標楷體"/>
              </a:rPr>
              <a:t>18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.0.0/16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6" name="文字方塊 37"/>
          <p:cNvSpPr/>
          <p:nvPr/>
        </p:nvSpPr>
        <p:spPr>
          <a:xfrm>
            <a:off x="9218160" y="4785120"/>
            <a:ext cx="1641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ASN 6500</a:t>
            </a:r>
            <a:r>
              <a:rPr b="0" lang="en-US" sz="2400" spc="-1" strike="noStrike">
                <a:solidFill>
                  <a:srgbClr val="00b050"/>
                </a:solidFill>
                <a:latin typeface="Calibri"/>
                <a:ea typeface="標楷體"/>
              </a:rPr>
              <a:t>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77" name="文字方塊 40"/>
          <p:cNvSpPr/>
          <p:nvPr/>
        </p:nvSpPr>
        <p:spPr>
          <a:xfrm>
            <a:off x="9218160" y="995040"/>
            <a:ext cx="1641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ASN 6500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78" name="文字方塊 41"/>
          <p:cNvSpPr/>
          <p:nvPr/>
        </p:nvSpPr>
        <p:spPr>
          <a:xfrm>
            <a:off x="9035280" y="2675880"/>
            <a:ext cx="1311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172.20.0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標楷體"/>
              </a:rPr>
              <a:t>.2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9" name="文字方塊 54"/>
          <p:cNvSpPr/>
          <p:nvPr/>
        </p:nvSpPr>
        <p:spPr>
          <a:xfrm>
            <a:off x="9035280" y="3213000"/>
            <a:ext cx="13078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172.20.0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  <a:ea typeface="標楷體"/>
              </a:rPr>
              <a:t>.3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80" name="矩形 57"/>
          <p:cNvSpPr/>
          <p:nvPr/>
        </p:nvSpPr>
        <p:spPr>
          <a:xfrm>
            <a:off x="2814840" y="3741480"/>
            <a:ext cx="1240200" cy="3038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矩形 61"/>
          <p:cNvSpPr/>
          <p:nvPr/>
        </p:nvSpPr>
        <p:spPr>
          <a:xfrm>
            <a:off x="1440360" y="5431680"/>
            <a:ext cx="3024000" cy="3038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矩形 62"/>
          <p:cNvSpPr/>
          <p:nvPr/>
        </p:nvSpPr>
        <p:spPr>
          <a:xfrm>
            <a:off x="1440360" y="4357080"/>
            <a:ext cx="6192360" cy="1044000"/>
          </a:xfrm>
          <a:prstGeom prst="rect">
            <a:avLst/>
          </a:prstGeom>
          <a:noFill/>
          <a:ln w="1905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5 – Setup Routers (4/4)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Set BGP configuration for routers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Edit configuration file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frr.conf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on R2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27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E524BA3-FAE7-4EF0-BE48-18AFE04373B9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86" name="object 7"/>
          <p:cNvSpPr/>
          <p:nvPr/>
        </p:nvSpPr>
        <p:spPr>
          <a:xfrm>
            <a:off x="1055520" y="1917000"/>
            <a:ext cx="648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R2/#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vi /etc/frr/frr.conf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7" name="圓角矩形 5"/>
          <p:cNvSpPr/>
          <p:nvPr/>
        </p:nvSpPr>
        <p:spPr>
          <a:xfrm>
            <a:off x="839520" y="2355840"/>
            <a:ext cx="7429680" cy="418788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文字方塊 7"/>
          <p:cNvSpPr/>
          <p:nvPr/>
        </p:nvSpPr>
        <p:spPr>
          <a:xfrm>
            <a:off x="1267920" y="2355840"/>
            <a:ext cx="684360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 FRR configuration for R2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frr defaults datacenter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router bgp 65001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bgp router-id 172.20.0.3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timers bgp 3 9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172.20.0.2 remote-as 65000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172.20.0.2 ebgp-multihop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172.20.0.2 timers connect 5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neighbor 172.20.0.2 advertisement-interval 5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network 172.19.0.0/16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log stdout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Menlo"/>
                <a:ea typeface="標楷體"/>
              </a:rPr>
              <a:t>line vty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9" name="object 28"/>
          <p:cNvSpPr/>
          <p:nvPr/>
        </p:nvSpPr>
        <p:spPr>
          <a:xfrm>
            <a:off x="8552160" y="5322240"/>
            <a:ext cx="1605600" cy="16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320" bIns="0" anchor="t">
            <a:spAutoFit/>
          </a:bodyPr>
          <a:p>
            <a:pPr marL="31680"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2400" spc="-7" strike="noStrike">
                <a:solidFill>
                  <a:srgbClr val="ff0000"/>
                </a:solidFill>
                <a:latin typeface="Arial MT"/>
                <a:ea typeface="標楷體"/>
              </a:rPr>
              <a:t>ASN</a:t>
            </a:r>
            <a:r>
              <a:rPr b="0" lang="en-US" sz="2400" spc="-100" strike="noStrike">
                <a:solidFill>
                  <a:srgbClr val="ff0000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ff0000"/>
                </a:solidFill>
                <a:latin typeface="Arial MT"/>
                <a:ea typeface="標楷體"/>
              </a:rPr>
              <a:t>65000</a:t>
            </a:r>
            <a:endParaRPr b="0" lang="en-US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05"/>
              </a:spcBef>
              <a:buNone/>
            </a:pPr>
            <a:r>
              <a:rPr b="0" lang="en-US" sz="2400" spc="-7" strike="noStrike">
                <a:solidFill>
                  <a:srgbClr val="00b050"/>
                </a:solidFill>
                <a:latin typeface="Arial MT"/>
                <a:ea typeface="標楷體"/>
              </a:rPr>
              <a:t>ASN</a:t>
            </a:r>
            <a:r>
              <a:rPr b="0" lang="en-US" sz="2400" spc="-100" strike="noStrike">
                <a:solidFill>
                  <a:srgbClr val="00b050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b050"/>
                </a:solidFill>
                <a:latin typeface="Arial MT"/>
                <a:ea typeface="標楷體"/>
              </a:rPr>
              <a:t>65001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0" name="object 27"/>
          <p:cNvSpPr/>
          <p:nvPr/>
        </p:nvSpPr>
        <p:spPr>
          <a:xfrm>
            <a:off x="10321920" y="5589360"/>
            <a:ext cx="535680" cy="9720"/>
          </a:xfrm>
          <a:custGeom>
            <a:avLst/>
            <a:gdLst/>
            <a:ahLst/>
            <a:rect l="l" t="t" r="r" b="b"/>
            <a:pathLst>
              <a:path w="535940" h="10160">
                <a:moveTo>
                  <a:pt x="0" y="0"/>
                </a:moveTo>
                <a:lnTo>
                  <a:pt x="535600" y="9628"/>
                </a:lnTo>
              </a:path>
            </a:pathLst>
          </a:cu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object 31"/>
          <p:cNvSpPr/>
          <p:nvPr/>
        </p:nvSpPr>
        <p:spPr>
          <a:xfrm>
            <a:off x="10311840" y="6041880"/>
            <a:ext cx="555120" cy="360"/>
          </a:xfrm>
          <a:custGeom>
            <a:avLst/>
            <a:gdLst/>
            <a:ahLst/>
            <a:rect l="l" t="t" r="r" b="b"/>
            <a:pathLst>
              <a:path w="555625" h="635">
                <a:moveTo>
                  <a:pt x="0" y="0"/>
                </a:moveTo>
                <a:lnTo>
                  <a:pt x="555200" y="29"/>
                </a:lnTo>
              </a:path>
            </a:pathLst>
          </a:custGeom>
          <a:noFill/>
          <a:ln w="28575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92" name="群組 10"/>
          <p:cNvGrpSpPr/>
          <p:nvPr/>
        </p:nvGrpSpPr>
        <p:grpSpPr>
          <a:xfrm>
            <a:off x="8475120" y="1454400"/>
            <a:ext cx="2905920" cy="3340080"/>
            <a:chOff x="8475120" y="1454400"/>
            <a:chExt cx="2905920" cy="3340080"/>
          </a:xfrm>
        </p:grpSpPr>
        <p:grpSp>
          <p:nvGrpSpPr>
            <p:cNvPr id="493" name="群組 11"/>
            <p:cNvGrpSpPr/>
            <p:nvPr/>
          </p:nvGrpSpPr>
          <p:grpSpPr>
            <a:xfrm>
              <a:off x="8641800" y="1821600"/>
              <a:ext cx="2629440" cy="827280"/>
              <a:chOff x="8641800" y="1821600"/>
              <a:chExt cx="2629440" cy="827280"/>
            </a:xfrm>
          </p:grpSpPr>
          <p:grpSp>
            <p:nvGrpSpPr>
              <p:cNvPr id="494" name="群組 35"/>
              <p:cNvGrpSpPr/>
              <p:nvPr/>
            </p:nvGrpSpPr>
            <p:grpSpPr>
              <a:xfrm>
                <a:off x="8641800" y="1821600"/>
                <a:ext cx="864720" cy="783360"/>
                <a:chOff x="8641800" y="1821600"/>
                <a:chExt cx="864720" cy="783360"/>
              </a:xfrm>
            </p:grpSpPr>
            <p:pic>
              <p:nvPicPr>
                <p:cNvPr id="495" name="圖形 45" descr=""/>
                <p:cNvPicPr/>
                <p:nvPr/>
              </p:nvPicPr>
              <p:blipFill>
                <a:blip r:embed="rId1"/>
                <a:stretch/>
              </p:blipFill>
              <p:spPr>
                <a:xfrm>
                  <a:off x="8870400" y="1924920"/>
                  <a:ext cx="412560" cy="33444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496" name="圓角矩形 46"/>
                <p:cNvSpPr/>
                <p:nvPr/>
              </p:nvSpPr>
              <p:spPr>
                <a:xfrm>
                  <a:off x="8671680" y="1821600"/>
                  <a:ext cx="812520" cy="765000"/>
                </a:xfrm>
                <a:prstGeom prst="roundRect">
                  <a:avLst>
                    <a:gd name="adj" fmla="val 16667"/>
                  </a:avLst>
                </a:prstGeom>
                <a:noFill/>
                <a:ln w="28575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7" name="文字方塊 47"/>
                <p:cNvSpPr/>
                <p:nvPr/>
              </p:nvSpPr>
              <p:spPr>
                <a:xfrm>
                  <a:off x="8641800" y="221040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R1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498" name="群組 36"/>
              <p:cNvGrpSpPr/>
              <p:nvPr/>
            </p:nvGrpSpPr>
            <p:grpSpPr>
              <a:xfrm>
                <a:off x="10406520" y="1821600"/>
                <a:ext cx="864720" cy="827280"/>
                <a:chOff x="10406520" y="1821600"/>
                <a:chExt cx="864720" cy="827280"/>
              </a:xfrm>
            </p:grpSpPr>
            <p:pic>
              <p:nvPicPr>
                <p:cNvPr id="499" name="圖形 42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10676520" y="1898640"/>
                  <a:ext cx="361800" cy="39024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500" name="圓角矩形 43"/>
                <p:cNvSpPr/>
                <p:nvPr/>
              </p:nvSpPr>
              <p:spPr>
                <a:xfrm>
                  <a:off x="10424160" y="1821600"/>
                  <a:ext cx="812520" cy="75924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01" name="文字方塊 44"/>
                <p:cNvSpPr/>
                <p:nvPr/>
              </p:nvSpPr>
              <p:spPr>
                <a:xfrm>
                  <a:off x="10406520" y="225432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h1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sp>
            <p:nvSpPr>
              <p:cNvPr id="502" name="直線接點 39"/>
              <p:cNvSpPr/>
              <p:nvPr/>
            </p:nvSpPr>
            <p:spPr>
              <a:xfrm flipH="1">
                <a:off x="9484560" y="2201040"/>
                <a:ext cx="939600" cy="2880"/>
              </a:xfrm>
              <a:prstGeom prst="line">
                <a:avLst/>
              </a:prstGeom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03" name="圓角矩形 12"/>
            <p:cNvSpPr/>
            <p:nvPr/>
          </p:nvSpPr>
          <p:spPr>
            <a:xfrm>
              <a:off x="8475120" y="1454400"/>
              <a:ext cx="2905920" cy="12200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504" name="群組 13"/>
            <p:cNvGrpSpPr/>
            <p:nvPr/>
          </p:nvGrpSpPr>
          <p:grpSpPr>
            <a:xfrm>
              <a:off x="8641800" y="3674520"/>
              <a:ext cx="2626200" cy="830880"/>
              <a:chOff x="8641800" y="3674520"/>
              <a:chExt cx="2626200" cy="830880"/>
            </a:xfrm>
          </p:grpSpPr>
          <p:grpSp>
            <p:nvGrpSpPr>
              <p:cNvPr id="505" name="群組 23"/>
              <p:cNvGrpSpPr/>
              <p:nvPr/>
            </p:nvGrpSpPr>
            <p:grpSpPr>
              <a:xfrm>
                <a:off x="10403280" y="3674520"/>
                <a:ext cx="864720" cy="830880"/>
                <a:chOff x="10403280" y="3674520"/>
                <a:chExt cx="864720" cy="830880"/>
              </a:xfrm>
            </p:grpSpPr>
            <p:sp>
              <p:nvSpPr>
                <p:cNvPr id="506" name="圓角矩形 33"/>
                <p:cNvSpPr/>
                <p:nvPr/>
              </p:nvSpPr>
              <p:spPr>
                <a:xfrm>
                  <a:off x="10403280" y="3674520"/>
                  <a:ext cx="807840" cy="77004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07" name="文字方塊 34"/>
                <p:cNvSpPr/>
                <p:nvPr/>
              </p:nvSpPr>
              <p:spPr>
                <a:xfrm>
                  <a:off x="10403280" y="411084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h2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grpSp>
            <p:nvGrpSpPr>
              <p:cNvPr id="508" name="群組 24"/>
              <p:cNvGrpSpPr/>
              <p:nvPr/>
            </p:nvGrpSpPr>
            <p:grpSpPr>
              <a:xfrm>
                <a:off x="8641800" y="3681720"/>
                <a:ext cx="2405520" cy="802800"/>
                <a:chOff x="8641800" y="3681720"/>
                <a:chExt cx="2405520" cy="802800"/>
              </a:xfrm>
            </p:grpSpPr>
            <p:pic>
              <p:nvPicPr>
                <p:cNvPr id="509" name="圖形 30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10665720" y="3725640"/>
                  <a:ext cx="381600" cy="41148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510" name="圓角矩形 31"/>
                <p:cNvSpPr/>
                <p:nvPr/>
              </p:nvSpPr>
              <p:spPr>
                <a:xfrm>
                  <a:off x="8676000" y="3681720"/>
                  <a:ext cx="807840" cy="75492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3197fd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11" name="文字方塊 32"/>
                <p:cNvSpPr/>
                <p:nvPr/>
              </p:nvSpPr>
              <p:spPr>
                <a:xfrm>
                  <a:off x="8641800" y="4089960"/>
                  <a:ext cx="864720" cy="394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>
                    <a:lnSpc>
                      <a:spcPct val="100000"/>
                    </a:lnSpc>
                    <a:buNone/>
                  </a:pPr>
                  <a:r>
                    <a:rPr b="0" lang="en-US" sz="2000" spc="-1" strike="noStrike">
                      <a:solidFill>
                        <a:srgbClr val="3197fd"/>
                      </a:solidFill>
                      <a:latin typeface="Calibri"/>
                      <a:ea typeface="標楷體"/>
                    </a:rPr>
                    <a:t>R2</a:t>
                  </a:r>
                  <a:endParaRPr b="0" lang="en-US" sz="2000" spc="-1" strike="noStrike">
                    <a:latin typeface="Arial"/>
                  </a:endParaRPr>
                </a:p>
              </p:txBody>
            </p:sp>
          </p:grpSp>
          <p:sp>
            <p:nvSpPr>
              <p:cNvPr id="512" name="直線接點 26"/>
              <p:cNvSpPr/>
              <p:nvPr/>
            </p:nvSpPr>
            <p:spPr>
              <a:xfrm>
                <a:off x="9483840" y="4059360"/>
                <a:ext cx="919080" cy="0"/>
              </a:xfrm>
              <a:prstGeom prst="line">
                <a:avLst/>
              </a:prstGeom>
              <a:ln w="19050">
                <a:solidFill>
                  <a:srgbClr val="3197f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13" name="圓角矩形 14"/>
            <p:cNvSpPr/>
            <p:nvPr/>
          </p:nvSpPr>
          <p:spPr>
            <a:xfrm>
              <a:off x="8517240" y="3593520"/>
              <a:ext cx="2847960" cy="120096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b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14" name="圖形 15" descr=""/>
            <p:cNvPicPr/>
            <p:nvPr/>
          </p:nvPicPr>
          <p:blipFill>
            <a:blip r:embed="rId4"/>
            <a:stretch/>
          </p:blipFill>
          <p:spPr>
            <a:xfrm>
              <a:off x="8870400" y="3773880"/>
              <a:ext cx="404640" cy="328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15" name="直線接點 18"/>
            <p:cNvSpPr/>
            <p:nvPr/>
          </p:nvSpPr>
          <p:spPr>
            <a:xfrm>
              <a:off x="9078120" y="2586600"/>
              <a:ext cx="1800" cy="1095120"/>
            </a:xfrm>
            <a:prstGeom prst="line">
              <a:avLst/>
            </a:prstGeom>
            <a:ln w="19050">
              <a:solidFill>
                <a:srgbClr val="3197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6" name="文字方塊 48"/>
          <p:cNvSpPr/>
          <p:nvPr/>
        </p:nvSpPr>
        <p:spPr>
          <a:xfrm>
            <a:off x="9711000" y="4440240"/>
            <a:ext cx="16412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  <a:ea typeface="標楷體"/>
              </a:rPr>
              <a:t>19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.0.0/16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7" name="文字方塊 49"/>
          <p:cNvSpPr/>
          <p:nvPr/>
        </p:nvSpPr>
        <p:spPr>
          <a:xfrm>
            <a:off x="9618480" y="1434240"/>
            <a:ext cx="16412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標楷體"/>
              </a:rPr>
              <a:t>18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.0.0/16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8" name="文字方塊 37"/>
          <p:cNvSpPr/>
          <p:nvPr/>
        </p:nvSpPr>
        <p:spPr>
          <a:xfrm>
            <a:off x="9218160" y="4785120"/>
            <a:ext cx="1641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ASN 6500</a:t>
            </a:r>
            <a:r>
              <a:rPr b="0" lang="en-US" sz="2400" spc="-1" strike="noStrike">
                <a:solidFill>
                  <a:srgbClr val="00b050"/>
                </a:solidFill>
                <a:latin typeface="Calibri"/>
                <a:ea typeface="標楷體"/>
              </a:rPr>
              <a:t>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19" name="文字方塊 40"/>
          <p:cNvSpPr/>
          <p:nvPr/>
        </p:nvSpPr>
        <p:spPr>
          <a:xfrm>
            <a:off x="9218160" y="995040"/>
            <a:ext cx="1641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ASN 6500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0" name="文字方塊 41"/>
          <p:cNvSpPr/>
          <p:nvPr/>
        </p:nvSpPr>
        <p:spPr>
          <a:xfrm>
            <a:off x="9035280" y="2675880"/>
            <a:ext cx="1311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172.20.0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標楷體"/>
              </a:rPr>
              <a:t>.2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21" name="文字方塊 54"/>
          <p:cNvSpPr/>
          <p:nvPr/>
        </p:nvSpPr>
        <p:spPr>
          <a:xfrm>
            <a:off x="9035280" y="3213000"/>
            <a:ext cx="13078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標楷體"/>
              </a:rPr>
              <a:t>172.20.0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  <a:ea typeface="標楷體"/>
              </a:rPr>
              <a:t>.3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22" name="矩形 57"/>
          <p:cNvSpPr/>
          <p:nvPr/>
        </p:nvSpPr>
        <p:spPr>
          <a:xfrm>
            <a:off x="2814840" y="3741480"/>
            <a:ext cx="1240200" cy="3038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矩形 61"/>
          <p:cNvSpPr/>
          <p:nvPr/>
        </p:nvSpPr>
        <p:spPr>
          <a:xfrm>
            <a:off x="1440360" y="5431680"/>
            <a:ext cx="3024000" cy="3038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矩形 62"/>
          <p:cNvSpPr/>
          <p:nvPr/>
        </p:nvSpPr>
        <p:spPr>
          <a:xfrm>
            <a:off x="1440360" y="4357080"/>
            <a:ext cx="6192360" cy="1044000"/>
          </a:xfrm>
          <a:prstGeom prst="rect">
            <a:avLst/>
          </a:prstGeom>
          <a:noFill/>
          <a:ln w="1905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6 – Check Routes (1/2)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Restart R1 (R2)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Interact with FRR daemons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3297fc"/>
                </a:solidFill>
                <a:latin typeface="Calibri"/>
                <a:ea typeface="標楷體"/>
              </a:rPr>
              <a:t>Show routes on R1 (R2)</a:t>
            </a: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28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AD90FAA-98E1-4AE9-98F3-C9D12D278A64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28" name="object 7"/>
          <p:cNvSpPr/>
          <p:nvPr/>
        </p:nvSpPr>
        <p:spPr>
          <a:xfrm>
            <a:off x="983520" y="1484640"/>
            <a:ext cx="58921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docker restart R1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9" name="object 7"/>
          <p:cNvSpPr/>
          <p:nvPr/>
        </p:nvSpPr>
        <p:spPr>
          <a:xfrm>
            <a:off x="983520" y="2539080"/>
            <a:ext cx="40831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R1/#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vtysh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530" name="圖片 7" descr=""/>
          <p:cNvPicPr/>
          <p:nvPr/>
        </p:nvPicPr>
        <p:blipFill>
          <a:blip r:embed="rId1"/>
          <a:stretch/>
        </p:blipFill>
        <p:spPr>
          <a:xfrm>
            <a:off x="5257800" y="2095200"/>
            <a:ext cx="6108480" cy="1858320"/>
          </a:xfrm>
          <a:prstGeom prst="rect">
            <a:avLst/>
          </a:prstGeom>
          <a:ln w="0">
            <a:noFill/>
          </a:ln>
        </p:spPr>
      </p:pic>
      <p:sp>
        <p:nvSpPr>
          <p:cNvPr id="531" name="object 7"/>
          <p:cNvSpPr/>
          <p:nvPr/>
        </p:nvSpPr>
        <p:spPr>
          <a:xfrm>
            <a:off x="983520" y="3418560"/>
            <a:ext cx="408312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R1FRR&gt; 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show ip route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532" name="圖片 47" descr=""/>
          <p:cNvPicPr/>
          <p:nvPr/>
        </p:nvPicPr>
        <p:blipFill>
          <a:blip r:embed="rId2"/>
          <a:stretch/>
        </p:blipFill>
        <p:spPr>
          <a:xfrm>
            <a:off x="2957040" y="3936240"/>
            <a:ext cx="6734880" cy="2457360"/>
          </a:xfrm>
          <a:prstGeom prst="rect">
            <a:avLst/>
          </a:prstGeom>
          <a:ln w="0">
            <a:noFill/>
          </a:ln>
        </p:spPr>
      </p:pic>
      <p:sp>
        <p:nvSpPr>
          <p:cNvPr id="533" name="矩形 53"/>
          <p:cNvSpPr/>
          <p:nvPr/>
        </p:nvSpPr>
        <p:spPr>
          <a:xfrm>
            <a:off x="2612880" y="6046200"/>
            <a:ext cx="7423200" cy="1897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Step 6 – Check Routes (2/2)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Show bgp route in R1 FRR (in vtysh)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Show bgp summary in R1 FRR (in vtysh)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29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DD5049A-0759-4A93-A97D-5A8696105921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37" name="object 7"/>
          <p:cNvSpPr/>
          <p:nvPr/>
        </p:nvSpPr>
        <p:spPr>
          <a:xfrm>
            <a:off x="997200" y="1455840"/>
            <a:ext cx="756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R1FRR&gt; </a:t>
            </a:r>
            <a:r>
              <a:rPr b="0" lang="en-US" sz="2400" spc="4" strike="noStrike">
                <a:solidFill>
                  <a:srgbClr val="000000"/>
                </a:solidFill>
                <a:latin typeface="Arial MT"/>
                <a:ea typeface="標楷體"/>
              </a:rPr>
              <a:t>show ip route bgp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538" name="圖片 5" descr=""/>
          <p:cNvPicPr/>
          <p:nvPr/>
        </p:nvPicPr>
        <p:blipFill>
          <a:blip r:embed="rId1"/>
          <a:stretch/>
        </p:blipFill>
        <p:spPr>
          <a:xfrm>
            <a:off x="8809200" y="1041480"/>
            <a:ext cx="2496600" cy="3763440"/>
          </a:xfrm>
          <a:prstGeom prst="rect">
            <a:avLst/>
          </a:prstGeom>
          <a:ln w="0">
            <a:noFill/>
          </a:ln>
        </p:spPr>
      </p:pic>
      <p:pic>
        <p:nvPicPr>
          <p:cNvPr id="539" name="圖片 8" descr=""/>
          <p:cNvPicPr/>
          <p:nvPr/>
        </p:nvPicPr>
        <p:blipFill>
          <a:blip r:embed="rId2"/>
          <a:stretch/>
        </p:blipFill>
        <p:spPr>
          <a:xfrm>
            <a:off x="1276560" y="2008080"/>
            <a:ext cx="6665040" cy="1512000"/>
          </a:xfrm>
          <a:prstGeom prst="rect">
            <a:avLst/>
          </a:prstGeom>
          <a:ln w="0">
            <a:noFill/>
          </a:ln>
        </p:spPr>
      </p:pic>
      <p:sp>
        <p:nvSpPr>
          <p:cNvPr id="540" name="矩形 11"/>
          <p:cNvSpPr/>
          <p:nvPr/>
        </p:nvSpPr>
        <p:spPr>
          <a:xfrm>
            <a:off x="1216800" y="3325320"/>
            <a:ext cx="6873840" cy="2520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object 7"/>
          <p:cNvSpPr/>
          <p:nvPr/>
        </p:nvSpPr>
        <p:spPr>
          <a:xfrm>
            <a:off x="997200" y="3971160"/>
            <a:ext cx="756036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R1FRR&gt; </a:t>
            </a:r>
            <a:r>
              <a:rPr b="0" lang="en-US" sz="2400" spc="4" strike="noStrike">
                <a:solidFill>
                  <a:srgbClr val="000000"/>
                </a:solidFill>
                <a:latin typeface="Arial MT"/>
                <a:ea typeface="標楷體"/>
              </a:rPr>
              <a:t>show ip bgp summary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542" name="圖片 14" descr=""/>
          <p:cNvPicPr/>
          <p:nvPr/>
        </p:nvPicPr>
        <p:blipFill>
          <a:blip r:embed="rId3"/>
          <a:stretch/>
        </p:blipFill>
        <p:spPr>
          <a:xfrm>
            <a:off x="997200" y="4445280"/>
            <a:ext cx="7623720" cy="1749960"/>
          </a:xfrm>
          <a:prstGeom prst="rect">
            <a:avLst/>
          </a:prstGeom>
          <a:ln w="0">
            <a:noFill/>
          </a:ln>
        </p:spPr>
      </p:pic>
      <p:sp>
        <p:nvSpPr>
          <p:cNvPr id="543" name="矩形 15"/>
          <p:cNvSpPr/>
          <p:nvPr/>
        </p:nvSpPr>
        <p:spPr>
          <a:xfrm>
            <a:off x="894960" y="5740560"/>
            <a:ext cx="7913880" cy="1857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Installation of Docker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ldNum" idx="30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8332EF3-0158-418C-A139-2BE88033DD24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Update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apt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(confirm to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install the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latest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package)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n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st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l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url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f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o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d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ata</a:t>
            </a:r>
            <a:r>
              <a:rPr b="0" lang="en-US" sz="2400" spc="-177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ran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fe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Retrieve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Docker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installation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script</a:t>
            </a:r>
            <a:r>
              <a:rPr b="0" lang="en-US" sz="2400" spc="-26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install</a:t>
            </a:r>
            <a:r>
              <a:rPr b="0" lang="en-US" sz="2400" spc="-177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Docker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Manage Docker as a non-root user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Other Methods: https://docs.docker.com/engine/install/ubuntu/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49" name="object 7"/>
          <p:cNvSpPr/>
          <p:nvPr/>
        </p:nvSpPr>
        <p:spPr>
          <a:xfrm>
            <a:off x="983520" y="1412640"/>
            <a:ext cx="796140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 MT"/>
                <a:ea typeface="標楷體"/>
              </a:rPr>
              <a:t>sudo</a:t>
            </a:r>
            <a:r>
              <a:rPr b="0" lang="en-US" sz="2400" spc="18" strike="noStrike">
                <a:solidFill>
                  <a:srgbClr val="000000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apt-get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 </a:t>
            </a:r>
            <a:r>
              <a:rPr b="0" lang="en-US" sz="2400" spc="52" strike="noStrike">
                <a:solidFill>
                  <a:srgbClr val="000000"/>
                </a:solidFill>
                <a:latin typeface="Arial MT"/>
                <a:ea typeface="標楷體"/>
              </a:rPr>
              <a:t>update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0" name="object 7"/>
          <p:cNvSpPr/>
          <p:nvPr/>
        </p:nvSpPr>
        <p:spPr>
          <a:xfrm>
            <a:off x="983520" y="2259000"/>
            <a:ext cx="796140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 MT"/>
                <a:ea typeface="標楷體"/>
              </a:rPr>
              <a:t>sudo</a:t>
            </a:r>
            <a:r>
              <a:rPr b="0" lang="en-US" sz="2400" spc="18" strike="noStrike">
                <a:solidFill>
                  <a:srgbClr val="000000"/>
                </a:solidFill>
                <a:latin typeface="Arial MT"/>
                <a:ea typeface="標楷體"/>
              </a:rPr>
              <a:t> </a:t>
            </a:r>
            <a:r>
              <a:rPr b="0" lang="en-US" sz="2400" spc="168" strike="noStrike">
                <a:solidFill>
                  <a:srgbClr val="000000"/>
                </a:solidFill>
                <a:latin typeface="Arial MT"/>
                <a:ea typeface="標楷體"/>
              </a:rPr>
              <a:t>apt-get install </a:t>
            </a:r>
            <a:r>
              <a:rPr b="0" lang="en-US" sz="2400" spc="97" strike="noStrike">
                <a:solidFill>
                  <a:srgbClr val="000000"/>
                </a:solidFill>
                <a:latin typeface="Arial MT"/>
                <a:ea typeface="標楷體"/>
              </a:rPr>
              <a:t>-y </a:t>
            </a:r>
            <a:r>
              <a:rPr b="0" lang="en-US" sz="2400" spc="199" strike="noStrike">
                <a:solidFill>
                  <a:srgbClr val="000000"/>
                </a:solidFill>
                <a:latin typeface="Arial MT"/>
                <a:ea typeface="標楷體"/>
              </a:rPr>
              <a:t>curl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1" name="object 7"/>
          <p:cNvSpPr/>
          <p:nvPr/>
        </p:nvSpPr>
        <p:spPr>
          <a:xfrm>
            <a:off x="983520" y="3105360"/>
            <a:ext cx="7961400" cy="4118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 MT"/>
                <a:ea typeface="標楷體"/>
              </a:rPr>
              <a:t>sudo curl -ssl https://get.docker.com | sh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2" name="object 7"/>
          <p:cNvSpPr/>
          <p:nvPr/>
        </p:nvSpPr>
        <p:spPr>
          <a:xfrm>
            <a:off x="983520" y="3949560"/>
            <a:ext cx="7961400" cy="12362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sudo groupadd docker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sudo usermod -aG docker $USER</a:t>
            </a:r>
            <a:endParaRPr b="0" lang="en-US" sz="2400" spc="-1" strike="noStrike">
              <a:latin typeface="Arial"/>
            </a:endParaRPr>
          </a:p>
          <a:p>
            <a:pPr marL="230400">
              <a:lnSpc>
                <a:spcPct val="100000"/>
              </a:lnSpc>
              <a:spcBef>
                <a:spcPts val="366"/>
              </a:spcBef>
              <a:buNone/>
              <a:tabLst>
                <a:tab algn="l" pos="3147840"/>
              </a:tabLst>
            </a:pPr>
            <a:r>
              <a:rPr b="0" lang="en-US" sz="2400" spc="4" strike="noStrike">
                <a:solidFill>
                  <a:srgbClr val="a6a6a6"/>
                </a:solidFill>
                <a:latin typeface="Arial MT"/>
                <a:ea typeface="標楷體"/>
              </a:rPr>
              <a:t>$</a:t>
            </a:r>
            <a:r>
              <a:rPr b="0" lang="en-US" sz="2400" spc="58" strike="noStrike">
                <a:solidFill>
                  <a:srgbClr val="a6a6a6"/>
                </a:solidFill>
                <a:latin typeface="Arial MT"/>
                <a:ea typeface="標楷體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標楷體"/>
              </a:rPr>
              <a:t>newgrp docker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Introduction</a:t>
            </a:r>
            <a:r>
              <a:rPr b="1" lang="en-US" sz="3600" spc="-3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to</a:t>
            </a:r>
            <a:r>
              <a:rPr b="1" lang="en-US" sz="3600" spc="-3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3600" spc="-7" strike="noStrike">
                <a:solidFill>
                  <a:srgbClr val="3297fc"/>
                </a:solidFill>
                <a:latin typeface="Calibri"/>
                <a:ea typeface="標楷體"/>
              </a:rPr>
              <a:t>FRRouting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12600">
              <a:lnSpc>
                <a:spcPct val="100000"/>
              </a:lnSpc>
              <a:spcBef>
                <a:spcPts val="505"/>
              </a:spcBef>
              <a:buNone/>
              <a:tabLst>
                <a:tab algn="l" pos="0"/>
              </a:tabLst>
            </a:pP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FRRouting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is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 open-source</a:t>
            </a:r>
            <a:r>
              <a:rPr b="0" lang="en-US" sz="2400" spc="9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software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that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provides routing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services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124200">
              <a:lnSpc>
                <a:spcPct val="100000"/>
              </a:lnSpc>
              <a:spcBef>
                <a:spcPts val="408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Supports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common routing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protocols:</a:t>
            </a:r>
            <a:r>
              <a:rPr b="0" lang="en-US" sz="2400" spc="-15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BGP, OSPF,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RIP,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IS-IS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124200">
              <a:lnSpc>
                <a:spcPct val="100000"/>
              </a:lnSpc>
              <a:spcBef>
                <a:spcPts val="43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62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Consists of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a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core daemon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Zebra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 separate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routing</a:t>
            </a:r>
            <a:r>
              <a:rPr b="1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protocol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daemons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408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Routing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Protocols (daemons)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communicate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their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best</a:t>
            </a:r>
            <a:r>
              <a:rPr b="0" lang="en-US" sz="2400" spc="-12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routes to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Zebra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431"/>
              </a:spcBef>
              <a:buClr>
                <a:srgbClr val="3889f6"/>
              </a:buClr>
              <a:buSzPct val="79000"/>
              <a:buFont typeface="Wingdings" charset="2"/>
              <a:buChar char="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Zebra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computes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best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routes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and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modifies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kernel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1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routing table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through</a:t>
            </a:r>
            <a:r>
              <a:rPr b="0" lang="en-US" sz="2400" spc="4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netlink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354960"/>
                <a:tab algn="l" pos="35568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354960"/>
                <a:tab algn="l" pos="35568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31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DB5560A-6D4A-475F-9E3E-321EC368D0C3}" type="slidenum">
              <a:rPr b="1" lang="en-US" sz="1400" spc="-1" strike="noStrike">
                <a:solidFill>
                  <a:srgbClr val="ffffff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pic>
        <p:nvPicPr>
          <p:cNvPr id="556" name="object 4" descr=""/>
          <p:cNvPicPr/>
          <p:nvPr/>
        </p:nvPicPr>
        <p:blipFill>
          <a:blip r:embed="rId1"/>
          <a:stretch/>
        </p:blipFill>
        <p:spPr>
          <a:xfrm>
            <a:off x="3653640" y="3285000"/>
            <a:ext cx="4884120" cy="2930400"/>
          </a:xfrm>
          <a:prstGeom prst="rect">
            <a:avLst/>
          </a:prstGeom>
          <a:ln w="0">
            <a:noFill/>
          </a:ln>
        </p:spPr>
      </p:pic>
      <p:sp>
        <p:nvSpPr>
          <p:cNvPr id="557" name="直線接點 9"/>
          <p:cNvSpPr/>
          <p:nvPr/>
        </p:nvSpPr>
        <p:spPr>
          <a:xfrm>
            <a:off x="2346120" y="4221000"/>
            <a:ext cx="7314120" cy="360"/>
          </a:xfrm>
          <a:prstGeom prst="line">
            <a:avLst/>
          </a:prstGeom>
          <a:ln w="19050">
            <a:solidFill>
              <a:srgbClr val="98b855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/>
        </p:style>
      </p:sp>
      <p:sp>
        <p:nvSpPr>
          <p:cNvPr id="558" name="object 5"/>
          <p:cNvSpPr/>
          <p:nvPr/>
        </p:nvSpPr>
        <p:spPr>
          <a:xfrm>
            <a:off x="2228400" y="3712680"/>
            <a:ext cx="86364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7320" bIns="0" anchor="t">
            <a:spAutoFit/>
          </a:bodyPr>
          <a:p>
            <a:pPr marL="12600" algn="ctr">
              <a:lnSpc>
                <a:spcPct val="100000"/>
              </a:lnSpc>
              <a:spcBef>
                <a:spcPts val="530"/>
              </a:spcBef>
              <a:buNone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User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9" name="object 5"/>
          <p:cNvSpPr/>
          <p:nvPr/>
        </p:nvSpPr>
        <p:spPr>
          <a:xfrm>
            <a:off x="2346480" y="4221000"/>
            <a:ext cx="863640" cy="79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7320" bIns="0" anchor="t">
            <a:spAutoFit/>
          </a:bodyPr>
          <a:p>
            <a:pPr marL="12600" algn="ctr">
              <a:lnSpc>
                <a:spcPct val="100000"/>
              </a:lnSpc>
              <a:spcBef>
                <a:spcPts val="530"/>
              </a:spcBef>
              <a:buNone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Kernel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60" name="直線箭頭接點 14"/>
          <p:cNvSpPr/>
          <p:nvPr/>
        </p:nvSpPr>
        <p:spPr>
          <a:xfrm>
            <a:off x="7896240" y="4107240"/>
            <a:ext cx="360" cy="664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len="med" type="triangle" w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561" name="object 5"/>
          <p:cNvSpPr/>
          <p:nvPr/>
        </p:nvSpPr>
        <p:spPr>
          <a:xfrm>
            <a:off x="6745680" y="4392000"/>
            <a:ext cx="115776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7320" bIns="0" anchor="t">
            <a:spAutoFit/>
          </a:bodyPr>
          <a:p>
            <a:pPr marL="12600" algn="ctr">
              <a:lnSpc>
                <a:spcPct val="100000"/>
              </a:lnSpc>
              <a:spcBef>
                <a:spcPts val="530"/>
              </a:spcBef>
              <a:buNone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3297fc"/>
                </a:solidFill>
                <a:latin typeface="Calibri"/>
                <a:ea typeface="標楷體"/>
              </a:rPr>
              <a:t>Netlink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Introduction to FIB Pushing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Zebra supports a FIB Push Interface (FPI)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FPI allows an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external component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to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learn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the forwarding information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Forwarding Plane Manager (FPM):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Receives FIB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Decode FIB into routes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Programs forwarding plane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FIB Pushing: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FPM establishes a TCP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  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connection with zebra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88ee"/>
                </a:solidFill>
                <a:latin typeface="Calibri"/>
                <a:ea typeface="標楷體"/>
              </a:rPr>
              <a:t>‒</a:t>
            </a:r>
            <a:r>
              <a:rPr b="0" lang="en-US" sz="2400" spc="157" strike="noStrike">
                <a:solidFill>
                  <a:srgbClr val="0088ee"/>
                </a:solidFill>
                <a:latin typeface="Calibri"/>
                <a:ea typeface="標楷體"/>
              </a:rPr>
              <a:t>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Zebra pushes FIB to FPM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32"/>
          </p:nvPr>
        </p:nvSpPr>
        <p:spPr>
          <a:xfrm>
            <a:off x="10532880" y="6486480"/>
            <a:ext cx="1467360" cy="326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5681A2-0CE6-4812-A07F-FB6521A6DD0F}" type="slidenum">
              <a:rPr b="1" lang="en-US" sz="1400" spc="-1" strike="noStrike">
                <a:solidFill>
                  <a:srgbClr val="3897fc"/>
                </a:solidFill>
                <a:latin typeface="Times New Roman"/>
                <a:ea typeface="新細明體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grpSp>
        <p:nvGrpSpPr>
          <p:cNvPr id="565" name="object 13"/>
          <p:cNvGrpSpPr/>
          <p:nvPr/>
        </p:nvGrpSpPr>
        <p:grpSpPr>
          <a:xfrm>
            <a:off x="5087880" y="2670480"/>
            <a:ext cx="6284880" cy="3408840"/>
            <a:chOff x="5087880" y="2670480"/>
            <a:chExt cx="6284880" cy="3408840"/>
          </a:xfrm>
        </p:grpSpPr>
        <p:sp>
          <p:nvSpPr>
            <p:cNvPr id="566" name="object 14"/>
            <p:cNvSpPr/>
            <p:nvPr/>
          </p:nvSpPr>
          <p:spPr>
            <a:xfrm>
              <a:off x="5092560" y="3661200"/>
              <a:ext cx="2037240" cy="1589760"/>
            </a:xfrm>
            <a:custGeom>
              <a:avLst/>
              <a:gdLst/>
              <a:ahLst/>
              <a:rect l="l" t="t" r="r" b="b"/>
              <a:pathLst>
                <a:path w="2037714" h="1590039">
                  <a:moveTo>
                    <a:pt x="2037587" y="1589532"/>
                  </a:moveTo>
                  <a:lnTo>
                    <a:pt x="0" y="1589532"/>
                  </a:lnTo>
                  <a:lnTo>
                    <a:pt x="0" y="0"/>
                  </a:lnTo>
                  <a:lnTo>
                    <a:pt x="2037587" y="0"/>
                  </a:lnTo>
                  <a:lnTo>
                    <a:pt x="2037587" y="1589532"/>
                  </a:lnTo>
                  <a:close/>
                </a:path>
              </a:pathLst>
            </a:cu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object 15"/>
            <p:cNvSpPr/>
            <p:nvPr/>
          </p:nvSpPr>
          <p:spPr>
            <a:xfrm>
              <a:off x="5087880" y="3657960"/>
              <a:ext cx="2046960" cy="1597320"/>
            </a:xfrm>
            <a:custGeom>
              <a:avLst/>
              <a:gdLst/>
              <a:ahLst/>
              <a:rect l="l" t="t" r="r" b="b"/>
              <a:pathLst>
                <a:path w="2047239" h="1597660">
                  <a:moveTo>
                    <a:pt x="2045208" y="1597152"/>
                  </a:moveTo>
                  <a:lnTo>
                    <a:pt x="3048" y="1597152"/>
                  </a:lnTo>
                  <a:lnTo>
                    <a:pt x="0" y="1594103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2045208" y="0"/>
                  </a:lnTo>
                  <a:lnTo>
                    <a:pt x="2046732" y="1524"/>
                  </a:lnTo>
                  <a:lnTo>
                    <a:pt x="2046732" y="3048"/>
                  </a:ln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lnTo>
                    <a:pt x="9144" y="1588007"/>
                  </a:lnTo>
                  <a:lnTo>
                    <a:pt x="4572" y="1588007"/>
                  </a:lnTo>
                  <a:lnTo>
                    <a:pt x="9144" y="1592580"/>
                  </a:lnTo>
                  <a:lnTo>
                    <a:pt x="2046732" y="1592580"/>
                  </a:lnTo>
                  <a:lnTo>
                    <a:pt x="2046732" y="1594103"/>
                  </a:lnTo>
                  <a:lnTo>
                    <a:pt x="2045208" y="1597152"/>
                  </a:lnTo>
                  <a:close/>
                </a:path>
                <a:path w="2047239" h="1597660">
                  <a:moveTo>
                    <a:pt x="9144" y="7620"/>
                  </a:move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close/>
                </a:path>
                <a:path w="2047239" h="1597660">
                  <a:moveTo>
                    <a:pt x="2039112" y="7620"/>
                  </a:moveTo>
                  <a:lnTo>
                    <a:pt x="9144" y="7620"/>
                  </a:lnTo>
                  <a:lnTo>
                    <a:pt x="9144" y="3048"/>
                  </a:lnTo>
                  <a:lnTo>
                    <a:pt x="2039112" y="3048"/>
                  </a:lnTo>
                  <a:lnTo>
                    <a:pt x="2039112" y="7620"/>
                  </a:lnTo>
                  <a:close/>
                </a:path>
                <a:path w="2047239" h="1597660">
                  <a:moveTo>
                    <a:pt x="2039112" y="1592580"/>
                  </a:moveTo>
                  <a:lnTo>
                    <a:pt x="2039112" y="3048"/>
                  </a:lnTo>
                  <a:lnTo>
                    <a:pt x="2042160" y="7620"/>
                  </a:lnTo>
                  <a:lnTo>
                    <a:pt x="2046732" y="7620"/>
                  </a:lnTo>
                  <a:lnTo>
                    <a:pt x="2046732" y="1588007"/>
                  </a:lnTo>
                  <a:lnTo>
                    <a:pt x="2042160" y="1588007"/>
                  </a:lnTo>
                  <a:lnTo>
                    <a:pt x="2039112" y="1592580"/>
                  </a:lnTo>
                  <a:close/>
                </a:path>
                <a:path w="2047239" h="1597660">
                  <a:moveTo>
                    <a:pt x="2046732" y="7620"/>
                  </a:moveTo>
                  <a:lnTo>
                    <a:pt x="2042160" y="7620"/>
                  </a:lnTo>
                  <a:lnTo>
                    <a:pt x="2039112" y="3048"/>
                  </a:lnTo>
                  <a:lnTo>
                    <a:pt x="2046732" y="3048"/>
                  </a:lnTo>
                  <a:lnTo>
                    <a:pt x="2046732" y="7620"/>
                  </a:lnTo>
                  <a:close/>
                </a:path>
                <a:path w="2047239" h="1597660">
                  <a:moveTo>
                    <a:pt x="9144" y="1592580"/>
                  </a:moveTo>
                  <a:lnTo>
                    <a:pt x="4572" y="1588007"/>
                  </a:lnTo>
                  <a:lnTo>
                    <a:pt x="9144" y="1588007"/>
                  </a:lnTo>
                  <a:lnTo>
                    <a:pt x="9144" y="1592580"/>
                  </a:lnTo>
                  <a:close/>
                </a:path>
                <a:path w="2047239" h="1597660">
                  <a:moveTo>
                    <a:pt x="2039112" y="1592580"/>
                  </a:moveTo>
                  <a:lnTo>
                    <a:pt x="9144" y="1592580"/>
                  </a:lnTo>
                  <a:lnTo>
                    <a:pt x="9144" y="1588007"/>
                  </a:lnTo>
                  <a:lnTo>
                    <a:pt x="2039112" y="1588007"/>
                  </a:lnTo>
                  <a:lnTo>
                    <a:pt x="2039112" y="1592580"/>
                  </a:lnTo>
                  <a:close/>
                </a:path>
                <a:path w="2047239" h="1597660">
                  <a:moveTo>
                    <a:pt x="2046732" y="1592580"/>
                  </a:moveTo>
                  <a:lnTo>
                    <a:pt x="2039112" y="1592580"/>
                  </a:lnTo>
                  <a:lnTo>
                    <a:pt x="2042160" y="1588007"/>
                  </a:lnTo>
                  <a:lnTo>
                    <a:pt x="2046732" y="1588007"/>
                  </a:lnTo>
                  <a:lnTo>
                    <a:pt x="2046732" y="15925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object 16"/>
            <p:cNvSpPr/>
            <p:nvPr/>
          </p:nvSpPr>
          <p:spPr>
            <a:xfrm>
              <a:off x="8213760" y="2675160"/>
              <a:ext cx="3154320" cy="3400200"/>
            </a:xfrm>
            <a:custGeom>
              <a:avLst/>
              <a:gdLst/>
              <a:ahLst/>
              <a:rect l="l" t="t" r="r" b="b"/>
              <a:pathLst>
                <a:path w="3154679" h="3400425">
                  <a:moveTo>
                    <a:pt x="3154680" y="3400044"/>
                  </a:moveTo>
                  <a:lnTo>
                    <a:pt x="0" y="3400044"/>
                  </a:lnTo>
                  <a:lnTo>
                    <a:pt x="0" y="0"/>
                  </a:lnTo>
                  <a:lnTo>
                    <a:pt x="3154680" y="0"/>
                  </a:lnTo>
                  <a:lnTo>
                    <a:pt x="3154680" y="3400044"/>
                  </a:lnTo>
                  <a:close/>
                </a:path>
              </a:pathLst>
            </a:cu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object 17"/>
            <p:cNvSpPr/>
            <p:nvPr/>
          </p:nvSpPr>
          <p:spPr>
            <a:xfrm>
              <a:off x="8209080" y="2670480"/>
              <a:ext cx="3163680" cy="3408840"/>
            </a:xfrm>
            <a:custGeom>
              <a:avLst/>
              <a:gdLst/>
              <a:ahLst/>
              <a:rect l="l" t="t" r="r" b="b"/>
              <a:pathLst>
                <a:path w="3164204" h="3409315">
                  <a:moveTo>
                    <a:pt x="3162300" y="3409188"/>
                  </a:moveTo>
                  <a:lnTo>
                    <a:pt x="1524" y="3409188"/>
                  </a:lnTo>
                  <a:lnTo>
                    <a:pt x="0" y="3406140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3162300" y="0"/>
                  </a:lnTo>
                  <a:lnTo>
                    <a:pt x="3163824" y="3048"/>
                  </a:lnTo>
                  <a:lnTo>
                    <a:pt x="3163824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3400044"/>
                  </a:lnTo>
                  <a:lnTo>
                    <a:pt x="4572" y="3400044"/>
                  </a:lnTo>
                  <a:lnTo>
                    <a:pt x="9144" y="3404616"/>
                  </a:lnTo>
                  <a:lnTo>
                    <a:pt x="3163824" y="3404616"/>
                  </a:lnTo>
                  <a:lnTo>
                    <a:pt x="3163824" y="3406140"/>
                  </a:lnTo>
                  <a:lnTo>
                    <a:pt x="3162300" y="3409188"/>
                  </a:lnTo>
                  <a:close/>
                </a:path>
                <a:path w="3164204" h="340931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3164204" h="3409315">
                  <a:moveTo>
                    <a:pt x="3154680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3154680" y="4572"/>
                  </a:lnTo>
                  <a:lnTo>
                    <a:pt x="3154680" y="9144"/>
                  </a:lnTo>
                  <a:close/>
                </a:path>
                <a:path w="3164204" h="3409315">
                  <a:moveTo>
                    <a:pt x="3154680" y="3404616"/>
                  </a:moveTo>
                  <a:lnTo>
                    <a:pt x="3154680" y="4572"/>
                  </a:lnTo>
                  <a:lnTo>
                    <a:pt x="3159252" y="9144"/>
                  </a:lnTo>
                  <a:lnTo>
                    <a:pt x="3163824" y="9144"/>
                  </a:lnTo>
                  <a:lnTo>
                    <a:pt x="3163824" y="3400044"/>
                  </a:lnTo>
                  <a:lnTo>
                    <a:pt x="3159252" y="3400044"/>
                  </a:lnTo>
                  <a:lnTo>
                    <a:pt x="3154680" y="3404616"/>
                  </a:lnTo>
                  <a:close/>
                </a:path>
                <a:path w="3164204" h="3409315">
                  <a:moveTo>
                    <a:pt x="3163824" y="9144"/>
                  </a:moveTo>
                  <a:lnTo>
                    <a:pt x="3159252" y="9144"/>
                  </a:lnTo>
                  <a:lnTo>
                    <a:pt x="3154680" y="4572"/>
                  </a:lnTo>
                  <a:lnTo>
                    <a:pt x="3163824" y="4572"/>
                  </a:lnTo>
                  <a:lnTo>
                    <a:pt x="3163824" y="9144"/>
                  </a:lnTo>
                  <a:close/>
                </a:path>
                <a:path w="3164204" h="3409315">
                  <a:moveTo>
                    <a:pt x="9144" y="3404616"/>
                  </a:moveTo>
                  <a:lnTo>
                    <a:pt x="4572" y="3400044"/>
                  </a:lnTo>
                  <a:lnTo>
                    <a:pt x="9144" y="3400044"/>
                  </a:lnTo>
                  <a:lnTo>
                    <a:pt x="9144" y="3404616"/>
                  </a:lnTo>
                  <a:close/>
                </a:path>
                <a:path w="3164204" h="3409315">
                  <a:moveTo>
                    <a:pt x="3154680" y="3404616"/>
                  </a:moveTo>
                  <a:lnTo>
                    <a:pt x="9144" y="3404616"/>
                  </a:lnTo>
                  <a:lnTo>
                    <a:pt x="9144" y="3400044"/>
                  </a:lnTo>
                  <a:lnTo>
                    <a:pt x="3154680" y="3400044"/>
                  </a:lnTo>
                  <a:lnTo>
                    <a:pt x="3154680" y="3404616"/>
                  </a:lnTo>
                  <a:close/>
                </a:path>
                <a:path w="3164204" h="3409315">
                  <a:moveTo>
                    <a:pt x="3163824" y="3404616"/>
                  </a:moveTo>
                  <a:lnTo>
                    <a:pt x="3154680" y="3404616"/>
                  </a:lnTo>
                  <a:lnTo>
                    <a:pt x="3159252" y="3400044"/>
                  </a:lnTo>
                  <a:lnTo>
                    <a:pt x="3163824" y="3400044"/>
                  </a:lnTo>
                  <a:lnTo>
                    <a:pt x="3163824" y="340461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object 18"/>
            <p:cNvSpPr/>
            <p:nvPr/>
          </p:nvSpPr>
          <p:spPr>
            <a:xfrm>
              <a:off x="6986880" y="4168440"/>
              <a:ext cx="2253960" cy="126720"/>
            </a:xfrm>
            <a:custGeom>
              <a:avLst/>
              <a:gdLst/>
              <a:ahLst/>
              <a:rect l="l" t="t" r="r" b="b"/>
              <a:pathLst>
                <a:path w="2254250" h="127000">
                  <a:moveTo>
                    <a:pt x="2153923" y="33729"/>
                  </a:moveTo>
                  <a:lnTo>
                    <a:pt x="2153412" y="0"/>
                  </a:lnTo>
                  <a:lnTo>
                    <a:pt x="2220468" y="33528"/>
                  </a:lnTo>
                  <a:lnTo>
                    <a:pt x="2170176" y="33528"/>
                  </a:lnTo>
                  <a:lnTo>
                    <a:pt x="2153923" y="33729"/>
                  </a:lnTo>
                  <a:close/>
                </a:path>
                <a:path w="2254250" h="127000">
                  <a:moveTo>
                    <a:pt x="100583" y="126492"/>
                  </a:moveTo>
                  <a:lnTo>
                    <a:pt x="0" y="77724"/>
                  </a:lnTo>
                  <a:lnTo>
                    <a:pt x="100583" y="25908"/>
                  </a:lnTo>
                  <a:lnTo>
                    <a:pt x="100583" y="59227"/>
                  </a:lnTo>
                  <a:lnTo>
                    <a:pt x="83820" y="59436"/>
                  </a:lnTo>
                  <a:lnTo>
                    <a:pt x="83820" y="92964"/>
                  </a:lnTo>
                  <a:lnTo>
                    <a:pt x="100583" y="92964"/>
                  </a:lnTo>
                  <a:lnTo>
                    <a:pt x="100583" y="126492"/>
                  </a:lnTo>
                  <a:close/>
                </a:path>
                <a:path w="2254250" h="127000">
                  <a:moveTo>
                    <a:pt x="2154430" y="67251"/>
                  </a:moveTo>
                  <a:lnTo>
                    <a:pt x="2153923" y="33729"/>
                  </a:lnTo>
                  <a:lnTo>
                    <a:pt x="2170176" y="33528"/>
                  </a:lnTo>
                  <a:lnTo>
                    <a:pt x="2170176" y="67056"/>
                  </a:lnTo>
                  <a:lnTo>
                    <a:pt x="2154430" y="67251"/>
                  </a:lnTo>
                  <a:close/>
                </a:path>
                <a:path w="2254250" h="127000">
                  <a:moveTo>
                    <a:pt x="2154936" y="100584"/>
                  </a:moveTo>
                  <a:lnTo>
                    <a:pt x="2154430" y="67251"/>
                  </a:lnTo>
                  <a:lnTo>
                    <a:pt x="2170176" y="67056"/>
                  </a:lnTo>
                  <a:lnTo>
                    <a:pt x="2170176" y="33528"/>
                  </a:lnTo>
                  <a:lnTo>
                    <a:pt x="2220468" y="33528"/>
                  </a:lnTo>
                  <a:lnTo>
                    <a:pt x="2253996" y="50292"/>
                  </a:lnTo>
                  <a:lnTo>
                    <a:pt x="2154936" y="100584"/>
                  </a:lnTo>
                  <a:close/>
                </a:path>
                <a:path w="2254250" h="127000">
                  <a:moveTo>
                    <a:pt x="100583" y="92755"/>
                  </a:moveTo>
                  <a:lnTo>
                    <a:pt x="100583" y="59227"/>
                  </a:lnTo>
                  <a:lnTo>
                    <a:pt x="2153923" y="33729"/>
                  </a:lnTo>
                  <a:lnTo>
                    <a:pt x="2154430" y="67251"/>
                  </a:lnTo>
                  <a:lnTo>
                    <a:pt x="100583" y="92755"/>
                  </a:lnTo>
                  <a:close/>
                </a:path>
                <a:path w="2254250" h="127000">
                  <a:moveTo>
                    <a:pt x="83820" y="92964"/>
                  </a:moveTo>
                  <a:lnTo>
                    <a:pt x="83820" y="59436"/>
                  </a:lnTo>
                  <a:lnTo>
                    <a:pt x="100583" y="59227"/>
                  </a:lnTo>
                  <a:lnTo>
                    <a:pt x="100583" y="92755"/>
                  </a:lnTo>
                  <a:lnTo>
                    <a:pt x="83820" y="92964"/>
                  </a:lnTo>
                  <a:close/>
                </a:path>
                <a:path w="2254250" h="127000">
                  <a:moveTo>
                    <a:pt x="100583" y="92964"/>
                  </a:moveTo>
                  <a:lnTo>
                    <a:pt x="83820" y="92964"/>
                  </a:lnTo>
                  <a:lnTo>
                    <a:pt x="100583" y="92755"/>
                  </a:lnTo>
                  <a:lnTo>
                    <a:pt x="100583" y="92964"/>
                  </a:lnTo>
                  <a:close/>
                </a:path>
              </a:pathLst>
            </a:custGeom>
            <a:solidFill>
              <a:srgbClr val="0070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object 19"/>
            <p:cNvSpPr/>
            <p:nvPr/>
          </p:nvSpPr>
          <p:spPr>
            <a:xfrm>
              <a:off x="5250960" y="4014720"/>
              <a:ext cx="1735560" cy="463320"/>
            </a:xfrm>
            <a:custGeom>
              <a:avLst/>
              <a:gdLst/>
              <a:ahLst/>
              <a:rect l="l" t="t" r="r" b="b"/>
              <a:pathLst>
                <a:path w="1736089" h="463550">
                  <a:moveTo>
                    <a:pt x="1735835" y="463295"/>
                  </a:moveTo>
                  <a:lnTo>
                    <a:pt x="0" y="463295"/>
                  </a:lnTo>
                  <a:lnTo>
                    <a:pt x="0" y="0"/>
                  </a:lnTo>
                  <a:lnTo>
                    <a:pt x="1735835" y="0"/>
                  </a:lnTo>
                  <a:lnTo>
                    <a:pt x="1735835" y="463295"/>
                  </a:lnTo>
                  <a:close/>
                </a:path>
              </a:pathLst>
            </a:custGeom>
            <a:solidFill>
              <a:srgbClr val="e4f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object 20"/>
            <p:cNvSpPr/>
            <p:nvPr/>
          </p:nvSpPr>
          <p:spPr>
            <a:xfrm>
              <a:off x="5238720" y="4001040"/>
              <a:ext cx="1760040" cy="489240"/>
            </a:xfrm>
            <a:custGeom>
              <a:avLst/>
              <a:gdLst/>
              <a:ahLst/>
              <a:rect l="l" t="t" r="r" b="b"/>
              <a:pathLst>
                <a:path w="1760220" h="489585">
                  <a:moveTo>
                    <a:pt x="1755648" y="489203"/>
                  </a:moveTo>
                  <a:lnTo>
                    <a:pt x="6096" y="489203"/>
                  </a:lnTo>
                  <a:lnTo>
                    <a:pt x="0" y="483108"/>
                  </a:lnTo>
                  <a:lnTo>
                    <a:pt x="0" y="6096"/>
                  </a:lnTo>
                  <a:lnTo>
                    <a:pt x="6096" y="0"/>
                  </a:lnTo>
                  <a:lnTo>
                    <a:pt x="1755648" y="0"/>
                  </a:lnTo>
                  <a:lnTo>
                    <a:pt x="1760220" y="6096"/>
                  </a:lnTo>
                  <a:lnTo>
                    <a:pt x="1760220" y="13716"/>
                  </a:lnTo>
                  <a:lnTo>
                    <a:pt x="24384" y="13716"/>
                  </a:lnTo>
                  <a:lnTo>
                    <a:pt x="12192" y="25908"/>
                  </a:lnTo>
                  <a:lnTo>
                    <a:pt x="24384" y="25908"/>
                  </a:lnTo>
                  <a:lnTo>
                    <a:pt x="24384" y="464820"/>
                  </a:lnTo>
                  <a:lnTo>
                    <a:pt x="12192" y="464820"/>
                  </a:lnTo>
                  <a:lnTo>
                    <a:pt x="24384" y="477012"/>
                  </a:lnTo>
                  <a:lnTo>
                    <a:pt x="1760220" y="477012"/>
                  </a:lnTo>
                  <a:lnTo>
                    <a:pt x="1760220" y="483108"/>
                  </a:lnTo>
                  <a:lnTo>
                    <a:pt x="1755648" y="489203"/>
                  </a:lnTo>
                  <a:close/>
                </a:path>
                <a:path w="1760220" h="489585">
                  <a:moveTo>
                    <a:pt x="24384" y="25908"/>
                  </a:moveTo>
                  <a:lnTo>
                    <a:pt x="12192" y="25908"/>
                  </a:lnTo>
                  <a:lnTo>
                    <a:pt x="24384" y="13716"/>
                  </a:lnTo>
                  <a:lnTo>
                    <a:pt x="24384" y="25908"/>
                  </a:lnTo>
                  <a:close/>
                </a:path>
                <a:path w="1760220" h="489585">
                  <a:moveTo>
                    <a:pt x="1735836" y="25908"/>
                  </a:moveTo>
                  <a:lnTo>
                    <a:pt x="24384" y="25908"/>
                  </a:lnTo>
                  <a:lnTo>
                    <a:pt x="24384" y="13716"/>
                  </a:lnTo>
                  <a:lnTo>
                    <a:pt x="1735836" y="13716"/>
                  </a:lnTo>
                  <a:lnTo>
                    <a:pt x="1735836" y="25908"/>
                  </a:lnTo>
                  <a:close/>
                </a:path>
                <a:path w="1760220" h="489585">
                  <a:moveTo>
                    <a:pt x="1735836" y="477012"/>
                  </a:moveTo>
                  <a:lnTo>
                    <a:pt x="1735836" y="13716"/>
                  </a:lnTo>
                  <a:lnTo>
                    <a:pt x="1748028" y="25908"/>
                  </a:lnTo>
                  <a:lnTo>
                    <a:pt x="1760220" y="25908"/>
                  </a:lnTo>
                  <a:lnTo>
                    <a:pt x="1760220" y="464820"/>
                  </a:lnTo>
                  <a:lnTo>
                    <a:pt x="1748028" y="464820"/>
                  </a:lnTo>
                  <a:lnTo>
                    <a:pt x="1735836" y="477012"/>
                  </a:lnTo>
                  <a:close/>
                </a:path>
                <a:path w="1760220" h="489585">
                  <a:moveTo>
                    <a:pt x="1760220" y="25908"/>
                  </a:moveTo>
                  <a:lnTo>
                    <a:pt x="1748028" y="25908"/>
                  </a:lnTo>
                  <a:lnTo>
                    <a:pt x="1735836" y="13716"/>
                  </a:lnTo>
                  <a:lnTo>
                    <a:pt x="1760220" y="13716"/>
                  </a:lnTo>
                  <a:lnTo>
                    <a:pt x="1760220" y="25908"/>
                  </a:lnTo>
                  <a:close/>
                </a:path>
                <a:path w="1760220" h="489585">
                  <a:moveTo>
                    <a:pt x="24384" y="477012"/>
                  </a:moveTo>
                  <a:lnTo>
                    <a:pt x="12192" y="464820"/>
                  </a:lnTo>
                  <a:lnTo>
                    <a:pt x="24384" y="464820"/>
                  </a:lnTo>
                  <a:lnTo>
                    <a:pt x="24384" y="477012"/>
                  </a:lnTo>
                  <a:close/>
                </a:path>
                <a:path w="1760220" h="489585">
                  <a:moveTo>
                    <a:pt x="1735836" y="477012"/>
                  </a:moveTo>
                  <a:lnTo>
                    <a:pt x="24384" y="477012"/>
                  </a:lnTo>
                  <a:lnTo>
                    <a:pt x="24384" y="464820"/>
                  </a:lnTo>
                  <a:lnTo>
                    <a:pt x="1735836" y="464820"/>
                  </a:lnTo>
                  <a:lnTo>
                    <a:pt x="1735836" y="477012"/>
                  </a:lnTo>
                  <a:close/>
                </a:path>
                <a:path w="1760220" h="489585">
                  <a:moveTo>
                    <a:pt x="1760220" y="477012"/>
                  </a:moveTo>
                  <a:lnTo>
                    <a:pt x="1735836" y="477012"/>
                  </a:lnTo>
                  <a:lnTo>
                    <a:pt x="1748028" y="464820"/>
                  </a:lnTo>
                  <a:lnTo>
                    <a:pt x="1760220" y="464820"/>
                  </a:lnTo>
                  <a:lnTo>
                    <a:pt x="1760220" y="477012"/>
                  </a:lnTo>
                  <a:close/>
                </a:path>
              </a:pathLst>
            </a:custGeom>
            <a:solidFill>
              <a:srgbClr val="243f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73" name="object 22"/>
          <p:cNvSpPr/>
          <p:nvPr/>
        </p:nvSpPr>
        <p:spPr>
          <a:xfrm>
            <a:off x="11246040" y="6240600"/>
            <a:ext cx="1807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en-US" sz="1200" spc="9" strike="noStrike">
                <a:solidFill>
                  <a:srgbClr val="ffffff"/>
                </a:solidFill>
                <a:latin typeface="Times New Roman"/>
                <a:ea typeface="標楷體"/>
              </a:rPr>
              <a:t>10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4" name="object 23"/>
          <p:cNvSpPr/>
          <p:nvPr/>
        </p:nvSpPr>
        <p:spPr>
          <a:xfrm>
            <a:off x="5250960" y="4014720"/>
            <a:ext cx="173556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4920" bIns="0" anchor="t">
            <a:spAutoFit/>
          </a:bodyPr>
          <a:p>
            <a:pPr marL="566280">
              <a:lnSpc>
                <a:spcPct val="100000"/>
              </a:lnSpc>
              <a:spcBef>
                <a:spcPts val="275"/>
              </a:spcBef>
              <a:buNone/>
            </a:pPr>
            <a:r>
              <a:rPr b="1" lang="en-US" sz="2100" spc="-7" strike="noStrike">
                <a:solidFill>
                  <a:srgbClr val="f68016"/>
                </a:solidFill>
                <a:latin typeface="Calibri"/>
                <a:ea typeface="標楷體"/>
              </a:rPr>
              <a:t>FPM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575" name="object 24"/>
          <p:cNvGrpSpPr/>
          <p:nvPr/>
        </p:nvGrpSpPr>
        <p:grpSpPr>
          <a:xfrm>
            <a:off x="5270760" y="4478040"/>
            <a:ext cx="1716120" cy="939960"/>
            <a:chOff x="5270760" y="4478040"/>
            <a:chExt cx="1716120" cy="939960"/>
          </a:xfrm>
        </p:grpSpPr>
        <p:sp>
          <p:nvSpPr>
            <p:cNvPr id="576" name="object 25"/>
            <p:cNvSpPr/>
            <p:nvPr/>
          </p:nvSpPr>
          <p:spPr>
            <a:xfrm>
              <a:off x="6069240" y="4478040"/>
              <a:ext cx="100440" cy="939960"/>
            </a:xfrm>
            <a:custGeom>
              <a:avLst/>
              <a:gdLst/>
              <a:ahLst/>
              <a:rect l="l" t="t" r="r" b="b"/>
              <a:pathLst>
                <a:path w="100964" h="940435">
                  <a:moveTo>
                    <a:pt x="33528" y="100584"/>
                  </a:moveTo>
                  <a:lnTo>
                    <a:pt x="0" y="100584"/>
                  </a:lnTo>
                  <a:lnTo>
                    <a:pt x="50292" y="0"/>
                  </a:lnTo>
                  <a:lnTo>
                    <a:pt x="92202" y="83820"/>
                  </a:lnTo>
                  <a:lnTo>
                    <a:pt x="33528" y="83820"/>
                  </a:lnTo>
                  <a:lnTo>
                    <a:pt x="33528" y="100584"/>
                  </a:lnTo>
                  <a:close/>
                </a:path>
                <a:path w="100964" h="940435">
                  <a:moveTo>
                    <a:pt x="67056" y="856488"/>
                  </a:moveTo>
                  <a:lnTo>
                    <a:pt x="33528" y="856488"/>
                  </a:lnTo>
                  <a:lnTo>
                    <a:pt x="33528" y="83820"/>
                  </a:lnTo>
                  <a:lnTo>
                    <a:pt x="67056" y="83820"/>
                  </a:lnTo>
                  <a:lnTo>
                    <a:pt x="67056" y="856488"/>
                  </a:lnTo>
                  <a:close/>
                </a:path>
                <a:path w="100964" h="940435">
                  <a:moveTo>
                    <a:pt x="100584" y="100584"/>
                  </a:moveTo>
                  <a:lnTo>
                    <a:pt x="67056" y="100584"/>
                  </a:lnTo>
                  <a:lnTo>
                    <a:pt x="67056" y="83820"/>
                  </a:lnTo>
                  <a:lnTo>
                    <a:pt x="92202" y="83820"/>
                  </a:lnTo>
                  <a:lnTo>
                    <a:pt x="100584" y="100584"/>
                  </a:lnTo>
                  <a:close/>
                </a:path>
                <a:path w="100964" h="940435">
                  <a:moveTo>
                    <a:pt x="50292" y="940308"/>
                  </a:moveTo>
                  <a:lnTo>
                    <a:pt x="0" y="839724"/>
                  </a:lnTo>
                  <a:lnTo>
                    <a:pt x="33528" y="839724"/>
                  </a:lnTo>
                  <a:lnTo>
                    <a:pt x="33528" y="856488"/>
                  </a:lnTo>
                  <a:lnTo>
                    <a:pt x="92201" y="856488"/>
                  </a:lnTo>
                  <a:lnTo>
                    <a:pt x="50292" y="940308"/>
                  </a:lnTo>
                  <a:close/>
                </a:path>
                <a:path w="100964" h="940435">
                  <a:moveTo>
                    <a:pt x="92201" y="856488"/>
                  </a:moveTo>
                  <a:lnTo>
                    <a:pt x="67056" y="856488"/>
                  </a:lnTo>
                  <a:lnTo>
                    <a:pt x="67056" y="839724"/>
                  </a:lnTo>
                  <a:lnTo>
                    <a:pt x="100584" y="839724"/>
                  </a:lnTo>
                  <a:lnTo>
                    <a:pt x="92201" y="8564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77" name="object 26" descr=""/>
            <p:cNvPicPr/>
            <p:nvPr/>
          </p:nvPicPr>
          <p:blipFill>
            <a:blip r:embed="rId1"/>
            <a:stretch/>
          </p:blipFill>
          <p:spPr>
            <a:xfrm>
              <a:off x="5275440" y="4637880"/>
              <a:ext cx="1704960" cy="511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78" name="object 27"/>
            <p:cNvSpPr/>
            <p:nvPr/>
          </p:nvSpPr>
          <p:spPr>
            <a:xfrm>
              <a:off x="5270760" y="4631760"/>
              <a:ext cx="1716120" cy="527400"/>
            </a:xfrm>
            <a:custGeom>
              <a:avLst/>
              <a:gdLst/>
              <a:ahLst/>
              <a:rect l="l" t="t" r="r" b="b"/>
              <a:pathLst>
                <a:path w="1716404" h="527685">
                  <a:moveTo>
                    <a:pt x="12192" y="515112"/>
                  </a:moveTo>
                  <a:lnTo>
                    <a:pt x="0" y="515112"/>
                  </a:lnTo>
                  <a:lnTo>
                    <a:pt x="0" y="414528"/>
                  </a:lnTo>
                  <a:lnTo>
                    <a:pt x="24384" y="414528"/>
                  </a:lnTo>
                  <a:lnTo>
                    <a:pt x="24384" y="502920"/>
                  </a:lnTo>
                  <a:lnTo>
                    <a:pt x="12192" y="502920"/>
                  </a:lnTo>
                  <a:lnTo>
                    <a:pt x="12192" y="515112"/>
                  </a:lnTo>
                  <a:close/>
                </a:path>
                <a:path w="1716404" h="527685">
                  <a:moveTo>
                    <a:pt x="13716" y="527304"/>
                  </a:moveTo>
                  <a:lnTo>
                    <a:pt x="12192" y="527304"/>
                  </a:lnTo>
                  <a:lnTo>
                    <a:pt x="12192" y="502920"/>
                  </a:lnTo>
                  <a:lnTo>
                    <a:pt x="13716" y="502920"/>
                  </a:lnTo>
                  <a:lnTo>
                    <a:pt x="13716" y="527304"/>
                  </a:lnTo>
                  <a:close/>
                </a:path>
                <a:path w="1716404" h="527685">
                  <a:moveTo>
                    <a:pt x="24384" y="515112"/>
                  </a:moveTo>
                  <a:lnTo>
                    <a:pt x="13716" y="515112"/>
                  </a:lnTo>
                  <a:lnTo>
                    <a:pt x="13716" y="502920"/>
                  </a:lnTo>
                  <a:lnTo>
                    <a:pt x="24384" y="502920"/>
                  </a:lnTo>
                  <a:lnTo>
                    <a:pt x="24384" y="515112"/>
                  </a:lnTo>
                  <a:close/>
                </a:path>
                <a:path w="1716404" h="527685">
                  <a:moveTo>
                    <a:pt x="24384" y="339852"/>
                  </a:moveTo>
                  <a:lnTo>
                    <a:pt x="0" y="339852"/>
                  </a:lnTo>
                  <a:lnTo>
                    <a:pt x="0" y="239268"/>
                  </a:lnTo>
                  <a:lnTo>
                    <a:pt x="24384" y="239268"/>
                  </a:lnTo>
                  <a:lnTo>
                    <a:pt x="24384" y="339852"/>
                  </a:lnTo>
                  <a:close/>
                </a:path>
                <a:path w="1716404" h="527685">
                  <a:moveTo>
                    <a:pt x="24384" y="164592"/>
                  </a:moveTo>
                  <a:lnTo>
                    <a:pt x="0" y="164592"/>
                  </a:lnTo>
                  <a:lnTo>
                    <a:pt x="0" y="64008"/>
                  </a:lnTo>
                  <a:lnTo>
                    <a:pt x="24384" y="64008"/>
                  </a:lnTo>
                  <a:lnTo>
                    <a:pt x="24384" y="164592"/>
                  </a:lnTo>
                  <a:close/>
                </a:path>
                <a:path w="1716404" h="527685">
                  <a:moveTo>
                    <a:pt x="137160" y="25908"/>
                  </a:moveTo>
                  <a:lnTo>
                    <a:pt x="36576" y="25908"/>
                  </a:lnTo>
                  <a:lnTo>
                    <a:pt x="36576" y="0"/>
                  </a:lnTo>
                  <a:lnTo>
                    <a:pt x="137160" y="0"/>
                  </a:lnTo>
                  <a:lnTo>
                    <a:pt x="137160" y="25908"/>
                  </a:lnTo>
                  <a:close/>
                </a:path>
                <a:path w="1716404" h="527685">
                  <a:moveTo>
                    <a:pt x="312419" y="25908"/>
                  </a:moveTo>
                  <a:lnTo>
                    <a:pt x="211836" y="25908"/>
                  </a:lnTo>
                  <a:lnTo>
                    <a:pt x="211836" y="0"/>
                  </a:lnTo>
                  <a:lnTo>
                    <a:pt x="312419" y="0"/>
                  </a:lnTo>
                  <a:lnTo>
                    <a:pt x="312419" y="25908"/>
                  </a:lnTo>
                  <a:close/>
                </a:path>
                <a:path w="1716404" h="527685">
                  <a:moveTo>
                    <a:pt x="487680" y="25908"/>
                  </a:moveTo>
                  <a:lnTo>
                    <a:pt x="387096" y="25908"/>
                  </a:lnTo>
                  <a:lnTo>
                    <a:pt x="387096" y="0"/>
                  </a:lnTo>
                  <a:lnTo>
                    <a:pt x="487680" y="0"/>
                  </a:lnTo>
                  <a:lnTo>
                    <a:pt x="487680" y="25908"/>
                  </a:lnTo>
                  <a:close/>
                </a:path>
                <a:path w="1716404" h="527685">
                  <a:moveTo>
                    <a:pt x="662940" y="25908"/>
                  </a:moveTo>
                  <a:lnTo>
                    <a:pt x="562356" y="25908"/>
                  </a:lnTo>
                  <a:lnTo>
                    <a:pt x="562356" y="0"/>
                  </a:lnTo>
                  <a:lnTo>
                    <a:pt x="662940" y="0"/>
                  </a:lnTo>
                  <a:lnTo>
                    <a:pt x="662940" y="25908"/>
                  </a:lnTo>
                  <a:close/>
                </a:path>
                <a:path w="1716404" h="527685">
                  <a:moveTo>
                    <a:pt x="838200" y="25908"/>
                  </a:moveTo>
                  <a:lnTo>
                    <a:pt x="737616" y="25908"/>
                  </a:lnTo>
                  <a:lnTo>
                    <a:pt x="737616" y="0"/>
                  </a:lnTo>
                  <a:lnTo>
                    <a:pt x="838200" y="0"/>
                  </a:lnTo>
                  <a:lnTo>
                    <a:pt x="838200" y="25908"/>
                  </a:lnTo>
                  <a:close/>
                </a:path>
                <a:path w="1716404" h="527685">
                  <a:moveTo>
                    <a:pt x="1013460" y="25908"/>
                  </a:moveTo>
                  <a:lnTo>
                    <a:pt x="914400" y="25908"/>
                  </a:lnTo>
                  <a:lnTo>
                    <a:pt x="914400" y="0"/>
                  </a:lnTo>
                  <a:lnTo>
                    <a:pt x="1013460" y="0"/>
                  </a:lnTo>
                  <a:lnTo>
                    <a:pt x="1013460" y="25908"/>
                  </a:lnTo>
                  <a:close/>
                </a:path>
                <a:path w="1716404" h="527685">
                  <a:moveTo>
                    <a:pt x="1188720" y="25908"/>
                  </a:moveTo>
                  <a:lnTo>
                    <a:pt x="1089660" y="25908"/>
                  </a:lnTo>
                  <a:lnTo>
                    <a:pt x="1089660" y="0"/>
                  </a:lnTo>
                  <a:lnTo>
                    <a:pt x="1188720" y="0"/>
                  </a:lnTo>
                  <a:lnTo>
                    <a:pt x="1188720" y="25908"/>
                  </a:lnTo>
                  <a:close/>
                </a:path>
                <a:path w="1716404" h="527685">
                  <a:moveTo>
                    <a:pt x="1363980" y="25908"/>
                  </a:moveTo>
                  <a:lnTo>
                    <a:pt x="1264920" y="25908"/>
                  </a:lnTo>
                  <a:lnTo>
                    <a:pt x="1264920" y="0"/>
                  </a:lnTo>
                  <a:lnTo>
                    <a:pt x="1363980" y="0"/>
                  </a:lnTo>
                  <a:lnTo>
                    <a:pt x="1363980" y="25908"/>
                  </a:lnTo>
                  <a:close/>
                </a:path>
                <a:path w="1716404" h="527685">
                  <a:moveTo>
                    <a:pt x="1540763" y="25908"/>
                  </a:moveTo>
                  <a:lnTo>
                    <a:pt x="1440180" y="25908"/>
                  </a:lnTo>
                  <a:lnTo>
                    <a:pt x="1440180" y="0"/>
                  </a:lnTo>
                  <a:lnTo>
                    <a:pt x="1540763" y="0"/>
                  </a:lnTo>
                  <a:lnTo>
                    <a:pt x="1540763" y="25908"/>
                  </a:lnTo>
                  <a:close/>
                </a:path>
                <a:path w="1716404" h="527685">
                  <a:moveTo>
                    <a:pt x="1703832" y="25908"/>
                  </a:moveTo>
                  <a:lnTo>
                    <a:pt x="1615440" y="25908"/>
                  </a:lnTo>
                  <a:lnTo>
                    <a:pt x="1615440" y="0"/>
                  </a:lnTo>
                  <a:lnTo>
                    <a:pt x="1711451" y="0"/>
                  </a:lnTo>
                  <a:lnTo>
                    <a:pt x="1716024" y="6096"/>
                  </a:lnTo>
                  <a:lnTo>
                    <a:pt x="1716024" y="13716"/>
                  </a:lnTo>
                  <a:lnTo>
                    <a:pt x="1691640" y="13716"/>
                  </a:lnTo>
                  <a:lnTo>
                    <a:pt x="1691640" y="24384"/>
                  </a:lnTo>
                  <a:lnTo>
                    <a:pt x="1702308" y="24384"/>
                  </a:lnTo>
                  <a:lnTo>
                    <a:pt x="1703832" y="25908"/>
                  </a:lnTo>
                  <a:close/>
                </a:path>
                <a:path w="1716404" h="527685">
                  <a:moveTo>
                    <a:pt x="1702308" y="24384"/>
                  </a:moveTo>
                  <a:lnTo>
                    <a:pt x="1691640" y="24384"/>
                  </a:lnTo>
                  <a:lnTo>
                    <a:pt x="1691640" y="13716"/>
                  </a:lnTo>
                  <a:lnTo>
                    <a:pt x="1702308" y="24384"/>
                  </a:lnTo>
                  <a:close/>
                </a:path>
                <a:path w="1716404" h="527685">
                  <a:moveTo>
                    <a:pt x="1716024" y="24384"/>
                  </a:moveTo>
                  <a:lnTo>
                    <a:pt x="1702308" y="24384"/>
                  </a:lnTo>
                  <a:lnTo>
                    <a:pt x="1691640" y="13716"/>
                  </a:lnTo>
                  <a:lnTo>
                    <a:pt x="1716024" y="13716"/>
                  </a:lnTo>
                  <a:lnTo>
                    <a:pt x="1716024" y="24384"/>
                  </a:lnTo>
                  <a:close/>
                </a:path>
                <a:path w="1716404" h="527685">
                  <a:moveTo>
                    <a:pt x="1716024" y="199644"/>
                  </a:moveTo>
                  <a:lnTo>
                    <a:pt x="1691640" y="199644"/>
                  </a:lnTo>
                  <a:lnTo>
                    <a:pt x="1691640" y="100584"/>
                  </a:lnTo>
                  <a:lnTo>
                    <a:pt x="1716024" y="100584"/>
                  </a:lnTo>
                  <a:lnTo>
                    <a:pt x="1716024" y="199644"/>
                  </a:lnTo>
                  <a:close/>
                </a:path>
                <a:path w="1716404" h="527685">
                  <a:moveTo>
                    <a:pt x="1716024" y="376428"/>
                  </a:moveTo>
                  <a:lnTo>
                    <a:pt x="1691640" y="376428"/>
                  </a:lnTo>
                  <a:lnTo>
                    <a:pt x="1691640" y="275844"/>
                  </a:lnTo>
                  <a:lnTo>
                    <a:pt x="1716024" y="275844"/>
                  </a:lnTo>
                  <a:lnTo>
                    <a:pt x="1716024" y="376428"/>
                  </a:lnTo>
                  <a:close/>
                </a:path>
                <a:path w="1716404" h="527685">
                  <a:moveTo>
                    <a:pt x="1691640" y="515112"/>
                  </a:moveTo>
                  <a:lnTo>
                    <a:pt x="1691640" y="451104"/>
                  </a:lnTo>
                  <a:lnTo>
                    <a:pt x="1716024" y="451104"/>
                  </a:lnTo>
                  <a:lnTo>
                    <a:pt x="1716024" y="502920"/>
                  </a:lnTo>
                  <a:lnTo>
                    <a:pt x="1703832" y="502920"/>
                  </a:lnTo>
                  <a:lnTo>
                    <a:pt x="1691640" y="515112"/>
                  </a:lnTo>
                  <a:close/>
                </a:path>
                <a:path w="1716404" h="527685">
                  <a:moveTo>
                    <a:pt x="1711451" y="527304"/>
                  </a:moveTo>
                  <a:lnTo>
                    <a:pt x="1667255" y="527304"/>
                  </a:lnTo>
                  <a:lnTo>
                    <a:pt x="1667255" y="502920"/>
                  </a:lnTo>
                  <a:lnTo>
                    <a:pt x="1691640" y="502920"/>
                  </a:lnTo>
                  <a:lnTo>
                    <a:pt x="1691640" y="515112"/>
                  </a:lnTo>
                  <a:lnTo>
                    <a:pt x="1716024" y="515112"/>
                  </a:lnTo>
                  <a:lnTo>
                    <a:pt x="1716024" y="521208"/>
                  </a:lnTo>
                  <a:lnTo>
                    <a:pt x="1711451" y="527304"/>
                  </a:lnTo>
                  <a:close/>
                </a:path>
                <a:path w="1716404" h="527685">
                  <a:moveTo>
                    <a:pt x="1716024" y="515112"/>
                  </a:moveTo>
                  <a:lnTo>
                    <a:pt x="1691640" y="515112"/>
                  </a:lnTo>
                  <a:lnTo>
                    <a:pt x="1703832" y="502920"/>
                  </a:lnTo>
                  <a:lnTo>
                    <a:pt x="1716024" y="502920"/>
                  </a:lnTo>
                  <a:lnTo>
                    <a:pt x="1716024" y="515112"/>
                  </a:lnTo>
                  <a:close/>
                </a:path>
                <a:path w="1716404" h="527685">
                  <a:moveTo>
                    <a:pt x="1592580" y="527304"/>
                  </a:moveTo>
                  <a:lnTo>
                    <a:pt x="1491996" y="527304"/>
                  </a:lnTo>
                  <a:lnTo>
                    <a:pt x="1491996" y="502920"/>
                  </a:lnTo>
                  <a:lnTo>
                    <a:pt x="1592580" y="502920"/>
                  </a:lnTo>
                  <a:lnTo>
                    <a:pt x="1592580" y="527304"/>
                  </a:lnTo>
                  <a:close/>
                </a:path>
                <a:path w="1716404" h="527685">
                  <a:moveTo>
                    <a:pt x="1417320" y="527304"/>
                  </a:moveTo>
                  <a:lnTo>
                    <a:pt x="1316736" y="527304"/>
                  </a:lnTo>
                  <a:lnTo>
                    <a:pt x="1316736" y="502920"/>
                  </a:lnTo>
                  <a:lnTo>
                    <a:pt x="1417320" y="502920"/>
                  </a:lnTo>
                  <a:lnTo>
                    <a:pt x="1417320" y="527304"/>
                  </a:lnTo>
                  <a:close/>
                </a:path>
                <a:path w="1716404" h="527685">
                  <a:moveTo>
                    <a:pt x="1242059" y="527304"/>
                  </a:moveTo>
                  <a:lnTo>
                    <a:pt x="1141475" y="527304"/>
                  </a:lnTo>
                  <a:lnTo>
                    <a:pt x="1141475" y="502920"/>
                  </a:lnTo>
                  <a:lnTo>
                    <a:pt x="1242059" y="502920"/>
                  </a:lnTo>
                  <a:lnTo>
                    <a:pt x="1242059" y="527304"/>
                  </a:lnTo>
                  <a:close/>
                </a:path>
                <a:path w="1716404" h="527685">
                  <a:moveTo>
                    <a:pt x="1066800" y="527304"/>
                  </a:moveTo>
                  <a:lnTo>
                    <a:pt x="966216" y="527304"/>
                  </a:lnTo>
                  <a:lnTo>
                    <a:pt x="966216" y="502920"/>
                  </a:lnTo>
                  <a:lnTo>
                    <a:pt x="1066800" y="502920"/>
                  </a:lnTo>
                  <a:lnTo>
                    <a:pt x="1066800" y="527304"/>
                  </a:lnTo>
                  <a:close/>
                </a:path>
                <a:path w="1716404" h="527685">
                  <a:moveTo>
                    <a:pt x="890016" y="527304"/>
                  </a:moveTo>
                  <a:lnTo>
                    <a:pt x="790956" y="527304"/>
                  </a:lnTo>
                  <a:lnTo>
                    <a:pt x="790956" y="502920"/>
                  </a:lnTo>
                  <a:lnTo>
                    <a:pt x="890016" y="502920"/>
                  </a:lnTo>
                  <a:lnTo>
                    <a:pt x="890016" y="527304"/>
                  </a:lnTo>
                  <a:close/>
                </a:path>
                <a:path w="1716404" h="527685">
                  <a:moveTo>
                    <a:pt x="714756" y="527304"/>
                  </a:moveTo>
                  <a:lnTo>
                    <a:pt x="615696" y="527304"/>
                  </a:lnTo>
                  <a:lnTo>
                    <a:pt x="615696" y="502920"/>
                  </a:lnTo>
                  <a:lnTo>
                    <a:pt x="714756" y="502920"/>
                  </a:lnTo>
                  <a:lnTo>
                    <a:pt x="714756" y="527304"/>
                  </a:lnTo>
                  <a:close/>
                </a:path>
                <a:path w="1716404" h="527685">
                  <a:moveTo>
                    <a:pt x="539496" y="527304"/>
                  </a:moveTo>
                  <a:lnTo>
                    <a:pt x="438912" y="527304"/>
                  </a:lnTo>
                  <a:lnTo>
                    <a:pt x="438912" y="502920"/>
                  </a:lnTo>
                  <a:lnTo>
                    <a:pt x="539496" y="502920"/>
                  </a:lnTo>
                  <a:lnTo>
                    <a:pt x="539496" y="527304"/>
                  </a:lnTo>
                  <a:close/>
                </a:path>
                <a:path w="1716404" h="527685">
                  <a:moveTo>
                    <a:pt x="364236" y="527304"/>
                  </a:moveTo>
                  <a:lnTo>
                    <a:pt x="263652" y="527304"/>
                  </a:lnTo>
                  <a:lnTo>
                    <a:pt x="263652" y="502920"/>
                  </a:lnTo>
                  <a:lnTo>
                    <a:pt x="364236" y="502920"/>
                  </a:lnTo>
                  <a:lnTo>
                    <a:pt x="364236" y="527304"/>
                  </a:lnTo>
                  <a:close/>
                </a:path>
                <a:path w="1716404" h="527685">
                  <a:moveTo>
                    <a:pt x="188976" y="527304"/>
                  </a:moveTo>
                  <a:lnTo>
                    <a:pt x="88392" y="527304"/>
                  </a:lnTo>
                  <a:lnTo>
                    <a:pt x="88392" y="502920"/>
                  </a:lnTo>
                  <a:lnTo>
                    <a:pt x="188976" y="502920"/>
                  </a:lnTo>
                  <a:lnTo>
                    <a:pt x="188976" y="527304"/>
                  </a:lnTo>
                  <a:close/>
                </a:path>
              </a:pathLst>
            </a:custGeom>
            <a:solidFill>
              <a:srgbClr val="dd6e0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79" name="object 28"/>
          <p:cNvSpPr/>
          <p:nvPr/>
        </p:nvSpPr>
        <p:spPr>
          <a:xfrm>
            <a:off x="5385960" y="4716720"/>
            <a:ext cx="151992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100" spc="-12" strike="noStrike">
                <a:solidFill>
                  <a:srgbClr val="dd6e08"/>
                </a:solidFill>
                <a:latin typeface="Calibri"/>
                <a:ea typeface="標楷體"/>
              </a:rPr>
              <a:t>Control</a:t>
            </a:r>
            <a:r>
              <a:rPr b="1" lang="en-US" sz="2100" spc="-60" strike="noStrike">
                <a:solidFill>
                  <a:srgbClr val="dd6e08"/>
                </a:solidFill>
                <a:latin typeface="Calibri"/>
                <a:ea typeface="標楷體"/>
              </a:rPr>
              <a:t> </a:t>
            </a:r>
            <a:r>
              <a:rPr b="1" lang="en-US" sz="2100" spc="-7" strike="noStrike">
                <a:solidFill>
                  <a:srgbClr val="dd6e08"/>
                </a:solidFill>
                <a:latin typeface="Calibri"/>
                <a:ea typeface="標楷體"/>
              </a:rPr>
              <a:t>Plane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580" name="object 29"/>
          <p:cNvGrpSpPr/>
          <p:nvPr/>
        </p:nvGrpSpPr>
        <p:grpSpPr>
          <a:xfrm>
            <a:off x="5083200" y="5406120"/>
            <a:ext cx="2072160" cy="667800"/>
            <a:chOff x="5083200" y="5406120"/>
            <a:chExt cx="2072160" cy="667800"/>
          </a:xfrm>
        </p:grpSpPr>
        <p:sp>
          <p:nvSpPr>
            <p:cNvPr id="581" name="object 30"/>
            <p:cNvSpPr/>
            <p:nvPr/>
          </p:nvSpPr>
          <p:spPr>
            <a:xfrm>
              <a:off x="5095440" y="5418360"/>
              <a:ext cx="2046960" cy="642960"/>
            </a:xfrm>
            <a:custGeom>
              <a:avLst/>
              <a:gdLst/>
              <a:ahLst/>
              <a:rect l="l" t="t" r="r" b="b"/>
              <a:pathLst>
                <a:path w="2047239" h="643254">
                  <a:moveTo>
                    <a:pt x="2046732" y="643128"/>
                  </a:moveTo>
                  <a:lnTo>
                    <a:pt x="0" y="643128"/>
                  </a:lnTo>
                  <a:lnTo>
                    <a:pt x="0" y="0"/>
                  </a:lnTo>
                  <a:lnTo>
                    <a:pt x="2046732" y="0"/>
                  </a:lnTo>
                  <a:lnTo>
                    <a:pt x="2046732" y="643128"/>
                  </a:lnTo>
                  <a:close/>
                </a:path>
              </a:pathLst>
            </a:cu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2" name="object 31"/>
            <p:cNvSpPr/>
            <p:nvPr/>
          </p:nvSpPr>
          <p:spPr>
            <a:xfrm>
              <a:off x="5083200" y="5406120"/>
              <a:ext cx="2072160" cy="667800"/>
            </a:xfrm>
            <a:custGeom>
              <a:avLst/>
              <a:gdLst/>
              <a:ahLst/>
              <a:rect l="l" t="t" r="r" b="b"/>
              <a:pathLst>
                <a:path w="2072639" h="668020">
                  <a:moveTo>
                    <a:pt x="2066544" y="667512"/>
                  </a:moveTo>
                  <a:lnTo>
                    <a:pt x="4572" y="667512"/>
                  </a:lnTo>
                  <a:lnTo>
                    <a:pt x="0" y="662940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2066544" y="0"/>
                  </a:lnTo>
                  <a:lnTo>
                    <a:pt x="2072640" y="4572"/>
                  </a:lnTo>
                  <a:lnTo>
                    <a:pt x="2072640" y="12192"/>
                  </a:ln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lnTo>
                    <a:pt x="24384" y="643128"/>
                  </a:lnTo>
                  <a:lnTo>
                    <a:pt x="12192" y="643128"/>
                  </a:lnTo>
                  <a:lnTo>
                    <a:pt x="24384" y="655319"/>
                  </a:lnTo>
                  <a:lnTo>
                    <a:pt x="2072640" y="655319"/>
                  </a:lnTo>
                  <a:lnTo>
                    <a:pt x="2072640" y="662940"/>
                  </a:lnTo>
                  <a:lnTo>
                    <a:pt x="2066544" y="667512"/>
                  </a:lnTo>
                  <a:close/>
                </a:path>
                <a:path w="2072639" h="668020">
                  <a:moveTo>
                    <a:pt x="24384" y="24384"/>
                  </a:move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close/>
                </a:path>
                <a:path w="2072639" h="668020">
                  <a:moveTo>
                    <a:pt x="2046732" y="24384"/>
                  </a:moveTo>
                  <a:lnTo>
                    <a:pt x="24384" y="24384"/>
                  </a:lnTo>
                  <a:lnTo>
                    <a:pt x="24384" y="12192"/>
                  </a:lnTo>
                  <a:lnTo>
                    <a:pt x="2046732" y="12192"/>
                  </a:lnTo>
                  <a:lnTo>
                    <a:pt x="2046732" y="24384"/>
                  </a:lnTo>
                  <a:close/>
                </a:path>
                <a:path w="2072639" h="668020">
                  <a:moveTo>
                    <a:pt x="2046732" y="655319"/>
                  </a:moveTo>
                  <a:lnTo>
                    <a:pt x="2046732" y="12192"/>
                  </a:lnTo>
                  <a:lnTo>
                    <a:pt x="2058924" y="24384"/>
                  </a:lnTo>
                  <a:lnTo>
                    <a:pt x="2072640" y="24384"/>
                  </a:lnTo>
                  <a:lnTo>
                    <a:pt x="2072640" y="643128"/>
                  </a:lnTo>
                  <a:lnTo>
                    <a:pt x="2058924" y="643128"/>
                  </a:lnTo>
                  <a:lnTo>
                    <a:pt x="2046732" y="655319"/>
                  </a:lnTo>
                  <a:close/>
                </a:path>
                <a:path w="2072639" h="668020">
                  <a:moveTo>
                    <a:pt x="2072640" y="24384"/>
                  </a:moveTo>
                  <a:lnTo>
                    <a:pt x="2058924" y="24384"/>
                  </a:lnTo>
                  <a:lnTo>
                    <a:pt x="2046732" y="12192"/>
                  </a:lnTo>
                  <a:lnTo>
                    <a:pt x="2072640" y="12192"/>
                  </a:lnTo>
                  <a:lnTo>
                    <a:pt x="2072640" y="24384"/>
                  </a:lnTo>
                  <a:close/>
                </a:path>
                <a:path w="2072639" h="668020">
                  <a:moveTo>
                    <a:pt x="24384" y="655319"/>
                  </a:moveTo>
                  <a:lnTo>
                    <a:pt x="12192" y="643128"/>
                  </a:lnTo>
                  <a:lnTo>
                    <a:pt x="24384" y="643128"/>
                  </a:lnTo>
                  <a:lnTo>
                    <a:pt x="24384" y="655319"/>
                  </a:lnTo>
                  <a:close/>
                </a:path>
                <a:path w="2072639" h="668020">
                  <a:moveTo>
                    <a:pt x="2046732" y="655319"/>
                  </a:moveTo>
                  <a:lnTo>
                    <a:pt x="24384" y="655319"/>
                  </a:lnTo>
                  <a:lnTo>
                    <a:pt x="24384" y="643128"/>
                  </a:lnTo>
                  <a:lnTo>
                    <a:pt x="2046732" y="643128"/>
                  </a:lnTo>
                  <a:lnTo>
                    <a:pt x="2046732" y="655319"/>
                  </a:lnTo>
                  <a:close/>
                </a:path>
                <a:path w="2072639" h="668020">
                  <a:moveTo>
                    <a:pt x="2072640" y="655319"/>
                  </a:moveTo>
                  <a:lnTo>
                    <a:pt x="2046732" y="655319"/>
                  </a:lnTo>
                  <a:lnTo>
                    <a:pt x="2058924" y="643128"/>
                  </a:lnTo>
                  <a:lnTo>
                    <a:pt x="2072640" y="643128"/>
                  </a:lnTo>
                  <a:lnTo>
                    <a:pt x="2072640" y="65531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3" name="object 32"/>
          <p:cNvSpPr/>
          <p:nvPr/>
        </p:nvSpPr>
        <p:spPr>
          <a:xfrm>
            <a:off x="5095440" y="5418360"/>
            <a:ext cx="204696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2920" bIns="0" anchor="t">
            <a:spAutoFit/>
          </a:bodyPr>
          <a:p>
            <a:pPr marL="89640">
              <a:lnSpc>
                <a:spcPct val="100000"/>
              </a:lnSpc>
              <a:spcBef>
                <a:spcPts val="1125"/>
              </a:spcBef>
              <a:buNone/>
            </a:pPr>
            <a:r>
              <a:rPr b="1" lang="en-US" sz="2100" spc="-12" strike="noStrike">
                <a:solidFill>
                  <a:srgbClr val="000000"/>
                </a:solidFill>
                <a:latin typeface="Calibri"/>
                <a:ea typeface="標楷體"/>
              </a:rPr>
              <a:t>Forwarding</a:t>
            </a:r>
            <a:r>
              <a:rPr b="1" lang="en-US" sz="2100" spc="-52" strike="noStrike">
                <a:solidFill>
                  <a:srgbClr val="000000"/>
                </a:solidFill>
                <a:latin typeface="Calibri"/>
                <a:ea typeface="標楷體"/>
              </a:rPr>
              <a:t> </a:t>
            </a:r>
            <a:r>
              <a:rPr b="1" lang="en-US" sz="2100" spc="-7" strike="noStrike">
                <a:solidFill>
                  <a:srgbClr val="000000"/>
                </a:solidFill>
                <a:latin typeface="Calibri"/>
                <a:ea typeface="標楷體"/>
              </a:rPr>
              <a:t>Plane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584" name="object 33"/>
          <p:cNvSpPr/>
          <p:nvPr/>
        </p:nvSpPr>
        <p:spPr>
          <a:xfrm>
            <a:off x="7207200" y="3814560"/>
            <a:ext cx="201060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100" spc="-1" strike="noStrike">
                <a:solidFill>
                  <a:srgbClr val="0070bf"/>
                </a:solidFill>
                <a:latin typeface="Calibri"/>
                <a:ea typeface="標楷體"/>
              </a:rPr>
              <a:t>FIB</a:t>
            </a:r>
            <a:r>
              <a:rPr b="1" lang="en-US" sz="2100" spc="-52" strike="noStrike">
                <a:solidFill>
                  <a:srgbClr val="0070bf"/>
                </a:solidFill>
                <a:latin typeface="Calibri"/>
                <a:ea typeface="標楷體"/>
              </a:rPr>
              <a:t> </a:t>
            </a:r>
            <a:r>
              <a:rPr b="1" lang="en-US" sz="2100" spc="-1" strike="noStrike">
                <a:solidFill>
                  <a:srgbClr val="0070bf"/>
                </a:solidFill>
                <a:latin typeface="Calibri"/>
                <a:ea typeface="標楷體"/>
              </a:rPr>
              <a:t>Push</a:t>
            </a:r>
            <a:r>
              <a:rPr b="1" lang="en-US" sz="2100" spc="-26" strike="noStrike">
                <a:solidFill>
                  <a:srgbClr val="0070bf"/>
                </a:solidFill>
                <a:latin typeface="Calibri"/>
                <a:ea typeface="標楷體"/>
              </a:rPr>
              <a:t> </a:t>
            </a:r>
            <a:r>
              <a:rPr b="1" lang="en-US" sz="2100" spc="-15" strike="noStrike">
                <a:solidFill>
                  <a:srgbClr val="0070bf"/>
                </a:solidFill>
                <a:latin typeface="Calibri"/>
                <a:ea typeface="標楷體"/>
              </a:rPr>
              <a:t>Interface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585" name="object 34"/>
          <p:cNvGrpSpPr/>
          <p:nvPr/>
        </p:nvGrpSpPr>
        <p:grpSpPr>
          <a:xfrm>
            <a:off x="8325000" y="2900520"/>
            <a:ext cx="847440" cy="394560"/>
            <a:chOff x="8325000" y="2900520"/>
            <a:chExt cx="847440" cy="394560"/>
          </a:xfrm>
        </p:grpSpPr>
        <p:sp>
          <p:nvSpPr>
            <p:cNvPr id="586" name="object 35"/>
            <p:cNvSpPr/>
            <p:nvPr/>
          </p:nvSpPr>
          <p:spPr>
            <a:xfrm>
              <a:off x="8327880" y="2903760"/>
              <a:ext cx="839880" cy="387000"/>
            </a:xfrm>
            <a:custGeom>
              <a:avLst/>
              <a:gdLst/>
              <a:ahLst/>
              <a:rect l="l" t="t" r="r" b="b"/>
              <a:pathLst>
                <a:path w="840104" h="387350">
                  <a:moveTo>
                    <a:pt x="839724" y="387096"/>
                  </a:moveTo>
                  <a:lnTo>
                    <a:pt x="0" y="387096"/>
                  </a:lnTo>
                  <a:lnTo>
                    <a:pt x="0" y="0"/>
                  </a:lnTo>
                  <a:lnTo>
                    <a:pt x="839724" y="0"/>
                  </a:lnTo>
                  <a:lnTo>
                    <a:pt x="839724" y="387096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7" name="object 36"/>
            <p:cNvSpPr/>
            <p:nvPr/>
          </p:nvSpPr>
          <p:spPr>
            <a:xfrm>
              <a:off x="8325000" y="2900520"/>
              <a:ext cx="847440" cy="394560"/>
            </a:xfrm>
            <a:custGeom>
              <a:avLst/>
              <a:gdLst/>
              <a:ahLst/>
              <a:rect l="l" t="t" r="r" b="b"/>
              <a:pathLst>
                <a:path w="847725" h="394970">
                  <a:moveTo>
                    <a:pt x="844296" y="394716"/>
                  </a:moveTo>
                  <a:lnTo>
                    <a:pt x="1524" y="394716"/>
                  </a:lnTo>
                  <a:lnTo>
                    <a:pt x="0" y="39319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844296" y="0"/>
                  </a:lnTo>
                  <a:lnTo>
                    <a:pt x="847344" y="1524"/>
                  </a:lnTo>
                  <a:lnTo>
                    <a:pt x="847344" y="3048"/>
                  </a:lnTo>
                  <a:lnTo>
                    <a:pt x="7620" y="3048"/>
                  </a:lnTo>
                  <a:lnTo>
                    <a:pt x="3048" y="7620"/>
                  </a:lnTo>
                  <a:lnTo>
                    <a:pt x="7620" y="7620"/>
                  </a:lnTo>
                  <a:lnTo>
                    <a:pt x="7620" y="387096"/>
                  </a:lnTo>
                  <a:lnTo>
                    <a:pt x="3048" y="387096"/>
                  </a:lnTo>
                  <a:lnTo>
                    <a:pt x="7620" y="390144"/>
                  </a:lnTo>
                  <a:lnTo>
                    <a:pt x="847344" y="390144"/>
                  </a:lnTo>
                  <a:lnTo>
                    <a:pt x="847344" y="393192"/>
                  </a:lnTo>
                  <a:lnTo>
                    <a:pt x="844296" y="394716"/>
                  </a:lnTo>
                  <a:close/>
                </a:path>
                <a:path w="847725" h="394970">
                  <a:moveTo>
                    <a:pt x="7620" y="7620"/>
                  </a:moveTo>
                  <a:lnTo>
                    <a:pt x="3048" y="7620"/>
                  </a:lnTo>
                  <a:lnTo>
                    <a:pt x="7620" y="3048"/>
                  </a:lnTo>
                  <a:lnTo>
                    <a:pt x="7620" y="7620"/>
                  </a:lnTo>
                  <a:close/>
                </a:path>
                <a:path w="847725" h="394970">
                  <a:moveTo>
                    <a:pt x="838200" y="7620"/>
                  </a:moveTo>
                  <a:lnTo>
                    <a:pt x="7620" y="7620"/>
                  </a:lnTo>
                  <a:lnTo>
                    <a:pt x="7620" y="3048"/>
                  </a:lnTo>
                  <a:lnTo>
                    <a:pt x="838200" y="3048"/>
                  </a:lnTo>
                  <a:lnTo>
                    <a:pt x="838200" y="7620"/>
                  </a:lnTo>
                  <a:close/>
                </a:path>
                <a:path w="847725" h="394970">
                  <a:moveTo>
                    <a:pt x="838200" y="390144"/>
                  </a:moveTo>
                  <a:lnTo>
                    <a:pt x="838200" y="3048"/>
                  </a:lnTo>
                  <a:lnTo>
                    <a:pt x="842772" y="7620"/>
                  </a:lnTo>
                  <a:lnTo>
                    <a:pt x="847344" y="7620"/>
                  </a:lnTo>
                  <a:lnTo>
                    <a:pt x="847344" y="387096"/>
                  </a:lnTo>
                  <a:lnTo>
                    <a:pt x="842772" y="387096"/>
                  </a:lnTo>
                  <a:lnTo>
                    <a:pt x="838200" y="390144"/>
                  </a:lnTo>
                  <a:close/>
                </a:path>
                <a:path w="847725" h="394970">
                  <a:moveTo>
                    <a:pt x="847344" y="7620"/>
                  </a:moveTo>
                  <a:lnTo>
                    <a:pt x="842772" y="7620"/>
                  </a:lnTo>
                  <a:lnTo>
                    <a:pt x="838200" y="3048"/>
                  </a:lnTo>
                  <a:lnTo>
                    <a:pt x="847344" y="3048"/>
                  </a:lnTo>
                  <a:lnTo>
                    <a:pt x="847344" y="7620"/>
                  </a:lnTo>
                  <a:close/>
                </a:path>
                <a:path w="847725" h="394970">
                  <a:moveTo>
                    <a:pt x="7620" y="390144"/>
                  </a:moveTo>
                  <a:lnTo>
                    <a:pt x="3048" y="387096"/>
                  </a:lnTo>
                  <a:lnTo>
                    <a:pt x="7620" y="387096"/>
                  </a:lnTo>
                  <a:lnTo>
                    <a:pt x="7620" y="390144"/>
                  </a:lnTo>
                  <a:close/>
                </a:path>
                <a:path w="847725" h="394970">
                  <a:moveTo>
                    <a:pt x="838200" y="390144"/>
                  </a:moveTo>
                  <a:lnTo>
                    <a:pt x="7620" y="390144"/>
                  </a:lnTo>
                  <a:lnTo>
                    <a:pt x="7620" y="387096"/>
                  </a:lnTo>
                  <a:lnTo>
                    <a:pt x="838200" y="387096"/>
                  </a:lnTo>
                  <a:lnTo>
                    <a:pt x="838200" y="390144"/>
                  </a:lnTo>
                  <a:close/>
                </a:path>
                <a:path w="847725" h="394970">
                  <a:moveTo>
                    <a:pt x="847344" y="390144"/>
                  </a:moveTo>
                  <a:lnTo>
                    <a:pt x="838200" y="390144"/>
                  </a:lnTo>
                  <a:lnTo>
                    <a:pt x="842772" y="387096"/>
                  </a:lnTo>
                  <a:lnTo>
                    <a:pt x="847344" y="387096"/>
                  </a:lnTo>
                  <a:lnTo>
                    <a:pt x="847344" y="390144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8" name="object 37"/>
          <p:cNvSpPr/>
          <p:nvPr/>
        </p:nvSpPr>
        <p:spPr>
          <a:xfrm>
            <a:off x="8327880" y="2903760"/>
            <a:ext cx="8398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0" anchor="t">
            <a:spAutoFit/>
          </a:bodyPr>
          <a:p>
            <a:pPr marL="153720">
              <a:lnSpc>
                <a:spcPct val="100000"/>
              </a:lnSpc>
              <a:spcBef>
                <a:spcPts val="215"/>
              </a:spcBef>
              <a:buNone/>
            </a:pPr>
            <a:r>
              <a:rPr b="1" lang="en-US" sz="2100" spc="-12" strike="noStrike">
                <a:solidFill>
                  <a:srgbClr val="000000"/>
                </a:solidFill>
                <a:latin typeface="Calibri"/>
                <a:ea typeface="標楷體"/>
              </a:rPr>
              <a:t>ospfd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589" name="object 38"/>
          <p:cNvGrpSpPr/>
          <p:nvPr/>
        </p:nvGrpSpPr>
        <p:grpSpPr>
          <a:xfrm>
            <a:off x="9275760" y="2900520"/>
            <a:ext cx="783360" cy="394560"/>
            <a:chOff x="9275760" y="2900520"/>
            <a:chExt cx="783360" cy="394560"/>
          </a:xfrm>
        </p:grpSpPr>
        <p:sp>
          <p:nvSpPr>
            <p:cNvPr id="590" name="object 39"/>
            <p:cNvSpPr/>
            <p:nvPr/>
          </p:nvSpPr>
          <p:spPr>
            <a:xfrm>
              <a:off x="9280440" y="2903760"/>
              <a:ext cx="774360" cy="387000"/>
            </a:xfrm>
            <a:custGeom>
              <a:avLst/>
              <a:gdLst/>
              <a:ahLst/>
              <a:rect l="l" t="t" r="r" b="b"/>
              <a:pathLst>
                <a:path w="774700" h="387350">
                  <a:moveTo>
                    <a:pt x="774192" y="387096"/>
                  </a:moveTo>
                  <a:lnTo>
                    <a:pt x="0" y="387096"/>
                  </a:lnTo>
                  <a:lnTo>
                    <a:pt x="0" y="0"/>
                  </a:lnTo>
                  <a:lnTo>
                    <a:pt x="774192" y="0"/>
                  </a:lnTo>
                  <a:lnTo>
                    <a:pt x="774192" y="387096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object 40"/>
            <p:cNvSpPr/>
            <p:nvPr/>
          </p:nvSpPr>
          <p:spPr>
            <a:xfrm>
              <a:off x="9275760" y="2900520"/>
              <a:ext cx="783360" cy="394560"/>
            </a:xfrm>
            <a:custGeom>
              <a:avLst/>
              <a:gdLst/>
              <a:ahLst/>
              <a:rect l="l" t="t" r="r" b="b"/>
              <a:pathLst>
                <a:path w="783590" h="394970">
                  <a:moveTo>
                    <a:pt x="781812" y="394716"/>
                  </a:moveTo>
                  <a:lnTo>
                    <a:pt x="1524" y="394716"/>
                  </a:lnTo>
                  <a:lnTo>
                    <a:pt x="0" y="39319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781812" y="0"/>
                  </a:lnTo>
                  <a:lnTo>
                    <a:pt x="783336" y="1524"/>
                  </a:lnTo>
                  <a:lnTo>
                    <a:pt x="783336" y="3048"/>
                  </a:ln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lnTo>
                    <a:pt x="9144" y="387096"/>
                  </a:lnTo>
                  <a:lnTo>
                    <a:pt x="4572" y="387096"/>
                  </a:lnTo>
                  <a:lnTo>
                    <a:pt x="9144" y="390144"/>
                  </a:lnTo>
                  <a:lnTo>
                    <a:pt x="783336" y="390144"/>
                  </a:lnTo>
                  <a:lnTo>
                    <a:pt x="783336" y="393192"/>
                  </a:lnTo>
                  <a:lnTo>
                    <a:pt x="781812" y="394716"/>
                  </a:lnTo>
                  <a:close/>
                </a:path>
                <a:path w="783590" h="394970">
                  <a:moveTo>
                    <a:pt x="9144" y="7620"/>
                  </a:move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close/>
                </a:path>
                <a:path w="783590" h="394970">
                  <a:moveTo>
                    <a:pt x="775716" y="7620"/>
                  </a:moveTo>
                  <a:lnTo>
                    <a:pt x="9144" y="7620"/>
                  </a:lnTo>
                  <a:lnTo>
                    <a:pt x="9144" y="3048"/>
                  </a:lnTo>
                  <a:lnTo>
                    <a:pt x="775716" y="3048"/>
                  </a:lnTo>
                  <a:lnTo>
                    <a:pt x="775716" y="7620"/>
                  </a:lnTo>
                  <a:close/>
                </a:path>
                <a:path w="783590" h="394970">
                  <a:moveTo>
                    <a:pt x="775716" y="390144"/>
                  </a:moveTo>
                  <a:lnTo>
                    <a:pt x="775716" y="3048"/>
                  </a:lnTo>
                  <a:lnTo>
                    <a:pt x="778764" y="7620"/>
                  </a:lnTo>
                  <a:lnTo>
                    <a:pt x="783336" y="7620"/>
                  </a:lnTo>
                  <a:lnTo>
                    <a:pt x="783336" y="387096"/>
                  </a:lnTo>
                  <a:lnTo>
                    <a:pt x="778764" y="387096"/>
                  </a:lnTo>
                  <a:lnTo>
                    <a:pt x="775716" y="390144"/>
                  </a:lnTo>
                  <a:close/>
                </a:path>
                <a:path w="783590" h="394970">
                  <a:moveTo>
                    <a:pt x="783336" y="7620"/>
                  </a:moveTo>
                  <a:lnTo>
                    <a:pt x="778764" y="7620"/>
                  </a:lnTo>
                  <a:lnTo>
                    <a:pt x="775716" y="3048"/>
                  </a:lnTo>
                  <a:lnTo>
                    <a:pt x="783336" y="3048"/>
                  </a:lnTo>
                  <a:lnTo>
                    <a:pt x="783336" y="7620"/>
                  </a:lnTo>
                  <a:close/>
                </a:path>
                <a:path w="783590" h="394970">
                  <a:moveTo>
                    <a:pt x="9144" y="390144"/>
                  </a:moveTo>
                  <a:lnTo>
                    <a:pt x="4572" y="387096"/>
                  </a:lnTo>
                  <a:lnTo>
                    <a:pt x="9144" y="387096"/>
                  </a:lnTo>
                  <a:lnTo>
                    <a:pt x="9144" y="390144"/>
                  </a:lnTo>
                  <a:close/>
                </a:path>
                <a:path w="783590" h="394970">
                  <a:moveTo>
                    <a:pt x="775716" y="390144"/>
                  </a:moveTo>
                  <a:lnTo>
                    <a:pt x="9144" y="390144"/>
                  </a:lnTo>
                  <a:lnTo>
                    <a:pt x="9144" y="387096"/>
                  </a:lnTo>
                  <a:lnTo>
                    <a:pt x="775716" y="387096"/>
                  </a:lnTo>
                  <a:lnTo>
                    <a:pt x="775716" y="390144"/>
                  </a:lnTo>
                  <a:close/>
                </a:path>
                <a:path w="783590" h="394970">
                  <a:moveTo>
                    <a:pt x="783336" y="390144"/>
                  </a:moveTo>
                  <a:lnTo>
                    <a:pt x="775716" y="390144"/>
                  </a:lnTo>
                  <a:lnTo>
                    <a:pt x="778764" y="387096"/>
                  </a:lnTo>
                  <a:lnTo>
                    <a:pt x="783336" y="387096"/>
                  </a:lnTo>
                  <a:lnTo>
                    <a:pt x="783336" y="390144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92" name="object 41"/>
          <p:cNvSpPr/>
          <p:nvPr/>
        </p:nvSpPr>
        <p:spPr>
          <a:xfrm>
            <a:off x="9280440" y="2903760"/>
            <a:ext cx="7743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0" anchor="t">
            <a:spAutoFit/>
          </a:bodyPr>
          <a:p>
            <a:pPr marL="113760">
              <a:lnSpc>
                <a:spcPct val="100000"/>
              </a:lnSpc>
              <a:spcBef>
                <a:spcPts val="215"/>
              </a:spcBef>
              <a:buNone/>
            </a:pPr>
            <a:r>
              <a:rPr b="1" lang="en-US" sz="2100" spc="-1" strike="noStrike">
                <a:solidFill>
                  <a:srgbClr val="000000"/>
                </a:solidFill>
                <a:latin typeface="Calibri"/>
                <a:ea typeface="標楷體"/>
              </a:rPr>
              <a:t>bgpd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593" name="object 42"/>
          <p:cNvGrpSpPr/>
          <p:nvPr/>
        </p:nvGrpSpPr>
        <p:grpSpPr>
          <a:xfrm>
            <a:off x="10165680" y="2900520"/>
            <a:ext cx="672120" cy="394560"/>
            <a:chOff x="10165680" y="2900520"/>
            <a:chExt cx="672120" cy="394560"/>
          </a:xfrm>
        </p:grpSpPr>
        <p:sp>
          <p:nvSpPr>
            <p:cNvPr id="594" name="object 43"/>
            <p:cNvSpPr/>
            <p:nvPr/>
          </p:nvSpPr>
          <p:spPr>
            <a:xfrm>
              <a:off x="10168920" y="2903760"/>
              <a:ext cx="664560" cy="387000"/>
            </a:xfrm>
            <a:custGeom>
              <a:avLst/>
              <a:gdLst/>
              <a:ahLst/>
              <a:rect l="l" t="t" r="r" b="b"/>
              <a:pathLst>
                <a:path w="664845" h="387350">
                  <a:moveTo>
                    <a:pt x="664464" y="387096"/>
                  </a:moveTo>
                  <a:lnTo>
                    <a:pt x="0" y="387096"/>
                  </a:lnTo>
                  <a:lnTo>
                    <a:pt x="0" y="0"/>
                  </a:lnTo>
                  <a:lnTo>
                    <a:pt x="664464" y="0"/>
                  </a:lnTo>
                  <a:lnTo>
                    <a:pt x="664464" y="387096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5" name="object 44"/>
            <p:cNvSpPr/>
            <p:nvPr/>
          </p:nvSpPr>
          <p:spPr>
            <a:xfrm>
              <a:off x="10165680" y="2900520"/>
              <a:ext cx="672120" cy="394560"/>
            </a:xfrm>
            <a:custGeom>
              <a:avLst/>
              <a:gdLst/>
              <a:ahLst/>
              <a:rect l="l" t="t" r="r" b="b"/>
              <a:pathLst>
                <a:path w="672465" h="394970">
                  <a:moveTo>
                    <a:pt x="670560" y="394716"/>
                  </a:moveTo>
                  <a:lnTo>
                    <a:pt x="1524" y="394716"/>
                  </a:lnTo>
                  <a:lnTo>
                    <a:pt x="0" y="39319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670560" y="0"/>
                  </a:lnTo>
                  <a:lnTo>
                    <a:pt x="672084" y="1524"/>
                  </a:lnTo>
                  <a:lnTo>
                    <a:pt x="672084" y="3048"/>
                  </a:lnTo>
                  <a:lnTo>
                    <a:pt x="7620" y="3048"/>
                  </a:lnTo>
                  <a:lnTo>
                    <a:pt x="3048" y="7620"/>
                  </a:lnTo>
                  <a:lnTo>
                    <a:pt x="7620" y="7620"/>
                  </a:lnTo>
                  <a:lnTo>
                    <a:pt x="7620" y="387096"/>
                  </a:lnTo>
                  <a:lnTo>
                    <a:pt x="3048" y="387096"/>
                  </a:lnTo>
                  <a:lnTo>
                    <a:pt x="7620" y="390144"/>
                  </a:lnTo>
                  <a:lnTo>
                    <a:pt x="672084" y="390144"/>
                  </a:lnTo>
                  <a:lnTo>
                    <a:pt x="672084" y="393192"/>
                  </a:lnTo>
                  <a:lnTo>
                    <a:pt x="670560" y="394716"/>
                  </a:lnTo>
                  <a:close/>
                </a:path>
                <a:path w="672465" h="394970">
                  <a:moveTo>
                    <a:pt x="7620" y="7620"/>
                  </a:moveTo>
                  <a:lnTo>
                    <a:pt x="3048" y="7620"/>
                  </a:lnTo>
                  <a:lnTo>
                    <a:pt x="7620" y="3048"/>
                  </a:lnTo>
                  <a:lnTo>
                    <a:pt x="7620" y="7620"/>
                  </a:lnTo>
                  <a:close/>
                </a:path>
                <a:path w="672465" h="394970">
                  <a:moveTo>
                    <a:pt x="662940" y="7620"/>
                  </a:moveTo>
                  <a:lnTo>
                    <a:pt x="7620" y="7620"/>
                  </a:lnTo>
                  <a:lnTo>
                    <a:pt x="7620" y="3048"/>
                  </a:lnTo>
                  <a:lnTo>
                    <a:pt x="662940" y="3048"/>
                  </a:lnTo>
                  <a:lnTo>
                    <a:pt x="662940" y="7620"/>
                  </a:lnTo>
                  <a:close/>
                </a:path>
                <a:path w="672465" h="394970">
                  <a:moveTo>
                    <a:pt x="662940" y="390144"/>
                  </a:moveTo>
                  <a:lnTo>
                    <a:pt x="662940" y="3048"/>
                  </a:lnTo>
                  <a:lnTo>
                    <a:pt x="667512" y="7620"/>
                  </a:lnTo>
                  <a:lnTo>
                    <a:pt x="672084" y="7620"/>
                  </a:lnTo>
                  <a:lnTo>
                    <a:pt x="672084" y="387096"/>
                  </a:lnTo>
                  <a:lnTo>
                    <a:pt x="667512" y="387096"/>
                  </a:lnTo>
                  <a:lnTo>
                    <a:pt x="662940" y="390144"/>
                  </a:lnTo>
                  <a:close/>
                </a:path>
                <a:path w="672465" h="394970">
                  <a:moveTo>
                    <a:pt x="672084" y="7620"/>
                  </a:moveTo>
                  <a:lnTo>
                    <a:pt x="667512" y="7620"/>
                  </a:lnTo>
                  <a:lnTo>
                    <a:pt x="662940" y="3048"/>
                  </a:lnTo>
                  <a:lnTo>
                    <a:pt x="672084" y="3048"/>
                  </a:lnTo>
                  <a:lnTo>
                    <a:pt x="672084" y="7620"/>
                  </a:lnTo>
                  <a:close/>
                </a:path>
                <a:path w="672465" h="394970">
                  <a:moveTo>
                    <a:pt x="7620" y="390144"/>
                  </a:moveTo>
                  <a:lnTo>
                    <a:pt x="3048" y="387096"/>
                  </a:lnTo>
                  <a:lnTo>
                    <a:pt x="7620" y="387096"/>
                  </a:lnTo>
                  <a:lnTo>
                    <a:pt x="7620" y="390144"/>
                  </a:lnTo>
                  <a:close/>
                </a:path>
                <a:path w="672465" h="394970">
                  <a:moveTo>
                    <a:pt x="662940" y="390144"/>
                  </a:moveTo>
                  <a:lnTo>
                    <a:pt x="7620" y="390144"/>
                  </a:lnTo>
                  <a:lnTo>
                    <a:pt x="7620" y="387096"/>
                  </a:lnTo>
                  <a:lnTo>
                    <a:pt x="662940" y="387096"/>
                  </a:lnTo>
                  <a:lnTo>
                    <a:pt x="662940" y="390144"/>
                  </a:lnTo>
                  <a:close/>
                </a:path>
                <a:path w="672465" h="394970">
                  <a:moveTo>
                    <a:pt x="672084" y="390144"/>
                  </a:moveTo>
                  <a:lnTo>
                    <a:pt x="662940" y="390144"/>
                  </a:lnTo>
                  <a:lnTo>
                    <a:pt x="667512" y="387096"/>
                  </a:lnTo>
                  <a:lnTo>
                    <a:pt x="672084" y="387096"/>
                  </a:lnTo>
                  <a:lnTo>
                    <a:pt x="672084" y="390144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96" name="object 45"/>
          <p:cNvSpPr/>
          <p:nvPr/>
        </p:nvSpPr>
        <p:spPr>
          <a:xfrm>
            <a:off x="10168920" y="2903760"/>
            <a:ext cx="66456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440" bIns="0" anchor="t">
            <a:spAutoFit/>
          </a:bodyPr>
          <a:p>
            <a:pPr marL="123120">
              <a:lnSpc>
                <a:spcPct val="100000"/>
              </a:lnSpc>
              <a:spcBef>
                <a:spcPts val="224"/>
              </a:spcBef>
              <a:buNone/>
            </a:pPr>
            <a:r>
              <a:rPr b="1" lang="en-US" sz="2100" spc="-7" strike="noStrike">
                <a:solidFill>
                  <a:srgbClr val="000000"/>
                </a:solidFill>
                <a:latin typeface="Calibri"/>
                <a:ea typeface="標楷體"/>
              </a:rPr>
              <a:t>ripd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597" name="object 46"/>
          <p:cNvGrpSpPr/>
          <p:nvPr/>
        </p:nvGrpSpPr>
        <p:grpSpPr>
          <a:xfrm>
            <a:off x="9236160" y="3920040"/>
            <a:ext cx="1218960" cy="597240"/>
            <a:chOff x="9236160" y="3920040"/>
            <a:chExt cx="1218960" cy="597240"/>
          </a:xfrm>
        </p:grpSpPr>
        <p:sp>
          <p:nvSpPr>
            <p:cNvPr id="598" name="object 47"/>
            <p:cNvSpPr/>
            <p:nvPr/>
          </p:nvSpPr>
          <p:spPr>
            <a:xfrm>
              <a:off x="9240840" y="3923280"/>
              <a:ext cx="1209960" cy="589680"/>
            </a:xfrm>
            <a:custGeom>
              <a:avLst/>
              <a:gdLst/>
              <a:ahLst/>
              <a:rect l="l" t="t" r="r" b="b"/>
              <a:pathLst>
                <a:path w="1210309" h="589914">
                  <a:moveTo>
                    <a:pt x="1210055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210055" y="0"/>
                  </a:lnTo>
                  <a:lnTo>
                    <a:pt x="1210055" y="589787"/>
                  </a:lnTo>
                  <a:close/>
                </a:path>
              </a:pathLst>
            </a:custGeom>
            <a:solidFill>
              <a:srgbClr val="ccf7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9" name="object 48"/>
            <p:cNvSpPr/>
            <p:nvPr/>
          </p:nvSpPr>
          <p:spPr>
            <a:xfrm>
              <a:off x="9236160" y="3920040"/>
              <a:ext cx="1218960" cy="597240"/>
            </a:xfrm>
            <a:custGeom>
              <a:avLst/>
              <a:gdLst/>
              <a:ahLst/>
              <a:rect l="l" t="t" r="r" b="b"/>
              <a:pathLst>
                <a:path w="1219200" h="597535">
                  <a:moveTo>
                    <a:pt x="1216152" y="597408"/>
                  </a:moveTo>
                  <a:lnTo>
                    <a:pt x="3048" y="597408"/>
                  </a:lnTo>
                  <a:lnTo>
                    <a:pt x="0" y="594360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1216152" y="0"/>
                  </a:lnTo>
                  <a:lnTo>
                    <a:pt x="1219200" y="1524"/>
                  </a:lnTo>
                  <a:lnTo>
                    <a:pt x="1219200" y="3048"/>
                  </a:ln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lnTo>
                    <a:pt x="9144" y="588264"/>
                  </a:lnTo>
                  <a:lnTo>
                    <a:pt x="4572" y="588264"/>
                  </a:lnTo>
                  <a:lnTo>
                    <a:pt x="9144" y="592835"/>
                  </a:lnTo>
                  <a:lnTo>
                    <a:pt x="1219200" y="592835"/>
                  </a:lnTo>
                  <a:lnTo>
                    <a:pt x="1219200" y="594360"/>
                  </a:lnTo>
                  <a:lnTo>
                    <a:pt x="1216152" y="597408"/>
                  </a:lnTo>
                  <a:close/>
                </a:path>
                <a:path w="1219200" h="597535">
                  <a:moveTo>
                    <a:pt x="9144" y="7620"/>
                  </a:move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close/>
                </a:path>
                <a:path w="1219200" h="597535">
                  <a:moveTo>
                    <a:pt x="1210056" y="7620"/>
                  </a:moveTo>
                  <a:lnTo>
                    <a:pt x="9144" y="7620"/>
                  </a:lnTo>
                  <a:lnTo>
                    <a:pt x="9144" y="3048"/>
                  </a:lnTo>
                  <a:lnTo>
                    <a:pt x="1210056" y="3048"/>
                  </a:lnTo>
                  <a:lnTo>
                    <a:pt x="1210056" y="7620"/>
                  </a:lnTo>
                  <a:close/>
                </a:path>
                <a:path w="1219200" h="597535">
                  <a:moveTo>
                    <a:pt x="1210056" y="592835"/>
                  </a:moveTo>
                  <a:lnTo>
                    <a:pt x="1210056" y="3048"/>
                  </a:lnTo>
                  <a:lnTo>
                    <a:pt x="1214628" y="7620"/>
                  </a:lnTo>
                  <a:lnTo>
                    <a:pt x="1219200" y="7620"/>
                  </a:lnTo>
                  <a:lnTo>
                    <a:pt x="1219200" y="588264"/>
                  </a:lnTo>
                  <a:lnTo>
                    <a:pt x="1214628" y="588264"/>
                  </a:lnTo>
                  <a:lnTo>
                    <a:pt x="1210056" y="592835"/>
                  </a:lnTo>
                  <a:close/>
                </a:path>
                <a:path w="1219200" h="597535">
                  <a:moveTo>
                    <a:pt x="1219200" y="7620"/>
                  </a:moveTo>
                  <a:lnTo>
                    <a:pt x="1214628" y="7620"/>
                  </a:lnTo>
                  <a:lnTo>
                    <a:pt x="1210056" y="3048"/>
                  </a:lnTo>
                  <a:lnTo>
                    <a:pt x="1219200" y="3048"/>
                  </a:lnTo>
                  <a:lnTo>
                    <a:pt x="1219200" y="7620"/>
                  </a:lnTo>
                  <a:close/>
                </a:path>
                <a:path w="1219200" h="597535">
                  <a:moveTo>
                    <a:pt x="9144" y="592835"/>
                  </a:moveTo>
                  <a:lnTo>
                    <a:pt x="4572" y="588264"/>
                  </a:lnTo>
                  <a:lnTo>
                    <a:pt x="9144" y="588264"/>
                  </a:lnTo>
                  <a:lnTo>
                    <a:pt x="9144" y="592835"/>
                  </a:lnTo>
                  <a:close/>
                </a:path>
                <a:path w="1219200" h="597535">
                  <a:moveTo>
                    <a:pt x="1210056" y="592835"/>
                  </a:moveTo>
                  <a:lnTo>
                    <a:pt x="9144" y="592835"/>
                  </a:lnTo>
                  <a:lnTo>
                    <a:pt x="9144" y="588264"/>
                  </a:lnTo>
                  <a:lnTo>
                    <a:pt x="1210056" y="588264"/>
                  </a:lnTo>
                  <a:lnTo>
                    <a:pt x="1210056" y="592835"/>
                  </a:lnTo>
                  <a:close/>
                </a:path>
                <a:path w="1219200" h="597535">
                  <a:moveTo>
                    <a:pt x="1219200" y="592835"/>
                  </a:moveTo>
                  <a:lnTo>
                    <a:pt x="1210056" y="592835"/>
                  </a:lnTo>
                  <a:lnTo>
                    <a:pt x="1214628" y="588264"/>
                  </a:lnTo>
                  <a:lnTo>
                    <a:pt x="1219200" y="588264"/>
                  </a:lnTo>
                  <a:lnTo>
                    <a:pt x="1219200" y="592835"/>
                  </a:lnTo>
                  <a:close/>
                </a:path>
              </a:pathLst>
            </a:custGeom>
            <a:solidFill>
              <a:srgbClr val="243f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0" name="object 49"/>
          <p:cNvSpPr/>
          <p:nvPr/>
        </p:nvSpPr>
        <p:spPr>
          <a:xfrm>
            <a:off x="9240840" y="3923280"/>
            <a:ext cx="12099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8600" bIns="0" anchor="t">
            <a:spAutoFit/>
          </a:bodyPr>
          <a:p>
            <a:pPr marL="324360">
              <a:lnSpc>
                <a:spcPct val="100000"/>
              </a:lnSpc>
              <a:spcBef>
                <a:spcPts val="1091"/>
              </a:spcBef>
              <a:buNone/>
            </a:pPr>
            <a:r>
              <a:rPr b="1" lang="en-US" sz="2100" spc="-7" strike="noStrike">
                <a:solidFill>
                  <a:srgbClr val="000000"/>
                </a:solidFill>
                <a:latin typeface="Calibri"/>
                <a:ea typeface="標楷體"/>
              </a:rPr>
              <a:t>zebra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601" name="object 50"/>
          <p:cNvGrpSpPr/>
          <p:nvPr/>
        </p:nvGrpSpPr>
        <p:grpSpPr>
          <a:xfrm>
            <a:off x="8771400" y="5308560"/>
            <a:ext cx="2174400" cy="618840"/>
            <a:chOff x="8771400" y="5308560"/>
            <a:chExt cx="2174400" cy="618840"/>
          </a:xfrm>
        </p:grpSpPr>
        <p:sp>
          <p:nvSpPr>
            <p:cNvPr id="602" name="object 51"/>
            <p:cNvSpPr/>
            <p:nvPr/>
          </p:nvSpPr>
          <p:spPr>
            <a:xfrm>
              <a:off x="8776080" y="5311440"/>
              <a:ext cx="2165760" cy="612360"/>
            </a:xfrm>
            <a:custGeom>
              <a:avLst/>
              <a:gdLst/>
              <a:ahLst/>
              <a:rect l="l" t="t" r="r" b="b"/>
              <a:pathLst>
                <a:path w="2165984" h="612775">
                  <a:moveTo>
                    <a:pt x="2165603" y="612648"/>
                  </a:moveTo>
                  <a:lnTo>
                    <a:pt x="0" y="612648"/>
                  </a:lnTo>
                  <a:lnTo>
                    <a:pt x="0" y="0"/>
                  </a:lnTo>
                  <a:lnTo>
                    <a:pt x="2165603" y="0"/>
                  </a:lnTo>
                  <a:lnTo>
                    <a:pt x="2165603" y="612648"/>
                  </a:lnTo>
                  <a:close/>
                </a:path>
              </a:pathLst>
            </a:cu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3" name="object 52"/>
            <p:cNvSpPr/>
            <p:nvPr/>
          </p:nvSpPr>
          <p:spPr>
            <a:xfrm>
              <a:off x="8771400" y="5308560"/>
              <a:ext cx="2174400" cy="618840"/>
            </a:xfrm>
            <a:custGeom>
              <a:avLst/>
              <a:gdLst/>
              <a:ahLst/>
              <a:rect l="l" t="t" r="r" b="b"/>
              <a:pathLst>
                <a:path w="2174875" h="619125">
                  <a:moveTo>
                    <a:pt x="2171700" y="618744"/>
                  </a:moveTo>
                  <a:lnTo>
                    <a:pt x="3048" y="618744"/>
                  </a:lnTo>
                  <a:lnTo>
                    <a:pt x="0" y="617220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2171700" y="0"/>
                  </a:lnTo>
                  <a:lnTo>
                    <a:pt x="2174748" y="1524"/>
                  </a:lnTo>
                  <a:lnTo>
                    <a:pt x="2174748" y="3048"/>
                  </a:ln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lnTo>
                    <a:pt x="9144" y="611124"/>
                  </a:lnTo>
                  <a:lnTo>
                    <a:pt x="4572" y="611124"/>
                  </a:lnTo>
                  <a:lnTo>
                    <a:pt x="9144" y="615696"/>
                  </a:lnTo>
                  <a:lnTo>
                    <a:pt x="2174748" y="615696"/>
                  </a:lnTo>
                  <a:lnTo>
                    <a:pt x="2174748" y="617220"/>
                  </a:lnTo>
                  <a:lnTo>
                    <a:pt x="2171700" y="618744"/>
                  </a:lnTo>
                  <a:close/>
                </a:path>
                <a:path w="2174875" h="619125">
                  <a:moveTo>
                    <a:pt x="9144" y="7620"/>
                  </a:move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close/>
                </a:path>
                <a:path w="2174875" h="619125">
                  <a:moveTo>
                    <a:pt x="2165604" y="7620"/>
                  </a:moveTo>
                  <a:lnTo>
                    <a:pt x="9144" y="7620"/>
                  </a:lnTo>
                  <a:lnTo>
                    <a:pt x="9144" y="3048"/>
                  </a:lnTo>
                  <a:lnTo>
                    <a:pt x="2165604" y="3048"/>
                  </a:lnTo>
                  <a:lnTo>
                    <a:pt x="2165604" y="7620"/>
                  </a:lnTo>
                  <a:close/>
                </a:path>
                <a:path w="2174875" h="619125">
                  <a:moveTo>
                    <a:pt x="2165604" y="615696"/>
                  </a:moveTo>
                  <a:lnTo>
                    <a:pt x="2165604" y="3048"/>
                  </a:lnTo>
                  <a:lnTo>
                    <a:pt x="2170176" y="7620"/>
                  </a:lnTo>
                  <a:lnTo>
                    <a:pt x="2174748" y="7620"/>
                  </a:lnTo>
                  <a:lnTo>
                    <a:pt x="2174748" y="611124"/>
                  </a:lnTo>
                  <a:lnTo>
                    <a:pt x="2170176" y="611124"/>
                  </a:lnTo>
                  <a:lnTo>
                    <a:pt x="2165604" y="615696"/>
                  </a:lnTo>
                  <a:close/>
                </a:path>
                <a:path w="2174875" h="619125">
                  <a:moveTo>
                    <a:pt x="2174748" y="7620"/>
                  </a:moveTo>
                  <a:lnTo>
                    <a:pt x="2170176" y="7620"/>
                  </a:lnTo>
                  <a:lnTo>
                    <a:pt x="2165604" y="3048"/>
                  </a:lnTo>
                  <a:lnTo>
                    <a:pt x="2174748" y="3048"/>
                  </a:lnTo>
                  <a:lnTo>
                    <a:pt x="2174748" y="7620"/>
                  </a:lnTo>
                  <a:close/>
                </a:path>
                <a:path w="2174875" h="619125">
                  <a:moveTo>
                    <a:pt x="9144" y="615696"/>
                  </a:moveTo>
                  <a:lnTo>
                    <a:pt x="4572" y="611124"/>
                  </a:lnTo>
                  <a:lnTo>
                    <a:pt x="9144" y="611124"/>
                  </a:lnTo>
                  <a:lnTo>
                    <a:pt x="9144" y="615696"/>
                  </a:lnTo>
                  <a:close/>
                </a:path>
                <a:path w="2174875" h="619125">
                  <a:moveTo>
                    <a:pt x="2165604" y="615696"/>
                  </a:moveTo>
                  <a:lnTo>
                    <a:pt x="9144" y="615696"/>
                  </a:lnTo>
                  <a:lnTo>
                    <a:pt x="9144" y="611124"/>
                  </a:lnTo>
                  <a:lnTo>
                    <a:pt x="2165604" y="611124"/>
                  </a:lnTo>
                  <a:lnTo>
                    <a:pt x="2165604" y="615696"/>
                  </a:lnTo>
                  <a:close/>
                </a:path>
                <a:path w="2174875" h="619125">
                  <a:moveTo>
                    <a:pt x="2174748" y="615696"/>
                  </a:moveTo>
                  <a:lnTo>
                    <a:pt x="2165604" y="615696"/>
                  </a:lnTo>
                  <a:lnTo>
                    <a:pt x="2170176" y="611124"/>
                  </a:lnTo>
                  <a:lnTo>
                    <a:pt x="2174748" y="611124"/>
                  </a:lnTo>
                  <a:lnTo>
                    <a:pt x="2174748" y="61569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04" name="object 53"/>
          <p:cNvSpPr/>
          <p:nvPr/>
        </p:nvSpPr>
        <p:spPr>
          <a:xfrm>
            <a:off x="8776080" y="5311440"/>
            <a:ext cx="2165760" cy="12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86400" algn="ctr">
              <a:lnSpc>
                <a:spcPts val="2401"/>
              </a:lnSpc>
              <a:buNone/>
            </a:pPr>
            <a:r>
              <a:rPr b="1" lang="en-US" sz="2100" spc="-12" strike="noStrike">
                <a:solidFill>
                  <a:srgbClr val="000000"/>
                </a:solidFill>
                <a:latin typeface="Calibri"/>
                <a:ea typeface="標楷體"/>
              </a:rPr>
              <a:t>Routing</a:t>
            </a:r>
            <a:r>
              <a:rPr b="1" lang="en-US" sz="2100" spc="-35" strike="noStrike">
                <a:solidFill>
                  <a:srgbClr val="000000"/>
                </a:solidFill>
                <a:latin typeface="Calibri"/>
                <a:ea typeface="標楷體"/>
              </a:rPr>
              <a:t> </a:t>
            </a:r>
            <a:r>
              <a:rPr b="1" lang="en-US" sz="2100" spc="-32" strike="noStrike">
                <a:solidFill>
                  <a:srgbClr val="000000"/>
                </a:solidFill>
                <a:latin typeface="Calibri"/>
                <a:ea typeface="標楷體"/>
              </a:rPr>
              <a:t>Table/</a:t>
            </a:r>
            <a:endParaRPr b="0" lang="en-US" sz="2100" spc="-1" strike="noStrike">
              <a:latin typeface="Arial"/>
            </a:endParaRPr>
          </a:p>
          <a:p>
            <a:pPr marL="87120" algn="ctr">
              <a:lnSpc>
                <a:spcPts val="2409"/>
              </a:lnSpc>
              <a:spcBef>
                <a:spcPts val="11"/>
              </a:spcBef>
              <a:buNone/>
            </a:pPr>
            <a:r>
              <a:rPr b="1" lang="en-US" sz="2100" spc="-12" strike="noStrike">
                <a:solidFill>
                  <a:srgbClr val="000000"/>
                </a:solidFill>
                <a:latin typeface="Calibri"/>
                <a:ea typeface="標楷體"/>
              </a:rPr>
              <a:t>Forwarding</a:t>
            </a:r>
            <a:r>
              <a:rPr b="1" lang="en-US" sz="2100" spc="-15" strike="noStrike">
                <a:solidFill>
                  <a:srgbClr val="000000"/>
                </a:solidFill>
                <a:latin typeface="Calibri"/>
                <a:ea typeface="標楷體"/>
              </a:rPr>
              <a:t> </a:t>
            </a:r>
            <a:r>
              <a:rPr b="1" lang="en-US" sz="2100" spc="-41" strike="noStrike">
                <a:solidFill>
                  <a:srgbClr val="000000"/>
                </a:solidFill>
                <a:latin typeface="Calibri"/>
                <a:ea typeface="標楷體"/>
              </a:rPr>
              <a:t>Table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605" name="object 54"/>
          <p:cNvGrpSpPr/>
          <p:nvPr/>
        </p:nvGrpSpPr>
        <p:grpSpPr>
          <a:xfrm>
            <a:off x="8795880" y="3290760"/>
            <a:ext cx="1705320" cy="2020680"/>
            <a:chOff x="8795880" y="3290760"/>
            <a:chExt cx="1705320" cy="2020680"/>
          </a:xfrm>
        </p:grpSpPr>
        <p:sp>
          <p:nvSpPr>
            <p:cNvPr id="606" name="object 55"/>
            <p:cNvSpPr/>
            <p:nvPr/>
          </p:nvSpPr>
          <p:spPr>
            <a:xfrm>
              <a:off x="8795880" y="3290760"/>
              <a:ext cx="1705320" cy="632880"/>
            </a:xfrm>
            <a:custGeom>
              <a:avLst/>
              <a:gdLst/>
              <a:ahLst/>
              <a:rect l="l" t="t" r="r" b="b"/>
              <a:pathLst>
                <a:path w="1705609" h="633095">
                  <a:moveTo>
                    <a:pt x="1705343" y="0"/>
                  </a:moveTo>
                  <a:lnTo>
                    <a:pt x="1598663" y="33528"/>
                  </a:lnTo>
                  <a:lnTo>
                    <a:pt x="1622323" y="58216"/>
                  </a:lnTo>
                  <a:lnTo>
                    <a:pt x="1110703" y="550887"/>
                  </a:lnTo>
                  <a:lnTo>
                    <a:pt x="1088123" y="527304"/>
                  </a:lnTo>
                  <a:lnTo>
                    <a:pt x="1050048" y="632396"/>
                  </a:lnTo>
                  <a:lnTo>
                    <a:pt x="1064844" y="556272"/>
                  </a:lnTo>
                  <a:lnTo>
                    <a:pt x="1071372" y="522744"/>
                  </a:lnTo>
                  <a:lnTo>
                    <a:pt x="1039241" y="531914"/>
                  </a:lnTo>
                  <a:lnTo>
                    <a:pt x="916000" y="92798"/>
                  </a:lnTo>
                  <a:lnTo>
                    <a:pt x="947928" y="83832"/>
                  </a:lnTo>
                  <a:lnTo>
                    <a:pt x="940993" y="76212"/>
                  </a:lnTo>
                  <a:lnTo>
                    <a:pt x="871728" y="12"/>
                  </a:lnTo>
                  <a:lnTo>
                    <a:pt x="850392" y="111264"/>
                  </a:lnTo>
                  <a:lnTo>
                    <a:pt x="882611" y="102196"/>
                  </a:lnTo>
                  <a:lnTo>
                    <a:pt x="1007567" y="540969"/>
                  </a:lnTo>
                  <a:lnTo>
                    <a:pt x="992797" y="545198"/>
                  </a:lnTo>
                  <a:lnTo>
                    <a:pt x="989076" y="539496"/>
                  </a:lnTo>
                  <a:lnTo>
                    <a:pt x="984377" y="547598"/>
                  </a:lnTo>
                  <a:lnTo>
                    <a:pt x="975360" y="550176"/>
                  </a:lnTo>
                  <a:lnTo>
                    <a:pt x="979957" y="555244"/>
                  </a:lnTo>
                  <a:lnTo>
                    <a:pt x="972464" y="568185"/>
                  </a:lnTo>
                  <a:lnTo>
                    <a:pt x="94983" y="57061"/>
                  </a:lnTo>
                  <a:lnTo>
                    <a:pt x="99771" y="48768"/>
                  </a:lnTo>
                  <a:lnTo>
                    <a:pt x="111252" y="28956"/>
                  </a:lnTo>
                  <a:lnTo>
                    <a:pt x="0" y="21336"/>
                  </a:lnTo>
                  <a:lnTo>
                    <a:pt x="60960" y="115824"/>
                  </a:lnTo>
                  <a:lnTo>
                    <a:pt x="78219" y="86017"/>
                  </a:lnTo>
                  <a:lnTo>
                    <a:pt x="955700" y="597141"/>
                  </a:lnTo>
                  <a:lnTo>
                    <a:pt x="938784" y="626364"/>
                  </a:lnTo>
                  <a:lnTo>
                    <a:pt x="1050023" y="632460"/>
                  </a:lnTo>
                  <a:lnTo>
                    <a:pt x="1156703" y="598932"/>
                  </a:lnTo>
                  <a:lnTo>
                    <a:pt x="1145032" y="586740"/>
                  </a:lnTo>
                  <a:lnTo>
                    <a:pt x="1133805" y="575017"/>
                  </a:lnTo>
                  <a:lnTo>
                    <a:pt x="1644713" y="81572"/>
                  </a:lnTo>
                  <a:lnTo>
                    <a:pt x="1668767" y="106680"/>
                  </a:lnTo>
                  <a:lnTo>
                    <a:pt x="1689150" y="47244"/>
                  </a:lnTo>
                  <a:lnTo>
                    <a:pt x="1705343" y="0"/>
                  </a:lnTo>
                  <a:close/>
                </a:path>
              </a:pathLst>
            </a:custGeom>
            <a:solidFill>
              <a:srgbClr val="dd6e0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7" name="object 56"/>
            <p:cNvSpPr/>
            <p:nvPr/>
          </p:nvSpPr>
          <p:spPr>
            <a:xfrm>
              <a:off x="9797040" y="4512960"/>
              <a:ext cx="109440" cy="798480"/>
            </a:xfrm>
            <a:custGeom>
              <a:avLst/>
              <a:gdLst/>
              <a:ahLst/>
              <a:rect l="l" t="t" r="r" b="b"/>
              <a:pathLst>
                <a:path w="109854" h="798829">
                  <a:moveTo>
                    <a:pt x="0" y="100584"/>
                  </a:moveTo>
                  <a:lnTo>
                    <a:pt x="48768" y="0"/>
                  </a:lnTo>
                  <a:lnTo>
                    <a:pt x="91815" y="82296"/>
                  </a:lnTo>
                  <a:lnTo>
                    <a:pt x="67056" y="82296"/>
                  </a:lnTo>
                  <a:lnTo>
                    <a:pt x="33528" y="83820"/>
                  </a:lnTo>
                  <a:lnTo>
                    <a:pt x="33802" y="100071"/>
                  </a:lnTo>
                  <a:lnTo>
                    <a:pt x="0" y="100584"/>
                  </a:lnTo>
                  <a:close/>
                </a:path>
                <a:path w="109854" h="798829">
                  <a:moveTo>
                    <a:pt x="33802" y="100071"/>
                  </a:moveTo>
                  <a:lnTo>
                    <a:pt x="33528" y="83820"/>
                  </a:lnTo>
                  <a:lnTo>
                    <a:pt x="67056" y="82296"/>
                  </a:lnTo>
                  <a:lnTo>
                    <a:pt x="67347" y="99563"/>
                  </a:lnTo>
                  <a:lnTo>
                    <a:pt x="33802" y="100071"/>
                  </a:lnTo>
                  <a:close/>
                </a:path>
                <a:path w="109854" h="798829">
                  <a:moveTo>
                    <a:pt x="67347" y="99563"/>
                  </a:moveTo>
                  <a:lnTo>
                    <a:pt x="67056" y="82296"/>
                  </a:lnTo>
                  <a:lnTo>
                    <a:pt x="91815" y="82296"/>
                  </a:lnTo>
                  <a:lnTo>
                    <a:pt x="100584" y="99060"/>
                  </a:lnTo>
                  <a:lnTo>
                    <a:pt x="67347" y="99563"/>
                  </a:lnTo>
                  <a:close/>
                </a:path>
                <a:path w="109854" h="798829">
                  <a:moveTo>
                    <a:pt x="43904" y="698989"/>
                  </a:moveTo>
                  <a:lnTo>
                    <a:pt x="33802" y="100071"/>
                  </a:lnTo>
                  <a:lnTo>
                    <a:pt x="67347" y="99563"/>
                  </a:lnTo>
                  <a:lnTo>
                    <a:pt x="77449" y="698481"/>
                  </a:lnTo>
                  <a:lnTo>
                    <a:pt x="43904" y="698989"/>
                  </a:lnTo>
                  <a:close/>
                </a:path>
                <a:path w="109854" h="798829">
                  <a:moveTo>
                    <a:pt x="100861" y="716280"/>
                  </a:moveTo>
                  <a:lnTo>
                    <a:pt x="44196" y="716280"/>
                  </a:lnTo>
                  <a:lnTo>
                    <a:pt x="77724" y="714756"/>
                  </a:lnTo>
                  <a:lnTo>
                    <a:pt x="77449" y="698481"/>
                  </a:lnTo>
                  <a:lnTo>
                    <a:pt x="109728" y="697992"/>
                  </a:lnTo>
                  <a:lnTo>
                    <a:pt x="100861" y="716280"/>
                  </a:lnTo>
                  <a:close/>
                </a:path>
                <a:path w="109854" h="798829">
                  <a:moveTo>
                    <a:pt x="44196" y="716280"/>
                  </a:moveTo>
                  <a:lnTo>
                    <a:pt x="43904" y="698989"/>
                  </a:lnTo>
                  <a:lnTo>
                    <a:pt x="77449" y="698481"/>
                  </a:lnTo>
                  <a:lnTo>
                    <a:pt x="77724" y="714756"/>
                  </a:lnTo>
                  <a:lnTo>
                    <a:pt x="44196" y="716280"/>
                  </a:lnTo>
                  <a:close/>
                </a:path>
                <a:path w="109854" h="798829">
                  <a:moveTo>
                    <a:pt x="60960" y="798575"/>
                  </a:moveTo>
                  <a:lnTo>
                    <a:pt x="9144" y="699516"/>
                  </a:lnTo>
                  <a:lnTo>
                    <a:pt x="43904" y="698989"/>
                  </a:lnTo>
                  <a:lnTo>
                    <a:pt x="44196" y="716280"/>
                  </a:lnTo>
                  <a:lnTo>
                    <a:pt x="100861" y="716280"/>
                  </a:lnTo>
                  <a:lnTo>
                    <a:pt x="60960" y="7985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8" name="object 58"/>
          <p:cNvGrpSpPr/>
          <p:nvPr/>
        </p:nvGrpSpPr>
        <p:grpSpPr>
          <a:xfrm>
            <a:off x="9891360" y="3094200"/>
            <a:ext cx="1333800" cy="853560"/>
            <a:chOff x="9891360" y="3094200"/>
            <a:chExt cx="1333800" cy="853560"/>
          </a:xfrm>
        </p:grpSpPr>
        <p:sp>
          <p:nvSpPr>
            <p:cNvPr id="609" name="object 59"/>
            <p:cNvSpPr/>
            <p:nvPr/>
          </p:nvSpPr>
          <p:spPr>
            <a:xfrm>
              <a:off x="9891360" y="3501000"/>
              <a:ext cx="1221840" cy="446760"/>
            </a:xfrm>
            <a:custGeom>
              <a:avLst/>
              <a:gdLst/>
              <a:ahLst/>
              <a:rect l="l" t="t" r="r" b="b"/>
              <a:pathLst>
                <a:path w="1222375" h="447039">
                  <a:moveTo>
                    <a:pt x="1121547" y="31151"/>
                  </a:moveTo>
                  <a:lnTo>
                    <a:pt x="1110996" y="0"/>
                  </a:lnTo>
                  <a:lnTo>
                    <a:pt x="1222248" y="15240"/>
                  </a:lnTo>
                  <a:lnTo>
                    <a:pt x="1211580" y="25908"/>
                  </a:lnTo>
                  <a:lnTo>
                    <a:pt x="1136904" y="25908"/>
                  </a:lnTo>
                  <a:lnTo>
                    <a:pt x="1121547" y="31151"/>
                  </a:lnTo>
                  <a:close/>
                </a:path>
                <a:path w="1222375" h="447039">
                  <a:moveTo>
                    <a:pt x="1132369" y="63103"/>
                  </a:moveTo>
                  <a:lnTo>
                    <a:pt x="1121547" y="31151"/>
                  </a:lnTo>
                  <a:lnTo>
                    <a:pt x="1136904" y="25908"/>
                  </a:lnTo>
                  <a:lnTo>
                    <a:pt x="1147572" y="57912"/>
                  </a:lnTo>
                  <a:lnTo>
                    <a:pt x="1132369" y="63103"/>
                  </a:lnTo>
                  <a:close/>
                </a:path>
                <a:path w="1222375" h="447039">
                  <a:moveTo>
                    <a:pt x="1143000" y="94488"/>
                  </a:moveTo>
                  <a:lnTo>
                    <a:pt x="1132369" y="63103"/>
                  </a:lnTo>
                  <a:lnTo>
                    <a:pt x="1147572" y="57912"/>
                  </a:lnTo>
                  <a:lnTo>
                    <a:pt x="1136904" y="25908"/>
                  </a:lnTo>
                  <a:lnTo>
                    <a:pt x="1211580" y="25908"/>
                  </a:lnTo>
                  <a:lnTo>
                    <a:pt x="1143000" y="94488"/>
                  </a:lnTo>
                  <a:close/>
                </a:path>
                <a:path w="1222375" h="447039">
                  <a:moveTo>
                    <a:pt x="100700" y="415380"/>
                  </a:moveTo>
                  <a:lnTo>
                    <a:pt x="89878" y="383428"/>
                  </a:lnTo>
                  <a:lnTo>
                    <a:pt x="1121547" y="31151"/>
                  </a:lnTo>
                  <a:lnTo>
                    <a:pt x="1132369" y="63103"/>
                  </a:lnTo>
                  <a:lnTo>
                    <a:pt x="100700" y="415380"/>
                  </a:lnTo>
                  <a:close/>
                </a:path>
                <a:path w="1222375" h="447039">
                  <a:moveTo>
                    <a:pt x="111252" y="446532"/>
                  </a:moveTo>
                  <a:lnTo>
                    <a:pt x="0" y="431292"/>
                  </a:lnTo>
                  <a:lnTo>
                    <a:pt x="79248" y="352044"/>
                  </a:lnTo>
                  <a:lnTo>
                    <a:pt x="89878" y="383428"/>
                  </a:lnTo>
                  <a:lnTo>
                    <a:pt x="74676" y="388620"/>
                  </a:lnTo>
                  <a:lnTo>
                    <a:pt x="85343" y="420624"/>
                  </a:lnTo>
                  <a:lnTo>
                    <a:pt x="102476" y="420624"/>
                  </a:lnTo>
                  <a:lnTo>
                    <a:pt x="111252" y="446532"/>
                  </a:lnTo>
                  <a:close/>
                </a:path>
                <a:path w="1222375" h="447039">
                  <a:moveTo>
                    <a:pt x="85343" y="420624"/>
                  </a:moveTo>
                  <a:lnTo>
                    <a:pt x="74676" y="388620"/>
                  </a:lnTo>
                  <a:lnTo>
                    <a:pt x="89878" y="383428"/>
                  </a:lnTo>
                  <a:lnTo>
                    <a:pt x="100700" y="415380"/>
                  </a:lnTo>
                  <a:lnTo>
                    <a:pt x="85343" y="420624"/>
                  </a:lnTo>
                  <a:close/>
                </a:path>
                <a:path w="1222375" h="447039">
                  <a:moveTo>
                    <a:pt x="102476" y="420624"/>
                  </a:moveTo>
                  <a:lnTo>
                    <a:pt x="85343" y="420624"/>
                  </a:lnTo>
                  <a:lnTo>
                    <a:pt x="100700" y="415380"/>
                  </a:lnTo>
                  <a:lnTo>
                    <a:pt x="102476" y="420624"/>
                  </a:lnTo>
                  <a:close/>
                </a:path>
              </a:pathLst>
            </a:custGeom>
            <a:solidFill>
              <a:srgbClr val="dd6e0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0" name="object 60"/>
            <p:cNvSpPr/>
            <p:nvPr/>
          </p:nvSpPr>
          <p:spPr>
            <a:xfrm>
              <a:off x="10933920" y="3105000"/>
              <a:ext cx="32040" cy="32040"/>
            </a:xfrm>
            <a:custGeom>
              <a:avLst/>
              <a:gdLst/>
              <a:ahLst/>
              <a:rect l="l" t="t" r="r" b="b"/>
              <a:pathLst>
                <a:path w="32384" h="32385">
                  <a:moveTo>
                    <a:pt x="32003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32003" y="0"/>
                  </a:lnTo>
                  <a:lnTo>
                    <a:pt x="32003" y="32004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1" name="object 61"/>
            <p:cNvSpPr/>
            <p:nvPr/>
          </p:nvSpPr>
          <p:spPr>
            <a:xfrm>
              <a:off x="10929240" y="3100320"/>
              <a:ext cx="39600" cy="41040"/>
            </a:xfrm>
            <a:custGeom>
              <a:avLst/>
              <a:gdLst/>
              <a:ahLst/>
              <a:rect l="l" t="t" r="r" b="b"/>
              <a:pathLst>
                <a:path w="40004" h="41275">
                  <a:moveTo>
                    <a:pt x="38100" y="41148"/>
                  </a:moveTo>
                  <a:lnTo>
                    <a:pt x="1524" y="41148"/>
                  </a:lnTo>
                  <a:lnTo>
                    <a:pt x="0" y="38100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38100" y="0"/>
                  </a:lnTo>
                  <a:lnTo>
                    <a:pt x="39624" y="3048"/>
                  </a:lnTo>
                  <a:lnTo>
                    <a:pt x="39624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32004"/>
                  </a:lnTo>
                  <a:lnTo>
                    <a:pt x="4572" y="32004"/>
                  </a:lnTo>
                  <a:lnTo>
                    <a:pt x="9144" y="36576"/>
                  </a:lnTo>
                  <a:lnTo>
                    <a:pt x="39624" y="36576"/>
                  </a:lnTo>
                  <a:lnTo>
                    <a:pt x="39624" y="38100"/>
                  </a:lnTo>
                  <a:lnTo>
                    <a:pt x="38100" y="41148"/>
                  </a:lnTo>
                  <a:close/>
                </a:path>
                <a:path w="40004" h="4127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40004" h="41275">
                  <a:moveTo>
                    <a:pt x="3200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32004" y="4572"/>
                  </a:lnTo>
                  <a:lnTo>
                    <a:pt x="32004" y="9144"/>
                  </a:lnTo>
                  <a:close/>
                </a:path>
                <a:path w="40004" h="41275">
                  <a:moveTo>
                    <a:pt x="32004" y="36576"/>
                  </a:moveTo>
                  <a:lnTo>
                    <a:pt x="32004" y="4572"/>
                  </a:lnTo>
                  <a:lnTo>
                    <a:pt x="36576" y="9144"/>
                  </a:lnTo>
                  <a:lnTo>
                    <a:pt x="39624" y="9144"/>
                  </a:lnTo>
                  <a:lnTo>
                    <a:pt x="39624" y="32004"/>
                  </a:lnTo>
                  <a:lnTo>
                    <a:pt x="36576" y="32004"/>
                  </a:lnTo>
                  <a:lnTo>
                    <a:pt x="32004" y="36576"/>
                  </a:lnTo>
                  <a:close/>
                </a:path>
                <a:path w="40004" h="41275">
                  <a:moveTo>
                    <a:pt x="39624" y="9144"/>
                  </a:moveTo>
                  <a:lnTo>
                    <a:pt x="36576" y="9144"/>
                  </a:lnTo>
                  <a:lnTo>
                    <a:pt x="32004" y="4572"/>
                  </a:lnTo>
                  <a:lnTo>
                    <a:pt x="39624" y="4572"/>
                  </a:lnTo>
                  <a:lnTo>
                    <a:pt x="39624" y="9144"/>
                  </a:lnTo>
                  <a:close/>
                </a:path>
                <a:path w="40004" h="41275">
                  <a:moveTo>
                    <a:pt x="9144" y="36576"/>
                  </a:moveTo>
                  <a:lnTo>
                    <a:pt x="4572" y="32004"/>
                  </a:lnTo>
                  <a:lnTo>
                    <a:pt x="9144" y="32004"/>
                  </a:lnTo>
                  <a:lnTo>
                    <a:pt x="9144" y="36576"/>
                  </a:lnTo>
                  <a:close/>
                </a:path>
                <a:path w="40004" h="41275">
                  <a:moveTo>
                    <a:pt x="32004" y="36576"/>
                  </a:moveTo>
                  <a:lnTo>
                    <a:pt x="9144" y="36576"/>
                  </a:lnTo>
                  <a:lnTo>
                    <a:pt x="9144" y="32004"/>
                  </a:lnTo>
                  <a:lnTo>
                    <a:pt x="32004" y="32004"/>
                  </a:lnTo>
                  <a:lnTo>
                    <a:pt x="32004" y="36576"/>
                  </a:lnTo>
                  <a:close/>
                </a:path>
                <a:path w="40004" h="41275">
                  <a:moveTo>
                    <a:pt x="39624" y="36576"/>
                  </a:moveTo>
                  <a:lnTo>
                    <a:pt x="32004" y="36576"/>
                  </a:lnTo>
                  <a:lnTo>
                    <a:pt x="36576" y="32004"/>
                  </a:lnTo>
                  <a:lnTo>
                    <a:pt x="39624" y="32004"/>
                  </a:lnTo>
                  <a:lnTo>
                    <a:pt x="39624" y="36576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2" name="object 62"/>
            <p:cNvSpPr/>
            <p:nvPr/>
          </p:nvSpPr>
          <p:spPr>
            <a:xfrm>
              <a:off x="11063520" y="3101760"/>
              <a:ext cx="32040" cy="30240"/>
            </a:xfrm>
            <a:custGeom>
              <a:avLst/>
              <a:gdLst/>
              <a:ahLst/>
              <a:rect l="l" t="t" r="r" b="b"/>
              <a:pathLst>
                <a:path w="32384" h="30479">
                  <a:moveTo>
                    <a:pt x="32003" y="30480"/>
                  </a:moveTo>
                  <a:lnTo>
                    <a:pt x="0" y="30480"/>
                  </a:lnTo>
                  <a:lnTo>
                    <a:pt x="0" y="0"/>
                  </a:lnTo>
                  <a:lnTo>
                    <a:pt x="32003" y="0"/>
                  </a:lnTo>
                  <a:lnTo>
                    <a:pt x="32003" y="30480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3" name="object 63"/>
            <p:cNvSpPr/>
            <p:nvPr/>
          </p:nvSpPr>
          <p:spPr>
            <a:xfrm>
              <a:off x="11058840" y="3097080"/>
              <a:ext cx="41040" cy="39600"/>
            </a:xfrm>
            <a:custGeom>
              <a:avLst/>
              <a:gdLst/>
              <a:ahLst/>
              <a:rect l="l" t="t" r="r" b="b"/>
              <a:pathLst>
                <a:path w="41275" h="40004">
                  <a:moveTo>
                    <a:pt x="38100" y="39624"/>
                  </a:moveTo>
                  <a:lnTo>
                    <a:pt x="3048" y="39624"/>
                  </a:lnTo>
                  <a:lnTo>
                    <a:pt x="0" y="38100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38100" y="0"/>
                  </a:lnTo>
                  <a:lnTo>
                    <a:pt x="41148" y="1524"/>
                  </a:lnTo>
                  <a:lnTo>
                    <a:pt x="41148" y="4572"/>
                  </a:lnTo>
                  <a:lnTo>
                    <a:pt x="9144" y="4572"/>
                  </a:lnTo>
                  <a:lnTo>
                    <a:pt x="4572" y="7620"/>
                  </a:lnTo>
                  <a:lnTo>
                    <a:pt x="9144" y="7620"/>
                  </a:lnTo>
                  <a:lnTo>
                    <a:pt x="9144" y="32004"/>
                  </a:lnTo>
                  <a:lnTo>
                    <a:pt x="4572" y="32004"/>
                  </a:lnTo>
                  <a:lnTo>
                    <a:pt x="9144" y="35052"/>
                  </a:lnTo>
                  <a:lnTo>
                    <a:pt x="41148" y="35052"/>
                  </a:lnTo>
                  <a:lnTo>
                    <a:pt x="41148" y="38100"/>
                  </a:lnTo>
                  <a:lnTo>
                    <a:pt x="38100" y="39624"/>
                  </a:lnTo>
                  <a:close/>
                </a:path>
                <a:path w="41275" h="40004">
                  <a:moveTo>
                    <a:pt x="9144" y="7620"/>
                  </a:moveTo>
                  <a:lnTo>
                    <a:pt x="4572" y="7620"/>
                  </a:lnTo>
                  <a:lnTo>
                    <a:pt x="9144" y="4572"/>
                  </a:lnTo>
                  <a:lnTo>
                    <a:pt x="9144" y="7620"/>
                  </a:lnTo>
                  <a:close/>
                </a:path>
                <a:path w="41275" h="40004">
                  <a:moveTo>
                    <a:pt x="32004" y="7620"/>
                  </a:moveTo>
                  <a:lnTo>
                    <a:pt x="9144" y="7620"/>
                  </a:lnTo>
                  <a:lnTo>
                    <a:pt x="9144" y="4572"/>
                  </a:lnTo>
                  <a:lnTo>
                    <a:pt x="32004" y="4572"/>
                  </a:lnTo>
                  <a:lnTo>
                    <a:pt x="32004" y="7620"/>
                  </a:lnTo>
                  <a:close/>
                </a:path>
                <a:path w="41275" h="40004">
                  <a:moveTo>
                    <a:pt x="32004" y="35052"/>
                  </a:moveTo>
                  <a:lnTo>
                    <a:pt x="32004" y="4572"/>
                  </a:lnTo>
                  <a:lnTo>
                    <a:pt x="36576" y="7620"/>
                  </a:lnTo>
                  <a:lnTo>
                    <a:pt x="41148" y="7620"/>
                  </a:lnTo>
                  <a:lnTo>
                    <a:pt x="41148" y="32004"/>
                  </a:lnTo>
                  <a:lnTo>
                    <a:pt x="36576" y="32004"/>
                  </a:lnTo>
                  <a:lnTo>
                    <a:pt x="32004" y="35052"/>
                  </a:lnTo>
                  <a:close/>
                </a:path>
                <a:path w="41275" h="40004">
                  <a:moveTo>
                    <a:pt x="41148" y="7620"/>
                  </a:moveTo>
                  <a:lnTo>
                    <a:pt x="36576" y="7620"/>
                  </a:lnTo>
                  <a:lnTo>
                    <a:pt x="32004" y="4572"/>
                  </a:lnTo>
                  <a:lnTo>
                    <a:pt x="41148" y="4572"/>
                  </a:lnTo>
                  <a:lnTo>
                    <a:pt x="41148" y="7620"/>
                  </a:lnTo>
                  <a:close/>
                </a:path>
                <a:path w="41275" h="40004">
                  <a:moveTo>
                    <a:pt x="9144" y="35052"/>
                  </a:moveTo>
                  <a:lnTo>
                    <a:pt x="4572" y="32004"/>
                  </a:lnTo>
                  <a:lnTo>
                    <a:pt x="9144" y="32004"/>
                  </a:lnTo>
                  <a:lnTo>
                    <a:pt x="9144" y="35052"/>
                  </a:lnTo>
                  <a:close/>
                </a:path>
                <a:path w="41275" h="40004">
                  <a:moveTo>
                    <a:pt x="32004" y="35052"/>
                  </a:moveTo>
                  <a:lnTo>
                    <a:pt x="9144" y="35052"/>
                  </a:lnTo>
                  <a:lnTo>
                    <a:pt x="9144" y="32004"/>
                  </a:lnTo>
                  <a:lnTo>
                    <a:pt x="32004" y="32004"/>
                  </a:lnTo>
                  <a:lnTo>
                    <a:pt x="32004" y="35052"/>
                  </a:lnTo>
                  <a:close/>
                </a:path>
                <a:path w="41275" h="40004">
                  <a:moveTo>
                    <a:pt x="41148" y="35052"/>
                  </a:moveTo>
                  <a:lnTo>
                    <a:pt x="32004" y="35052"/>
                  </a:lnTo>
                  <a:lnTo>
                    <a:pt x="36576" y="32004"/>
                  </a:lnTo>
                  <a:lnTo>
                    <a:pt x="41148" y="32004"/>
                  </a:lnTo>
                  <a:lnTo>
                    <a:pt x="41148" y="35052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4" name="object 64"/>
            <p:cNvSpPr/>
            <p:nvPr/>
          </p:nvSpPr>
          <p:spPr>
            <a:xfrm>
              <a:off x="11189880" y="3098880"/>
              <a:ext cx="30240" cy="30240"/>
            </a:xfrm>
            <a:custGeom>
              <a:avLst/>
              <a:gdLst/>
              <a:ahLst/>
              <a:rect l="l" t="t" r="r" b="b"/>
              <a:pathLst>
                <a:path w="30479" h="30479">
                  <a:moveTo>
                    <a:pt x="30480" y="30479"/>
                  </a:moveTo>
                  <a:lnTo>
                    <a:pt x="0" y="30479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30479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5" name="object 65"/>
            <p:cNvSpPr/>
            <p:nvPr/>
          </p:nvSpPr>
          <p:spPr>
            <a:xfrm>
              <a:off x="11185560" y="3094200"/>
              <a:ext cx="39600" cy="39600"/>
            </a:xfrm>
            <a:custGeom>
              <a:avLst/>
              <a:gdLst/>
              <a:ahLst/>
              <a:rect l="l" t="t" r="r" b="b"/>
              <a:pathLst>
                <a:path w="40004" h="40004">
                  <a:moveTo>
                    <a:pt x="38100" y="39624"/>
                  </a:moveTo>
                  <a:lnTo>
                    <a:pt x="1524" y="39624"/>
                  </a:lnTo>
                  <a:lnTo>
                    <a:pt x="0" y="38100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8100" y="0"/>
                  </a:lnTo>
                  <a:lnTo>
                    <a:pt x="39624" y="1524"/>
                  </a:lnTo>
                  <a:lnTo>
                    <a:pt x="39624" y="4572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lnTo>
                    <a:pt x="7620" y="32004"/>
                  </a:lnTo>
                  <a:lnTo>
                    <a:pt x="4572" y="32004"/>
                  </a:lnTo>
                  <a:lnTo>
                    <a:pt x="7620" y="35052"/>
                  </a:lnTo>
                  <a:lnTo>
                    <a:pt x="39624" y="35052"/>
                  </a:lnTo>
                  <a:lnTo>
                    <a:pt x="39624" y="38100"/>
                  </a:lnTo>
                  <a:lnTo>
                    <a:pt x="38100" y="39624"/>
                  </a:lnTo>
                  <a:close/>
                </a:path>
                <a:path w="40004" h="40004">
                  <a:moveTo>
                    <a:pt x="7620" y="7620"/>
                  </a:move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close/>
                </a:path>
                <a:path w="40004" h="40004">
                  <a:moveTo>
                    <a:pt x="32004" y="7620"/>
                  </a:moveTo>
                  <a:lnTo>
                    <a:pt x="7620" y="7620"/>
                  </a:lnTo>
                  <a:lnTo>
                    <a:pt x="7620" y="4572"/>
                  </a:lnTo>
                  <a:lnTo>
                    <a:pt x="32004" y="4572"/>
                  </a:lnTo>
                  <a:lnTo>
                    <a:pt x="32004" y="7620"/>
                  </a:lnTo>
                  <a:close/>
                </a:path>
                <a:path w="40004" h="40004">
                  <a:moveTo>
                    <a:pt x="32004" y="35052"/>
                  </a:moveTo>
                  <a:lnTo>
                    <a:pt x="32004" y="4572"/>
                  </a:lnTo>
                  <a:lnTo>
                    <a:pt x="35052" y="7620"/>
                  </a:lnTo>
                  <a:lnTo>
                    <a:pt x="39624" y="7620"/>
                  </a:lnTo>
                  <a:lnTo>
                    <a:pt x="39624" y="32004"/>
                  </a:lnTo>
                  <a:lnTo>
                    <a:pt x="35052" y="32004"/>
                  </a:lnTo>
                  <a:lnTo>
                    <a:pt x="32004" y="35052"/>
                  </a:lnTo>
                  <a:close/>
                </a:path>
                <a:path w="40004" h="40004">
                  <a:moveTo>
                    <a:pt x="39624" y="7620"/>
                  </a:moveTo>
                  <a:lnTo>
                    <a:pt x="35052" y="7620"/>
                  </a:lnTo>
                  <a:lnTo>
                    <a:pt x="32004" y="4572"/>
                  </a:lnTo>
                  <a:lnTo>
                    <a:pt x="39624" y="4572"/>
                  </a:lnTo>
                  <a:lnTo>
                    <a:pt x="39624" y="7620"/>
                  </a:lnTo>
                  <a:close/>
                </a:path>
                <a:path w="40004" h="40004">
                  <a:moveTo>
                    <a:pt x="7620" y="35052"/>
                  </a:moveTo>
                  <a:lnTo>
                    <a:pt x="4572" y="32004"/>
                  </a:lnTo>
                  <a:lnTo>
                    <a:pt x="7620" y="32004"/>
                  </a:lnTo>
                  <a:lnTo>
                    <a:pt x="7620" y="35052"/>
                  </a:lnTo>
                  <a:close/>
                </a:path>
                <a:path w="40004" h="40004">
                  <a:moveTo>
                    <a:pt x="32004" y="35052"/>
                  </a:moveTo>
                  <a:lnTo>
                    <a:pt x="7620" y="35052"/>
                  </a:lnTo>
                  <a:lnTo>
                    <a:pt x="7620" y="32004"/>
                  </a:lnTo>
                  <a:lnTo>
                    <a:pt x="32004" y="32004"/>
                  </a:lnTo>
                  <a:lnTo>
                    <a:pt x="32004" y="35052"/>
                  </a:lnTo>
                  <a:close/>
                </a:path>
                <a:path w="40004" h="40004">
                  <a:moveTo>
                    <a:pt x="39624" y="35052"/>
                  </a:moveTo>
                  <a:lnTo>
                    <a:pt x="32004" y="35052"/>
                  </a:lnTo>
                  <a:lnTo>
                    <a:pt x="35052" y="32004"/>
                  </a:lnTo>
                  <a:lnTo>
                    <a:pt x="39624" y="32004"/>
                  </a:lnTo>
                  <a:lnTo>
                    <a:pt x="39624" y="35052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6" name="object 66"/>
            <p:cNvSpPr/>
            <p:nvPr/>
          </p:nvSpPr>
          <p:spPr>
            <a:xfrm>
              <a:off x="10539360" y="3476520"/>
              <a:ext cx="30240" cy="30240"/>
            </a:xfrm>
            <a:custGeom>
              <a:avLst/>
              <a:gdLst/>
              <a:ahLst/>
              <a:rect l="l" t="t" r="r" b="b"/>
              <a:pathLst>
                <a:path w="30479" h="30479">
                  <a:moveTo>
                    <a:pt x="30480" y="30480"/>
                  </a:moveTo>
                  <a:lnTo>
                    <a:pt x="0" y="30480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30480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7" name="object 67"/>
            <p:cNvSpPr/>
            <p:nvPr/>
          </p:nvSpPr>
          <p:spPr>
            <a:xfrm>
              <a:off x="10534680" y="3472200"/>
              <a:ext cx="39600" cy="39600"/>
            </a:xfrm>
            <a:custGeom>
              <a:avLst/>
              <a:gdLst/>
              <a:ahLst/>
              <a:rect l="l" t="t" r="r" b="b"/>
              <a:pathLst>
                <a:path w="40004" h="40004">
                  <a:moveTo>
                    <a:pt x="38100" y="39624"/>
                  </a:moveTo>
                  <a:lnTo>
                    <a:pt x="1524" y="39624"/>
                  </a:lnTo>
                  <a:lnTo>
                    <a:pt x="0" y="38100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8100" y="0"/>
                  </a:lnTo>
                  <a:lnTo>
                    <a:pt x="39624" y="1524"/>
                  </a:lnTo>
                  <a:lnTo>
                    <a:pt x="39624" y="4572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lnTo>
                    <a:pt x="7620" y="30480"/>
                  </a:lnTo>
                  <a:lnTo>
                    <a:pt x="4572" y="30480"/>
                  </a:lnTo>
                  <a:lnTo>
                    <a:pt x="7620" y="35052"/>
                  </a:lnTo>
                  <a:lnTo>
                    <a:pt x="39624" y="35052"/>
                  </a:lnTo>
                  <a:lnTo>
                    <a:pt x="39624" y="38100"/>
                  </a:lnTo>
                  <a:lnTo>
                    <a:pt x="38100" y="39624"/>
                  </a:lnTo>
                  <a:close/>
                </a:path>
                <a:path w="40004" h="40004">
                  <a:moveTo>
                    <a:pt x="7620" y="7620"/>
                  </a:move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close/>
                </a:path>
                <a:path w="40004" h="40004">
                  <a:moveTo>
                    <a:pt x="32004" y="7620"/>
                  </a:moveTo>
                  <a:lnTo>
                    <a:pt x="7620" y="7620"/>
                  </a:lnTo>
                  <a:lnTo>
                    <a:pt x="7620" y="4572"/>
                  </a:lnTo>
                  <a:lnTo>
                    <a:pt x="32004" y="4572"/>
                  </a:lnTo>
                  <a:lnTo>
                    <a:pt x="32004" y="7620"/>
                  </a:lnTo>
                  <a:close/>
                </a:path>
                <a:path w="40004" h="40004">
                  <a:moveTo>
                    <a:pt x="32004" y="35052"/>
                  </a:moveTo>
                  <a:lnTo>
                    <a:pt x="32004" y="4572"/>
                  </a:lnTo>
                  <a:lnTo>
                    <a:pt x="35052" y="7620"/>
                  </a:lnTo>
                  <a:lnTo>
                    <a:pt x="39624" y="7620"/>
                  </a:lnTo>
                  <a:lnTo>
                    <a:pt x="39624" y="30480"/>
                  </a:lnTo>
                  <a:lnTo>
                    <a:pt x="35052" y="30480"/>
                  </a:lnTo>
                  <a:lnTo>
                    <a:pt x="32004" y="35052"/>
                  </a:lnTo>
                  <a:close/>
                </a:path>
                <a:path w="40004" h="40004">
                  <a:moveTo>
                    <a:pt x="39624" y="7620"/>
                  </a:moveTo>
                  <a:lnTo>
                    <a:pt x="35052" y="7620"/>
                  </a:lnTo>
                  <a:lnTo>
                    <a:pt x="32004" y="4572"/>
                  </a:lnTo>
                  <a:lnTo>
                    <a:pt x="39624" y="4572"/>
                  </a:lnTo>
                  <a:lnTo>
                    <a:pt x="39624" y="7620"/>
                  </a:lnTo>
                  <a:close/>
                </a:path>
                <a:path w="40004" h="40004">
                  <a:moveTo>
                    <a:pt x="7620" y="35052"/>
                  </a:moveTo>
                  <a:lnTo>
                    <a:pt x="4572" y="30480"/>
                  </a:lnTo>
                  <a:lnTo>
                    <a:pt x="7620" y="30480"/>
                  </a:lnTo>
                  <a:lnTo>
                    <a:pt x="7620" y="35052"/>
                  </a:lnTo>
                  <a:close/>
                </a:path>
                <a:path w="40004" h="40004">
                  <a:moveTo>
                    <a:pt x="32004" y="35052"/>
                  </a:moveTo>
                  <a:lnTo>
                    <a:pt x="7620" y="35052"/>
                  </a:lnTo>
                  <a:lnTo>
                    <a:pt x="7620" y="30480"/>
                  </a:lnTo>
                  <a:lnTo>
                    <a:pt x="32004" y="30480"/>
                  </a:lnTo>
                  <a:lnTo>
                    <a:pt x="32004" y="35052"/>
                  </a:lnTo>
                  <a:close/>
                </a:path>
                <a:path w="40004" h="40004">
                  <a:moveTo>
                    <a:pt x="39624" y="35052"/>
                  </a:moveTo>
                  <a:lnTo>
                    <a:pt x="32004" y="35052"/>
                  </a:lnTo>
                  <a:lnTo>
                    <a:pt x="35052" y="30480"/>
                  </a:lnTo>
                  <a:lnTo>
                    <a:pt x="39624" y="30480"/>
                  </a:lnTo>
                  <a:lnTo>
                    <a:pt x="39624" y="35052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8" name="object 68"/>
            <p:cNvSpPr/>
            <p:nvPr/>
          </p:nvSpPr>
          <p:spPr>
            <a:xfrm>
              <a:off x="10668600" y="3472200"/>
              <a:ext cx="32040" cy="32040"/>
            </a:xfrm>
            <a:custGeom>
              <a:avLst/>
              <a:gdLst/>
              <a:ahLst/>
              <a:rect l="l" t="t" r="r" b="b"/>
              <a:pathLst>
                <a:path w="32384" h="32385">
                  <a:moveTo>
                    <a:pt x="32003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32003" y="0"/>
                  </a:lnTo>
                  <a:lnTo>
                    <a:pt x="32003" y="32004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9" name="object 69"/>
            <p:cNvSpPr/>
            <p:nvPr/>
          </p:nvSpPr>
          <p:spPr>
            <a:xfrm>
              <a:off x="10664280" y="3467520"/>
              <a:ext cx="39600" cy="41040"/>
            </a:xfrm>
            <a:custGeom>
              <a:avLst/>
              <a:gdLst/>
              <a:ahLst/>
              <a:rect l="l" t="t" r="r" b="b"/>
              <a:pathLst>
                <a:path w="40004" h="41275">
                  <a:moveTo>
                    <a:pt x="38100" y="41148"/>
                  </a:moveTo>
                  <a:lnTo>
                    <a:pt x="1524" y="41148"/>
                  </a:lnTo>
                  <a:lnTo>
                    <a:pt x="0" y="38100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38100" y="0"/>
                  </a:lnTo>
                  <a:lnTo>
                    <a:pt x="39624" y="3048"/>
                  </a:lnTo>
                  <a:lnTo>
                    <a:pt x="39624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32004"/>
                  </a:lnTo>
                  <a:lnTo>
                    <a:pt x="4572" y="32004"/>
                  </a:lnTo>
                  <a:lnTo>
                    <a:pt x="9144" y="36576"/>
                  </a:lnTo>
                  <a:lnTo>
                    <a:pt x="39624" y="36576"/>
                  </a:lnTo>
                  <a:lnTo>
                    <a:pt x="39624" y="38100"/>
                  </a:lnTo>
                  <a:lnTo>
                    <a:pt x="38100" y="41148"/>
                  </a:lnTo>
                  <a:close/>
                </a:path>
                <a:path w="40004" h="4127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40004" h="41275">
                  <a:moveTo>
                    <a:pt x="3200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32004" y="4572"/>
                  </a:lnTo>
                  <a:lnTo>
                    <a:pt x="32004" y="9144"/>
                  </a:lnTo>
                  <a:close/>
                </a:path>
                <a:path w="40004" h="41275">
                  <a:moveTo>
                    <a:pt x="32004" y="36576"/>
                  </a:moveTo>
                  <a:lnTo>
                    <a:pt x="32004" y="4572"/>
                  </a:lnTo>
                  <a:lnTo>
                    <a:pt x="36576" y="9144"/>
                  </a:lnTo>
                  <a:lnTo>
                    <a:pt x="39624" y="9144"/>
                  </a:lnTo>
                  <a:lnTo>
                    <a:pt x="39624" y="32004"/>
                  </a:lnTo>
                  <a:lnTo>
                    <a:pt x="36576" y="32004"/>
                  </a:lnTo>
                  <a:lnTo>
                    <a:pt x="32004" y="36576"/>
                  </a:lnTo>
                  <a:close/>
                </a:path>
                <a:path w="40004" h="41275">
                  <a:moveTo>
                    <a:pt x="39624" y="9144"/>
                  </a:moveTo>
                  <a:lnTo>
                    <a:pt x="36576" y="9144"/>
                  </a:lnTo>
                  <a:lnTo>
                    <a:pt x="32004" y="4572"/>
                  </a:lnTo>
                  <a:lnTo>
                    <a:pt x="39624" y="4572"/>
                  </a:lnTo>
                  <a:lnTo>
                    <a:pt x="39624" y="9144"/>
                  </a:lnTo>
                  <a:close/>
                </a:path>
                <a:path w="40004" h="41275">
                  <a:moveTo>
                    <a:pt x="9144" y="36576"/>
                  </a:moveTo>
                  <a:lnTo>
                    <a:pt x="4572" y="32004"/>
                  </a:lnTo>
                  <a:lnTo>
                    <a:pt x="9144" y="32004"/>
                  </a:lnTo>
                  <a:lnTo>
                    <a:pt x="9144" y="36576"/>
                  </a:lnTo>
                  <a:close/>
                </a:path>
                <a:path w="40004" h="41275">
                  <a:moveTo>
                    <a:pt x="32004" y="36576"/>
                  </a:moveTo>
                  <a:lnTo>
                    <a:pt x="9144" y="36576"/>
                  </a:lnTo>
                  <a:lnTo>
                    <a:pt x="9144" y="32004"/>
                  </a:lnTo>
                  <a:lnTo>
                    <a:pt x="32004" y="32004"/>
                  </a:lnTo>
                  <a:lnTo>
                    <a:pt x="32004" y="36576"/>
                  </a:lnTo>
                  <a:close/>
                </a:path>
                <a:path w="40004" h="41275">
                  <a:moveTo>
                    <a:pt x="39624" y="36576"/>
                  </a:moveTo>
                  <a:lnTo>
                    <a:pt x="32004" y="36576"/>
                  </a:lnTo>
                  <a:lnTo>
                    <a:pt x="36576" y="32004"/>
                  </a:lnTo>
                  <a:lnTo>
                    <a:pt x="39624" y="32004"/>
                  </a:lnTo>
                  <a:lnTo>
                    <a:pt x="39624" y="36576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0" name="object 70"/>
            <p:cNvSpPr/>
            <p:nvPr/>
          </p:nvSpPr>
          <p:spPr>
            <a:xfrm>
              <a:off x="10793880" y="3468960"/>
              <a:ext cx="32040" cy="32040"/>
            </a:xfrm>
            <a:custGeom>
              <a:avLst/>
              <a:gdLst/>
              <a:ahLst/>
              <a:rect l="l" t="t" r="r" b="b"/>
              <a:pathLst>
                <a:path w="32384" h="32385">
                  <a:moveTo>
                    <a:pt x="32003" y="32003"/>
                  </a:moveTo>
                  <a:lnTo>
                    <a:pt x="0" y="32003"/>
                  </a:lnTo>
                  <a:lnTo>
                    <a:pt x="0" y="0"/>
                  </a:lnTo>
                  <a:lnTo>
                    <a:pt x="32003" y="0"/>
                  </a:lnTo>
                  <a:lnTo>
                    <a:pt x="32003" y="32003"/>
                  </a:lnTo>
                  <a:close/>
                </a:path>
              </a:pathLst>
            </a:custGeom>
            <a:solidFill>
              <a:srgbClr val="ffd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1" name="object 71"/>
            <p:cNvSpPr/>
            <p:nvPr/>
          </p:nvSpPr>
          <p:spPr>
            <a:xfrm>
              <a:off x="10790640" y="3464640"/>
              <a:ext cx="39600" cy="41040"/>
            </a:xfrm>
            <a:custGeom>
              <a:avLst/>
              <a:gdLst/>
              <a:ahLst/>
              <a:rect l="l" t="t" r="r" b="b"/>
              <a:pathLst>
                <a:path w="40004" h="41275">
                  <a:moveTo>
                    <a:pt x="38100" y="41148"/>
                  </a:moveTo>
                  <a:lnTo>
                    <a:pt x="1524" y="41148"/>
                  </a:lnTo>
                  <a:lnTo>
                    <a:pt x="0" y="38100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38100" y="0"/>
                  </a:lnTo>
                  <a:lnTo>
                    <a:pt x="39624" y="3048"/>
                  </a:lnTo>
                  <a:lnTo>
                    <a:pt x="39624" y="4572"/>
                  </a:lnTo>
                  <a:lnTo>
                    <a:pt x="7620" y="4572"/>
                  </a:lnTo>
                  <a:lnTo>
                    <a:pt x="3048" y="9144"/>
                  </a:lnTo>
                  <a:lnTo>
                    <a:pt x="7620" y="9144"/>
                  </a:lnTo>
                  <a:lnTo>
                    <a:pt x="7620" y="32004"/>
                  </a:lnTo>
                  <a:lnTo>
                    <a:pt x="3048" y="32004"/>
                  </a:lnTo>
                  <a:lnTo>
                    <a:pt x="7620" y="36576"/>
                  </a:lnTo>
                  <a:lnTo>
                    <a:pt x="39624" y="36576"/>
                  </a:lnTo>
                  <a:lnTo>
                    <a:pt x="39624" y="38100"/>
                  </a:lnTo>
                  <a:lnTo>
                    <a:pt x="38100" y="41148"/>
                  </a:lnTo>
                  <a:close/>
                </a:path>
                <a:path w="40004" h="41275">
                  <a:moveTo>
                    <a:pt x="7620" y="9144"/>
                  </a:moveTo>
                  <a:lnTo>
                    <a:pt x="3048" y="9144"/>
                  </a:lnTo>
                  <a:lnTo>
                    <a:pt x="7620" y="4572"/>
                  </a:lnTo>
                  <a:lnTo>
                    <a:pt x="7620" y="9144"/>
                  </a:lnTo>
                  <a:close/>
                </a:path>
                <a:path w="40004" h="41275">
                  <a:moveTo>
                    <a:pt x="30480" y="9144"/>
                  </a:moveTo>
                  <a:lnTo>
                    <a:pt x="7620" y="9144"/>
                  </a:lnTo>
                  <a:lnTo>
                    <a:pt x="7620" y="4572"/>
                  </a:lnTo>
                  <a:lnTo>
                    <a:pt x="30480" y="4572"/>
                  </a:lnTo>
                  <a:lnTo>
                    <a:pt x="30480" y="9144"/>
                  </a:lnTo>
                  <a:close/>
                </a:path>
                <a:path w="40004" h="41275">
                  <a:moveTo>
                    <a:pt x="30480" y="36576"/>
                  </a:moveTo>
                  <a:lnTo>
                    <a:pt x="30480" y="4572"/>
                  </a:lnTo>
                  <a:lnTo>
                    <a:pt x="35052" y="9144"/>
                  </a:lnTo>
                  <a:lnTo>
                    <a:pt x="39624" y="9144"/>
                  </a:lnTo>
                  <a:lnTo>
                    <a:pt x="39624" y="32004"/>
                  </a:lnTo>
                  <a:lnTo>
                    <a:pt x="35052" y="32004"/>
                  </a:lnTo>
                  <a:lnTo>
                    <a:pt x="30480" y="36576"/>
                  </a:lnTo>
                  <a:close/>
                </a:path>
                <a:path w="40004" h="41275">
                  <a:moveTo>
                    <a:pt x="39624" y="9144"/>
                  </a:moveTo>
                  <a:lnTo>
                    <a:pt x="35052" y="9144"/>
                  </a:lnTo>
                  <a:lnTo>
                    <a:pt x="30480" y="4572"/>
                  </a:lnTo>
                  <a:lnTo>
                    <a:pt x="39624" y="4572"/>
                  </a:lnTo>
                  <a:lnTo>
                    <a:pt x="39624" y="9144"/>
                  </a:lnTo>
                  <a:close/>
                </a:path>
                <a:path w="40004" h="41275">
                  <a:moveTo>
                    <a:pt x="7620" y="36576"/>
                  </a:moveTo>
                  <a:lnTo>
                    <a:pt x="3048" y="32004"/>
                  </a:lnTo>
                  <a:lnTo>
                    <a:pt x="7620" y="32004"/>
                  </a:lnTo>
                  <a:lnTo>
                    <a:pt x="7620" y="36576"/>
                  </a:lnTo>
                  <a:close/>
                </a:path>
                <a:path w="40004" h="41275">
                  <a:moveTo>
                    <a:pt x="30480" y="36576"/>
                  </a:moveTo>
                  <a:lnTo>
                    <a:pt x="7620" y="36576"/>
                  </a:lnTo>
                  <a:lnTo>
                    <a:pt x="7620" y="32004"/>
                  </a:lnTo>
                  <a:lnTo>
                    <a:pt x="30480" y="32004"/>
                  </a:lnTo>
                  <a:lnTo>
                    <a:pt x="30480" y="36576"/>
                  </a:lnTo>
                  <a:close/>
                </a:path>
                <a:path w="40004" h="41275">
                  <a:moveTo>
                    <a:pt x="39624" y="36576"/>
                  </a:moveTo>
                  <a:lnTo>
                    <a:pt x="30480" y="36576"/>
                  </a:lnTo>
                  <a:lnTo>
                    <a:pt x="35052" y="32004"/>
                  </a:lnTo>
                  <a:lnTo>
                    <a:pt x="39624" y="32004"/>
                  </a:lnTo>
                  <a:lnTo>
                    <a:pt x="39624" y="36576"/>
                  </a:lnTo>
                  <a:close/>
                </a:path>
              </a:pathLst>
            </a:custGeom>
            <a:solidFill>
              <a:srgbClr val="b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22" name="直線接點 77"/>
          <p:cNvSpPr/>
          <p:nvPr/>
        </p:nvSpPr>
        <p:spPr>
          <a:xfrm flipV="1">
            <a:off x="8673480" y="4907880"/>
            <a:ext cx="2496240" cy="3960"/>
          </a:xfrm>
          <a:prstGeom prst="line">
            <a:avLst/>
          </a:prstGeom>
          <a:ln w="28575">
            <a:solidFill>
              <a:srgbClr val="ff0000"/>
            </a:solidFill>
            <a:prstDash val="dash"/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623" name="文字方塊 82"/>
          <p:cNvSpPr/>
          <p:nvPr/>
        </p:nvSpPr>
        <p:spPr>
          <a:xfrm>
            <a:off x="10223280" y="4456080"/>
            <a:ext cx="1079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ff0000"/>
                </a:solidFill>
                <a:latin typeface="Calibri"/>
                <a:ea typeface="標楷體"/>
              </a:rPr>
              <a:t>User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624" name="文字方塊 83"/>
          <p:cNvSpPr/>
          <p:nvPr/>
        </p:nvSpPr>
        <p:spPr>
          <a:xfrm>
            <a:off x="10223280" y="4912560"/>
            <a:ext cx="1079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ff0000"/>
                </a:solidFill>
                <a:latin typeface="Calibri"/>
                <a:ea typeface="標楷體"/>
              </a:rPr>
              <a:t>Kernel</a:t>
            </a:r>
            <a:endParaRPr b="0" lang="en-US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Enabling FPM Module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To enable FPM, you have to set –M fpm in zebra_options at /etc/frr/daemons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627" name="圖片 3" descr=""/>
          <p:cNvPicPr/>
          <p:nvPr/>
        </p:nvPicPr>
        <p:blipFill>
          <a:blip r:embed="rId1"/>
          <a:stretch/>
        </p:blipFill>
        <p:spPr>
          <a:xfrm>
            <a:off x="3746880" y="1644120"/>
            <a:ext cx="5104440" cy="4544640"/>
          </a:xfrm>
          <a:prstGeom prst="rect">
            <a:avLst/>
          </a:prstGeom>
          <a:ln w="0">
            <a:noFill/>
          </a:ln>
        </p:spPr>
      </p:pic>
      <p:sp>
        <p:nvSpPr>
          <p:cNvPr id="628" name="矩形 4"/>
          <p:cNvSpPr/>
          <p:nvPr/>
        </p:nvSpPr>
        <p:spPr>
          <a:xfrm>
            <a:off x="4050720" y="1911240"/>
            <a:ext cx="692280" cy="250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矩形 5"/>
          <p:cNvSpPr/>
          <p:nvPr/>
        </p:nvSpPr>
        <p:spPr>
          <a:xfrm>
            <a:off x="4050720" y="6048360"/>
            <a:ext cx="3473640" cy="172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圖片 16" descr=""/>
          <p:cNvPicPr/>
          <p:nvPr/>
        </p:nvPicPr>
        <p:blipFill>
          <a:blip r:embed="rId1"/>
          <a:stretch/>
        </p:blipFill>
        <p:spPr>
          <a:xfrm>
            <a:off x="6465240" y="2349000"/>
            <a:ext cx="3701520" cy="3612960"/>
          </a:xfrm>
          <a:prstGeom prst="rect">
            <a:avLst/>
          </a:prstGeom>
          <a:ln w="0">
            <a:noFill/>
          </a:ln>
        </p:spPr>
      </p:pic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FRRouting Configuration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Configurations in /etc/frr/frr.conf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633" name="圖片 6" descr=""/>
          <p:cNvPicPr/>
          <p:nvPr/>
        </p:nvPicPr>
        <p:blipFill>
          <a:blip r:embed="rId2"/>
          <a:stretch/>
        </p:blipFill>
        <p:spPr>
          <a:xfrm>
            <a:off x="800280" y="1416960"/>
            <a:ext cx="3966840" cy="4857480"/>
          </a:xfrm>
          <a:prstGeom prst="rect">
            <a:avLst/>
          </a:prstGeom>
          <a:ln w="0">
            <a:noFill/>
          </a:ln>
        </p:spPr>
      </p:pic>
      <p:sp>
        <p:nvSpPr>
          <p:cNvPr id="634" name="矩形 7"/>
          <p:cNvSpPr/>
          <p:nvPr/>
        </p:nvSpPr>
        <p:spPr>
          <a:xfrm>
            <a:off x="6911280" y="2383920"/>
            <a:ext cx="2921040" cy="14616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文字方塊 8"/>
          <p:cNvSpPr/>
          <p:nvPr/>
        </p:nvSpPr>
        <p:spPr>
          <a:xfrm>
            <a:off x="2328120" y="2878200"/>
            <a:ext cx="4335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Peer Group (template) for neighbors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6" name="矩形 10"/>
          <p:cNvSpPr/>
          <p:nvPr/>
        </p:nvSpPr>
        <p:spPr>
          <a:xfrm>
            <a:off x="1117800" y="4155480"/>
            <a:ext cx="3079800" cy="1944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文字方塊 11"/>
          <p:cNvSpPr/>
          <p:nvPr/>
        </p:nvSpPr>
        <p:spPr>
          <a:xfrm>
            <a:off x="3989880" y="4068360"/>
            <a:ext cx="21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Use the template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8" name="矩形 12"/>
          <p:cNvSpPr/>
          <p:nvPr/>
        </p:nvSpPr>
        <p:spPr>
          <a:xfrm>
            <a:off x="1102680" y="4524840"/>
            <a:ext cx="3664440" cy="1944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文字方塊 13"/>
          <p:cNvSpPr/>
          <p:nvPr/>
        </p:nvSpPr>
        <p:spPr>
          <a:xfrm>
            <a:off x="4615560" y="4437720"/>
            <a:ext cx="190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BGP Passwords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0" name="矩形 14"/>
          <p:cNvSpPr/>
          <p:nvPr/>
        </p:nvSpPr>
        <p:spPr>
          <a:xfrm>
            <a:off x="1102680" y="4922280"/>
            <a:ext cx="2358720" cy="1944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文字方塊 15"/>
          <p:cNvSpPr/>
          <p:nvPr/>
        </p:nvSpPr>
        <p:spPr>
          <a:xfrm>
            <a:off x="3717000" y="4894200"/>
            <a:ext cx="2557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Don’t advertise the prefix that you received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2" name="矩形 17"/>
          <p:cNvSpPr/>
          <p:nvPr/>
        </p:nvSpPr>
        <p:spPr>
          <a:xfrm>
            <a:off x="1127520" y="3172680"/>
            <a:ext cx="3141360" cy="7801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3" name="文字方塊 18"/>
          <p:cNvSpPr/>
          <p:nvPr/>
        </p:nvSpPr>
        <p:spPr>
          <a:xfrm>
            <a:off x="6510960" y="2014560"/>
            <a:ext cx="461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Announce IPv4 prefix on IPv4 Interface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4" name="矩形 19"/>
          <p:cNvSpPr/>
          <p:nvPr/>
        </p:nvSpPr>
        <p:spPr>
          <a:xfrm>
            <a:off x="6874560" y="4068360"/>
            <a:ext cx="3242880" cy="14616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文字方塊 20"/>
          <p:cNvSpPr/>
          <p:nvPr/>
        </p:nvSpPr>
        <p:spPr>
          <a:xfrm>
            <a:off x="8237160" y="5555520"/>
            <a:ext cx="281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Same as IPv6 Interface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6" name="矩形 3"/>
          <p:cNvSpPr/>
          <p:nvPr/>
        </p:nvSpPr>
        <p:spPr>
          <a:xfrm>
            <a:off x="2259360" y="3172680"/>
            <a:ext cx="890280" cy="194400"/>
          </a:xfrm>
          <a:prstGeom prst="rect">
            <a:avLst/>
          </a:prstGeom>
          <a:solidFill>
            <a:srgbClr val="f2dcdb">
              <a:alpha val="50000"/>
            </a:srgbClr>
          </a:solidFill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7" name="矩形 21"/>
          <p:cNvSpPr/>
          <p:nvPr/>
        </p:nvSpPr>
        <p:spPr>
          <a:xfrm>
            <a:off x="1128240" y="2172600"/>
            <a:ext cx="3402000" cy="2656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8" name="文字方塊 22"/>
          <p:cNvSpPr/>
          <p:nvPr/>
        </p:nvSpPr>
        <p:spPr>
          <a:xfrm>
            <a:off x="3673800" y="1803240"/>
            <a:ext cx="197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FPM</a:t>
            </a: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 connection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9" name="矩形 23"/>
          <p:cNvSpPr/>
          <p:nvPr/>
        </p:nvSpPr>
        <p:spPr>
          <a:xfrm>
            <a:off x="2896560" y="4148640"/>
            <a:ext cx="890280" cy="194400"/>
          </a:xfrm>
          <a:prstGeom prst="rect">
            <a:avLst/>
          </a:prstGeom>
          <a:solidFill>
            <a:srgbClr val="f2dcdb">
              <a:alpha val="50000"/>
            </a:srgbClr>
          </a:solidFill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文字方塊 24"/>
          <p:cNvSpPr/>
          <p:nvPr/>
        </p:nvSpPr>
        <p:spPr>
          <a:xfrm>
            <a:off x="3073680" y="6090120"/>
            <a:ext cx="9832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NOTE* Older versions of FRRouting might not work, this is just an example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Gateway Traffic Handling Example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Any packets within the domain only knows about the gateway’s MAC.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After analyzing the information (IP), it will change the according MAC and sends the packet out.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655" name="矩形 3"/>
          <p:cNvSpPr/>
          <p:nvPr/>
        </p:nvSpPr>
        <p:spPr>
          <a:xfrm>
            <a:off x="1845360" y="4723200"/>
            <a:ext cx="1640880" cy="644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A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56" name="圖片 35" descr=""/>
          <p:cNvPicPr/>
          <p:nvPr/>
        </p:nvPicPr>
        <p:blipFill>
          <a:blip r:embed="rId1"/>
          <a:stretch/>
        </p:blipFill>
        <p:spPr>
          <a:xfrm>
            <a:off x="4555440" y="488340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657" name="直線單箭頭接點 5"/>
          <p:cNvSpPr/>
          <p:nvPr/>
        </p:nvSpPr>
        <p:spPr>
          <a:xfrm flipV="1">
            <a:off x="3486240" y="5044680"/>
            <a:ext cx="1068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5715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658" name="圖片 37" descr=""/>
          <p:cNvPicPr/>
          <p:nvPr/>
        </p:nvPicPr>
        <p:blipFill>
          <a:blip r:embed="rId2"/>
          <a:stretch/>
        </p:blipFill>
        <p:spPr>
          <a:xfrm>
            <a:off x="7219080" y="488340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659" name="直線單箭頭接點 38"/>
          <p:cNvSpPr/>
          <p:nvPr/>
        </p:nvSpPr>
        <p:spPr>
          <a:xfrm>
            <a:off x="5029560" y="5045400"/>
            <a:ext cx="2188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5715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矩形 41"/>
          <p:cNvSpPr/>
          <p:nvPr/>
        </p:nvSpPr>
        <p:spPr>
          <a:xfrm>
            <a:off x="8762040" y="4723200"/>
            <a:ext cx="1640880" cy="644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B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61" name="直線單箭頭接點 42"/>
          <p:cNvSpPr/>
          <p:nvPr/>
        </p:nvSpPr>
        <p:spPr>
          <a:xfrm flipV="1">
            <a:off x="7693200" y="5044680"/>
            <a:ext cx="1068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5715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文字方塊 13"/>
          <p:cNvSpPr/>
          <p:nvPr/>
        </p:nvSpPr>
        <p:spPr>
          <a:xfrm>
            <a:off x="2256840" y="3785400"/>
            <a:ext cx="859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MAC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63" name="文字方塊 49"/>
          <p:cNvSpPr/>
          <p:nvPr/>
        </p:nvSpPr>
        <p:spPr>
          <a:xfrm>
            <a:off x="2293200" y="3309480"/>
            <a:ext cx="786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IP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64" name="文字方塊 52"/>
          <p:cNvSpPr/>
          <p:nvPr/>
        </p:nvSpPr>
        <p:spPr>
          <a:xfrm>
            <a:off x="4399200" y="5207040"/>
            <a:ext cx="786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1f497d"/>
                </a:solidFill>
                <a:latin typeface="Calibri"/>
                <a:ea typeface="標楷體"/>
              </a:rPr>
              <a:t>R1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65" name="文字方塊 53"/>
          <p:cNvSpPr/>
          <p:nvPr/>
        </p:nvSpPr>
        <p:spPr>
          <a:xfrm>
            <a:off x="7062120" y="5207040"/>
            <a:ext cx="786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1f497d"/>
                </a:solidFill>
                <a:latin typeface="Calibri"/>
                <a:ea typeface="標楷體"/>
              </a:rPr>
              <a:t>R2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666" name="群組 15"/>
          <p:cNvGrpSpPr/>
          <p:nvPr/>
        </p:nvGrpSpPr>
        <p:grpSpPr>
          <a:xfrm>
            <a:off x="3211200" y="2833200"/>
            <a:ext cx="1573200" cy="1611360"/>
            <a:chOff x="3211200" y="2833200"/>
            <a:chExt cx="1573200" cy="1611360"/>
          </a:xfrm>
        </p:grpSpPr>
        <p:sp>
          <p:nvSpPr>
            <p:cNvPr id="667" name="矩形 12"/>
            <p:cNvSpPr/>
            <p:nvPr/>
          </p:nvSpPr>
          <p:spPr>
            <a:xfrm>
              <a:off x="3211200" y="4219560"/>
              <a:ext cx="1573200" cy="225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8" name="矩形 47"/>
            <p:cNvSpPr/>
            <p:nvPr/>
          </p:nvSpPr>
          <p:spPr>
            <a:xfrm>
              <a:off x="3211200" y="375804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A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69" name="矩形 51"/>
            <p:cNvSpPr/>
            <p:nvPr/>
          </p:nvSpPr>
          <p:spPr>
            <a:xfrm>
              <a:off x="3997800" y="375804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R1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0" name="矩形 54"/>
            <p:cNvSpPr/>
            <p:nvPr/>
          </p:nvSpPr>
          <p:spPr>
            <a:xfrm>
              <a:off x="3211200" y="329652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A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1" name="矩形 55"/>
            <p:cNvSpPr/>
            <p:nvPr/>
          </p:nvSpPr>
          <p:spPr>
            <a:xfrm>
              <a:off x="3997800" y="329652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B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2" name="文字方塊 58"/>
            <p:cNvSpPr/>
            <p:nvPr/>
          </p:nvSpPr>
          <p:spPr>
            <a:xfrm>
              <a:off x="3211200" y="283464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c0504d"/>
                  </a:solidFill>
                  <a:latin typeface="Calibri"/>
                  <a:ea typeface="標楷體"/>
                </a:rPr>
                <a:t>src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3" name="文字方塊 59"/>
            <p:cNvSpPr/>
            <p:nvPr/>
          </p:nvSpPr>
          <p:spPr>
            <a:xfrm>
              <a:off x="3997800" y="283320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c0504d"/>
                  </a:solidFill>
                  <a:latin typeface="Calibri"/>
                  <a:ea typeface="標楷體"/>
                </a:rPr>
                <a:t>dst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674" name="群組 93"/>
          <p:cNvGrpSpPr/>
          <p:nvPr/>
        </p:nvGrpSpPr>
        <p:grpSpPr>
          <a:xfrm>
            <a:off x="5337720" y="2833200"/>
            <a:ext cx="1573200" cy="1611360"/>
            <a:chOff x="5337720" y="2833200"/>
            <a:chExt cx="1573200" cy="1611360"/>
          </a:xfrm>
        </p:grpSpPr>
        <p:sp>
          <p:nvSpPr>
            <p:cNvPr id="675" name="矩形 94"/>
            <p:cNvSpPr/>
            <p:nvPr/>
          </p:nvSpPr>
          <p:spPr>
            <a:xfrm>
              <a:off x="5337720" y="4219560"/>
              <a:ext cx="1573200" cy="225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矩形 95"/>
            <p:cNvSpPr/>
            <p:nvPr/>
          </p:nvSpPr>
          <p:spPr>
            <a:xfrm>
              <a:off x="5337720" y="375804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R1’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7" name="矩形 96"/>
            <p:cNvSpPr/>
            <p:nvPr/>
          </p:nvSpPr>
          <p:spPr>
            <a:xfrm>
              <a:off x="6124320" y="375804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R2’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8" name="矩形 97"/>
            <p:cNvSpPr/>
            <p:nvPr/>
          </p:nvSpPr>
          <p:spPr>
            <a:xfrm>
              <a:off x="5337720" y="329652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A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79" name="矩形 98"/>
            <p:cNvSpPr/>
            <p:nvPr/>
          </p:nvSpPr>
          <p:spPr>
            <a:xfrm>
              <a:off x="6124320" y="329652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B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0" name="文字方塊 99"/>
            <p:cNvSpPr/>
            <p:nvPr/>
          </p:nvSpPr>
          <p:spPr>
            <a:xfrm>
              <a:off x="5337720" y="283464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c0504d"/>
                  </a:solidFill>
                  <a:latin typeface="Calibri"/>
                  <a:ea typeface="標楷體"/>
                </a:rPr>
                <a:t>src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1" name="文字方塊 100"/>
            <p:cNvSpPr/>
            <p:nvPr/>
          </p:nvSpPr>
          <p:spPr>
            <a:xfrm>
              <a:off x="6124320" y="283320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c0504d"/>
                  </a:solidFill>
                  <a:latin typeface="Calibri"/>
                  <a:ea typeface="標楷體"/>
                </a:rPr>
                <a:t>dst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682" name="群組 101"/>
          <p:cNvGrpSpPr/>
          <p:nvPr/>
        </p:nvGrpSpPr>
        <p:grpSpPr>
          <a:xfrm>
            <a:off x="7463880" y="2837520"/>
            <a:ext cx="1573200" cy="1611720"/>
            <a:chOff x="7463880" y="2837520"/>
            <a:chExt cx="1573200" cy="1611720"/>
          </a:xfrm>
        </p:grpSpPr>
        <p:sp>
          <p:nvSpPr>
            <p:cNvPr id="683" name="矩形 102"/>
            <p:cNvSpPr/>
            <p:nvPr/>
          </p:nvSpPr>
          <p:spPr>
            <a:xfrm>
              <a:off x="7463880" y="4224240"/>
              <a:ext cx="1573200" cy="225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矩形 103"/>
            <p:cNvSpPr/>
            <p:nvPr/>
          </p:nvSpPr>
          <p:spPr>
            <a:xfrm>
              <a:off x="7463880" y="376236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R2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5" name="矩形 104"/>
            <p:cNvSpPr/>
            <p:nvPr/>
          </p:nvSpPr>
          <p:spPr>
            <a:xfrm>
              <a:off x="8250840" y="376236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B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6" name="矩形 105"/>
            <p:cNvSpPr/>
            <p:nvPr/>
          </p:nvSpPr>
          <p:spPr>
            <a:xfrm>
              <a:off x="7463880" y="330084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A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7" name="矩形 106"/>
            <p:cNvSpPr/>
            <p:nvPr/>
          </p:nvSpPr>
          <p:spPr>
            <a:xfrm>
              <a:off x="8250840" y="3300840"/>
              <a:ext cx="786240" cy="4611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B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8" name="文字方塊 107"/>
            <p:cNvSpPr/>
            <p:nvPr/>
          </p:nvSpPr>
          <p:spPr>
            <a:xfrm>
              <a:off x="7463880" y="283932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c0504d"/>
                  </a:solidFill>
                  <a:latin typeface="Calibri"/>
                  <a:ea typeface="標楷體"/>
                </a:rPr>
                <a:t>src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689" name="文字方塊 108"/>
            <p:cNvSpPr/>
            <p:nvPr/>
          </p:nvSpPr>
          <p:spPr>
            <a:xfrm>
              <a:off x="8250840" y="283752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c0504d"/>
                  </a:solidFill>
                  <a:latin typeface="Calibri"/>
                  <a:ea typeface="標楷體"/>
                </a:rPr>
                <a:t>dst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690" name="矩形 20"/>
          <p:cNvSpPr/>
          <p:nvPr/>
        </p:nvSpPr>
        <p:spPr>
          <a:xfrm>
            <a:off x="1127520" y="2613600"/>
            <a:ext cx="3656880" cy="3337200"/>
          </a:xfrm>
          <a:prstGeom prst="rect">
            <a:avLst/>
          </a:prstGeom>
          <a:solidFill>
            <a:srgbClr val="fdeada">
              <a:alpha val="3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e46c0a"/>
                </a:solidFill>
                <a:latin typeface="Times New Roman"/>
                <a:ea typeface="標楷體"/>
              </a:rPr>
              <a:t>DOMAIN A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91" name="矩形 117"/>
          <p:cNvSpPr/>
          <p:nvPr/>
        </p:nvSpPr>
        <p:spPr>
          <a:xfrm>
            <a:off x="7463880" y="2613600"/>
            <a:ext cx="3529440" cy="3337200"/>
          </a:xfrm>
          <a:prstGeom prst="rect">
            <a:avLst/>
          </a:prstGeom>
          <a:solidFill>
            <a:srgbClr val="fdeada">
              <a:alpha val="3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e46c0a"/>
                </a:solidFill>
                <a:latin typeface="Times New Roman"/>
                <a:ea typeface="標楷體"/>
              </a:rPr>
              <a:t>DOMAIN B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Transit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Traffics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Transit traffics are in fact two interdomain traffics.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grpSp>
        <p:nvGrpSpPr>
          <p:cNvPr id="694" name="群組 3"/>
          <p:cNvGrpSpPr/>
          <p:nvPr/>
        </p:nvGrpSpPr>
        <p:grpSpPr>
          <a:xfrm>
            <a:off x="1730160" y="2324520"/>
            <a:ext cx="8558280" cy="4082760"/>
            <a:chOff x="1730160" y="2324520"/>
            <a:chExt cx="8558280" cy="4082760"/>
          </a:xfrm>
        </p:grpSpPr>
        <p:sp>
          <p:nvSpPr>
            <p:cNvPr id="695" name="矩形 97"/>
            <p:cNvSpPr/>
            <p:nvPr/>
          </p:nvSpPr>
          <p:spPr>
            <a:xfrm flipH="1">
              <a:off x="1730160" y="3633120"/>
              <a:ext cx="3529440" cy="1584720"/>
            </a:xfrm>
            <a:prstGeom prst="rect">
              <a:avLst/>
            </a:prstGeom>
            <a:solidFill>
              <a:srgbClr val="fdeada">
                <a:alpha val="30000"/>
              </a:srgb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e46c0a"/>
                  </a:solidFill>
                  <a:latin typeface="Times New Roman"/>
                  <a:ea typeface="標楷體"/>
                </a:rPr>
                <a:t>DOMAIN A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96" name="矩形 35"/>
            <p:cNvSpPr/>
            <p:nvPr/>
          </p:nvSpPr>
          <p:spPr>
            <a:xfrm flipH="1">
              <a:off x="7926120" y="3092400"/>
              <a:ext cx="1640880" cy="644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Host B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697" name="圖片 36" descr=""/>
            <p:cNvPicPr/>
            <p:nvPr/>
          </p:nvPicPr>
          <p:blipFill>
            <a:blip r:embed="rId1"/>
            <a:stretch/>
          </p:blipFill>
          <p:spPr>
            <a:xfrm flipH="1">
              <a:off x="6383160" y="3252600"/>
              <a:ext cx="473760" cy="323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98" name="直線單箭頭接點 37"/>
            <p:cNvSpPr/>
            <p:nvPr/>
          </p:nvSpPr>
          <p:spPr>
            <a:xfrm flipH="1" flipV="1">
              <a:off x="6856200" y="3413880"/>
              <a:ext cx="10688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5715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99" name="圖片 38" descr=""/>
            <p:cNvPicPr/>
            <p:nvPr/>
          </p:nvPicPr>
          <p:blipFill>
            <a:blip r:embed="rId2"/>
            <a:stretch/>
          </p:blipFill>
          <p:spPr>
            <a:xfrm flipH="1">
              <a:off x="5022720" y="4296600"/>
              <a:ext cx="473760" cy="323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00" name="直線單箭頭接點 39"/>
            <p:cNvSpPr/>
            <p:nvPr/>
          </p:nvSpPr>
          <p:spPr>
            <a:xfrm flipH="1">
              <a:off x="5495760" y="3414600"/>
              <a:ext cx="885960" cy="1043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5715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文字方塊 44"/>
            <p:cNvSpPr/>
            <p:nvPr/>
          </p:nvSpPr>
          <p:spPr>
            <a:xfrm flipH="1">
              <a:off x="6226560" y="357660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1f497d"/>
                  </a:solidFill>
                  <a:latin typeface="Calibri"/>
                  <a:ea typeface="標楷體"/>
                </a:rPr>
                <a:t>R1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702" name="文字方塊 45"/>
            <p:cNvSpPr/>
            <p:nvPr/>
          </p:nvSpPr>
          <p:spPr>
            <a:xfrm flipH="1">
              <a:off x="4866480" y="462024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1f497d"/>
                  </a:solidFill>
                  <a:latin typeface="Calibri"/>
                  <a:ea typeface="標楷體"/>
                </a:rPr>
                <a:t>R2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703" name="矩形 96"/>
            <p:cNvSpPr/>
            <p:nvPr/>
          </p:nvSpPr>
          <p:spPr>
            <a:xfrm flipH="1">
              <a:off x="6619680" y="2449800"/>
              <a:ext cx="3656880" cy="1584720"/>
            </a:xfrm>
            <a:prstGeom prst="rect">
              <a:avLst/>
            </a:prstGeom>
            <a:solidFill>
              <a:srgbClr val="fdeada">
                <a:alpha val="30000"/>
              </a:srgb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e46c0a"/>
                  </a:solidFill>
                  <a:latin typeface="Times New Roman"/>
                  <a:ea typeface="標楷體"/>
                </a:rPr>
                <a:t>DOMAIN B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04" name="矩形 100"/>
            <p:cNvSpPr/>
            <p:nvPr/>
          </p:nvSpPr>
          <p:spPr>
            <a:xfrm flipH="1">
              <a:off x="7926120" y="5175720"/>
              <a:ext cx="1640880" cy="644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Host C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705" name="圖片 101" descr=""/>
            <p:cNvPicPr/>
            <p:nvPr/>
          </p:nvPicPr>
          <p:blipFill>
            <a:blip r:embed="rId3"/>
            <a:stretch/>
          </p:blipFill>
          <p:spPr>
            <a:xfrm flipH="1">
              <a:off x="6383160" y="5335920"/>
              <a:ext cx="473760" cy="323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06" name="直線單箭頭接點 102"/>
            <p:cNvSpPr/>
            <p:nvPr/>
          </p:nvSpPr>
          <p:spPr>
            <a:xfrm flipH="1" flipV="1">
              <a:off x="6856200" y="5497200"/>
              <a:ext cx="10688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5715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文字方塊 103"/>
            <p:cNvSpPr/>
            <p:nvPr/>
          </p:nvSpPr>
          <p:spPr>
            <a:xfrm flipH="1">
              <a:off x="6226560" y="5659560"/>
              <a:ext cx="786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400" spc="-1" strike="noStrike">
                  <a:solidFill>
                    <a:srgbClr val="1f497d"/>
                  </a:solidFill>
                  <a:latin typeface="Calibri"/>
                  <a:ea typeface="標楷體"/>
                </a:rPr>
                <a:t>R4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708" name="直線單箭頭接點 107"/>
            <p:cNvSpPr/>
            <p:nvPr/>
          </p:nvSpPr>
          <p:spPr>
            <a:xfrm flipH="1" flipV="1">
              <a:off x="5495760" y="4458240"/>
              <a:ext cx="885960" cy="1038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5715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矩形 104"/>
            <p:cNvSpPr/>
            <p:nvPr/>
          </p:nvSpPr>
          <p:spPr>
            <a:xfrm flipH="1">
              <a:off x="6631560" y="4536360"/>
              <a:ext cx="3656880" cy="1584720"/>
            </a:xfrm>
            <a:prstGeom prst="rect">
              <a:avLst/>
            </a:prstGeom>
            <a:solidFill>
              <a:srgbClr val="fdeada">
                <a:alpha val="30000"/>
              </a:srgb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e46c0a"/>
                  </a:solidFill>
                  <a:latin typeface="Times New Roman"/>
                  <a:ea typeface="標楷體"/>
                </a:rPr>
                <a:t>DOMAIN C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710" name="群組 28"/>
            <p:cNvGrpSpPr/>
            <p:nvPr/>
          </p:nvGrpSpPr>
          <p:grpSpPr>
            <a:xfrm>
              <a:off x="4264920" y="2324520"/>
              <a:ext cx="1573200" cy="1611720"/>
              <a:chOff x="4264920" y="2324520"/>
              <a:chExt cx="1573200" cy="1611720"/>
            </a:xfrm>
          </p:grpSpPr>
          <p:sp>
            <p:nvSpPr>
              <p:cNvPr id="711" name="矩形 29"/>
              <p:cNvSpPr/>
              <p:nvPr/>
            </p:nvSpPr>
            <p:spPr>
              <a:xfrm flipH="1">
                <a:off x="4264920" y="3711240"/>
                <a:ext cx="1573200" cy="225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2" name="矩形 30"/>
              <p:cNvSpPr/>
              <p:nvPr/>
            </p:nvSpPr>
            <p:spPr>
              <a:xfrm flipH="1">
                <a:off x="5051520" y="324936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R1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13" name="矩形 31"/>
              <p:cNvSpPr/>
              <p:nvPr/>
            </p:nvSpPr>
            <p:spPr>
              <a:xfrm flipH="1">
                <a:off x="4264920" y="324936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R2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14" name="矩形 32"/>
              <p:cNvSpPr/>
              <p:nvPr/>
            </p:nvSpPr>
            <p:spPr>
              <a:xfrm flipH="1">
                <a:off x="5051520" y="278784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B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15" name="矩形 33"/>
              <p:cNvSpPr/>
              <p:nvPr/>
            </p:nvSpPr>
            <p:spPr>
              <a:xfrm flipH="1">
                <a:off x="4264920" y="278784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C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16" name="文字方塊 34"/>
              <p:cNvSpPr/>
              <p:nvPr/>
            </p:nvSpPr>
            <p:spPr>
              <a:xfrm flipH="1">
                <a:off x="5051520" y="2326320"/>
                <a:ext cx="7862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c0504d"/>
                    </a:solidFill>
                    <a:latin typeface="Calibri"/>
                    <a:ea typeface="標楷體"/>
                  </a:rPr>
                  <a:t>src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17" name="文字方塊 40"/>
              <p:cNvSpPr/>
              <p:nvPr/>
            </p:nvSpPr>
            <p:spPr>
              <a:xfrm flipH="1">
                <a:off x="4264920" y="2324520"/>
                <a:ext cx="7862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c0504d"/>
                    </a:solidFill>
                    <a:latin typeface="Calibri"/>
                    <a:ea typeface="標楷體"/>
                  </a:rPr>
                  <a:t>dst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  <p:grpSp>
          <p:nvGrpSpPr>
            <p:cNvPr id="718" name="群組 42"/>
            <p:cNvGrpSpPr/>
            <p:nvPr/>
          </p:nvGrpSpPr>
          <p:grpSpPr>
            <a:xfrm>
              <a:off x="4429080" y="4795560"/>
              <a:ext cx="1573200" cy="1611720"/>
              <a:chOff x="4429080" y="4795560"/>
              <a:chExt cx="1573200" cy="1611720"/>
            </a:xfrm>
          </p:grpSpPr>
          <p:sp>
            <p:nvSpPr>
              <p:cNvPr id="719" name="矩形 43"/>
              <p:cNvSpPr/>
              <p:nvPr/>
            </p:nvSpPr>
            <p:spPr>
              <a:xfrm flipH="1">
                <a:off x="4429080" y="6182280"/>
                <a:ext cx="1573200" cy="225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0" name="矩形 46"/>
              <p:cNvSpPr/>
              <p:nvPr/>
            </p:nvSpPr>
            <p:spPr>
              <a:xfrm flipH="1">
                <a:off x="5216040" y="572076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R2’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21" name="矩形 47"/>
              <p:cNvSpPr/>
              <p:nvPr/>
            </p:nvSpPr>
            <p:spPr>
              <a:xfrm flipH="1">
                <a:off x="4429080" y="572076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R4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22" name="矩形 48"/>
              <p:cNvSpPr/>
              <p:nvPr/>
            </p:nvSpPr>
            <p:spPr>
              <a:xfrm flipH="1">
                <a:off x="5216040" y="525888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B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23" name="矩形 49"/>
              <p:cNvSpPr/>
              <p:nvPr/>
            </p:nvSpPr>
            <p:spPr>
              <a:xfrm flipH="1">
                <a:off x="4429080" y="5258880"/>
                <a:ext cx="786240" cy="461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24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C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24" name="文字方塊 50"/>
              <p:cNvSpPr/>
              <p:nvPr/>
            </p:nvSpPr>
            <p:spPr>
              <a:xfrm flipH="1">
                <a:off x="5216040" y="4797360"/>
                <a:ext cx="7862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c0504d"/>
                    </a:solidFill>
                    <a:latin typeface="Calibri"/>
                    <a:ea typeface="標楷體"/>
                  </a:rPr>
                  <a:t>src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725" name="文字方塊 51"/>
              <p:cNvSpPr/>
              <p:nvPr/>
            </p:nvSpPr>
            <p:spPr>
              <a:xfrm flipH="1">
                <a:off x="4429080" y="4795560"/>
                <a:ext cx="7862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400" spc="-1" strike="noStrike">
                    <a:solidFill>
                      <a:srgbClr val="c0504d"/>
                    </a:solidFill>
                    <a:latin typeface="Calibri"/>
                    <a:ea typeface="標楷體"/>
                  </a:rPr>
                  <a:t>dst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Linux Network Brief Introduction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Network Namespaces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Provide a way to create isolated network environments within a Linux system.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Allow processes to have their own network stack, including interfaces, routing tables, and firewall rules.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Each Container have it’s own Network Namespace.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 network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Bridge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is a kernel created logical L2 switch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Veth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devices, short for virtual Ethernet devices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Use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veth pairs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to connect Network Namespaces or Bridges together.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Linux Network Brief Introduction (cont.)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3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Mapping to physical instruments.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Namespace = node (computer/server)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Veth pair = 2 network interface cards (NIC) that connects to each other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Bridge = switch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If you want to connect your computer to a switch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Create a veth pair (Create 2 NIC that connects to each other)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Connect one NIC to your namespace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Connect the other one to your bridge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32" name="矩形 3"/>
          <p:cNvSpPr/>
          <p:nvPr/>
        </p:nvSpPr>
        <p:spPr>
          <a:xfrm>
            <a:off x="1175760" y="5528520"/>
            <a:ext cx="3291120" cy="66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Bridge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33" name="矩形 4"/>
          <p:cNvSpPr/>
          <p:nvPr/>
        </p:nvSpPr>
        <p:spPr>
          <a:xfrm>
            <a:off x="4071960" y="5576040"/>
            <a:ext cx="671760" cy="569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97d"/>
                </a:solidFill>
                <a:latin typeface="Times New Roman"/>
                <a:ea typeface="標楷體"/>
              </a:rPr>
              <a:t>Veth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34" name="矩形 5"/>
          <p:cNvSpPr/>
          <p:nvPr/>
        </p:nvSpPr>
        <p:spPr>
          <a:xfrm>
            <a:off x="6764040" y="5528520"/>
            <a:ext cx="3291120" cy="66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Namespace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35" name="矩形 6"/>
          <p:cNvSpPr/>
          <p:nvPr/>
        </p:nvSpPr>
        <p:spPr>
          <a:xfrm>
            <a:off x="6427800" y="5576040"/>
            <a:ext cx="671760" cy="569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97d"/>
                </a:solidFill>
                <a:latin typeface="Times New Roman"/>
                <a:ea typeface="標楷體"/>
              </a:rPr>
              <a:t>Veth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36" name="直線接點 8"/>
          <p:cNvSpPr/>
          <p:nvPr/>
        </p:nvSpPr>
        <p:spPr>
          <a:xfrm>
            <a:off x="4744080" y="5860800"/>
            <a:ext cx="1683720" cy="3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Linux Network Brief Introduction (cont.)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38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Mapping to physical instruments.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Namespace = node (computer/server)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Veth pair = 2 network interface cards (NIC) that connects to each other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Bridge = switch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How to find a container’s namespace (ns)?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Locate docker pid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88000"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It is at file `/proc/$pid/ns/net`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Similarly you can connect two namespaces (containers) with the same mechanism.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39" name="矩形 3"/>
          <p:cNvSpPr/>
          <p:nvPr/>
        </p:nvSpPr>
        <p:spPr>
          <a:xfrm>
            <a:off x="1175760" y="5528520"/>
            <a:ext cx="3291120" cy="66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Container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40" name="矩形 4"/>
          <p:cNvSpPr/>
          <p:nvPr/>
        </p:nvSpPr>
        <p:spPr>
          <a:xfrm>
            <a:off x="4071960" y="5576040"/>
            <a:ext cx="671760" cy="569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97d"/>
                </a:solidFill>
                <a:latin typeface="Times New Roman"/>
                <a:ea typeface="標楷體"/>
              </a:rPr>
              <a:t>Veth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41" name="矩形 5"/>
          <p:cNvSpPr/>
          <p:nvPr/>
        </p:nvSpPr>
        <p:spPr>
          <a:xfrm>
            <a:off x="6764040" y="5528520"/>
            <a:ext cx="3291120" cy="66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Container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42" name="矩形 6"/>
          <p:cNvSpPr/>
          <p:nvPr/>
        </p:nvSpPr>
        <p:spPr>
          <a:xfrm>
            <a:off x="6427800" y="5576040"/>
            <a:ext cx="671760" cy="569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97d"/>
                </a:solidFill>
                <a:latin typeface="Times New Roman"/>
                <a:ea typeface="標楷體"/>
              </a:rPr>
              <a:t>Veth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43" name="直線接點 8"/>
          <p:cNvSpPr/>
          <p:nvPr/>
        </p:nvSpPr>
        <p:spPr>
          <a:xfrm>
            <a:off x="4744080" y="5860800"/>
            <a:ext cx="1683720" cy="3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744" name="圖片 10" descr=""/>
          <p:cNvPicPr/>
          <p:nvPr/>
        </p:nvPicPr>
        <p:blipFill>
          <a:blip r:embed="rId1"/>
          <a:srcRect l="1198" t="0" r="0" b="36316"/>
          <a:stretch/>
        </p:blipFill>
        <p:spPr>
          <a:xfrm>
            <a:off x="1127520" y="3900240"/>
            <a:ext cx="10234800" cy="43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Ubuntu IP Command Introduction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52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Normally, we can use `ip netns exec` command to execute commands inside a namespace; however, it will only search ns for directories in `/var/run/netns`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Two ways to run `ip netns exec` in container namespace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Create a soft link `ln -sfT /proc/$pid/ns/net /var/run/netns/$pid`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Use nsenter command `</a:t>
            </a: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nsenter -t $pid -n &lt;command&gt;`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Useful ip commands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`ip link add &lt;name&gt; type &lt;type&gt;`: Create a NIC by the type.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`ip link set &lt;name&gt; up`: Bring up (enable) the NIC.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`ip address add &lt;ip&gt; dev &lt;name&gt;`: Add an ip address to the NIC.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`ip route show`: Show current routes.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`ip route add {&lt;ip&gt; | default} via {ip}: Add a route.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Docker Network Namespace Introduction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grpSp>
        <p:nvGrpSpPr>
          <p:cNvPr id="748" name="群組 8"/>
          <p:cNvGrpSpPr/>
          <p:nvPr/>
        </p:nvGrpSpPr>
        <p:grpSpPr>
          <a:xfrm>
            <a:off x="1127520" y="1229760"/>
            <a:ext cx="7291080" cy="4832280"/>
            <a:chOff x="1127520" y="1229760"/>
            <a:chExt cx="7291080" cy="4832280"/>
          </a:xfrm>
        </p:grpSpPr>
        <p:pic>
          <p:nvPicPr>
            <p:cNvPr id="749" name="圖片 4" descr=""/>
            <p:cNvPicPr/>
            <p:nvPr/>
          </p:nvPicPr>
          <p:blipFill>
            <a:blip r:embed="rId1"/>
            <a:srcRect l="0" t="26862" r="0" b="0"/>
            <a:stretch/>
          </p:blipFill>
          <p:spPr>
            <a:xfrm>
              <a:off x="1135080" y="2075400"/>
              <a:ext cx="7283520" cy="398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0" name="圖片 7" descr=""/>
            <p:cNvPicPr/>
            <p:nvPr/>
          </p:nvPicPr>
          <p:blipFill>
            <a:blip r:embed="rId2"/>
            <a:srcRect l="0" t="0" r="0" b="84235"/>
            <a:stretch/>
          </p:blipFill>
          <p:spPr>
            <a:xfrm>
              <a:off x="1127520" y="1229760"/>
              <a:ext cx="7283520" cy="859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51" name="文字方塊 9"/>
          <p:cNvSpPr/>
          <p:nvPr/>
        </p:nvSpPr>
        <p:spPr>
          <a:xfrm>
            <a:off x="6995520" y="1158840"/>
            <a:ext cx="4596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Create a container named sdnfv-demo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2" name="文字方塊 10"/>
          <p:cNvSpPr/>
          <p:nvPr/>
        </p:nvSpPr>
        <p:spPr>
          <a:xfrm>
            <a:off x="8132400" y="1474560"/>
            <a:ext cx="342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Find the pid of the container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3" name="文字方塊 11"/>
          <p:cNvSpPr/>
          <p:nvPr/>
        </p:nvSpPr>
        <p:spPr>
          <a:xfrm>
            <a:off x="6660360" y="1782000"/>
            <a:ext cx="610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Make soft link so that ip netns can find container 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4" name="文字方塊 12"/>
          <p:cNvSpPr/>
          <p:nvPr/>
        </p:nvSpPr>
        <p:spPr>
          <a:xfrm>
            <a:off x="6983280" y="3745080"/>
            <a:ext cx="518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Create a dummy NIC using netns command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5" name="文字方塊 13"/>
          <p:cNvSpPr/>
          <p:nvPr/>
        </p:nvSpPr>
        <p:spPr>
          <a:xfrm>
            <a:off x="4208760" y="4718880"/>
            <a:ext cx="412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NIC is created inside the container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6" name="矩形 14"/>
          <p:cNvSpPr/>
          <p:nvPr/>
        </p:nvSpPr>
        <p:spPr>
          <a:xfrm>
            <a:off x="1127520" y="5119200"/>
            <a:ext cx="6842880" cy="310680"/>
          </a:xfrm>
          <a:prstGeom prst="rect">
            <a:avLst/>
          </a:prstGeom>
          <a:solidFill>
            <a:srgbClr val="f2dcdb">
              <a:alpha val="50000"/>
            </a:srgbClr>
          </a:solidFill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7" name="文字方塊 15"/>
          <p:cNvSpPr/>
          <p:nvPr/>
        </p:nvSpPr>
        <p:spPr>
          <a:xfrm>
            <a:off x="8305200" y="2653920"/>
            <a:ext cx="391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Show interface information of 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8" name="矩形 16"/>
          <p:cNvSpPr/>
          <p:nvPr/>
        </p:nvSpPr>
        <p:spPr>
          <a:xfrm>
            <a:off x="1032480" y="2089080"/>
            <a:ext cx="7468200" cy="17478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9" name="矩形 17"/>
          <p:cNvSpPr/>
          <p:nvPr/>
        </p:nvSpPr>
        <p:spPr>
          <a:xfrm>
            <a:off x="1032480" y="4014720"/>
            <a:ext cx="6995160" cy="21459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0" name="文字方塊 18"/>
          <p:cNvSpPr/>
          <p:nvPr/>
        </p:nvSpPr>
        <p:spPr>
          <a:xfrm>
            <a:off x="7515360" y="4339800"/>
            <a:ext cx="5182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Show interface information of the container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Tunn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el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and 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VXLA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52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 Tunnel send data over a network by encapsulating packets within other packets.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Commonly used to connect different networks, provide secure communication, bypass firewalls.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Applications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Virtual Private Networks (VPN)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Generic Routing Encapsulation (GRE)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Virtual Extensible LAN (VXLAN)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Types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Layer 2: Transmit data that is higher or equal to Layer 2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Layer 3: Transmit data that is higher or equal to Layer 3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VXLAN (L2 Tunnel)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Designed to help build large, scalable L2 networks over existing L3 networks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TA will provide a Wireguard configuration file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1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Remember, the last number of your IP is your ID (x)</a:t>
            </a:r>
            <a:endParaRPr b="0" lang="en-US" sz="18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Run the follow command to install wireguard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Copy the configuration file to wg0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Bring up the Wireguard interface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Check if Wireguard is good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Wireguard gateway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VXLAN Target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764" name="圖片 11" descr=""/>
          <p:cNvPicPr/>
          <p:nvPr/>
        </p:nvPicPr>
        <p:blipFill>
          <a:blip r:embed="rId1"/>
          <a:srcRect l="0" t="0" r="0" b="63948"/>
          <a:stretch/>
        </p:blipFill>
        <p:spPr>
          <a:xfrm>
            <a:off x="1438920" y="5870520"/>
            <a:ext cx="4684320" cy="536400"/>
          </a:xfrm>
          <a:prstGeom prst="rect">
            <a:avLst/>
          </a:prstGeom>
          <a:ln w="0">
            <a:noFill/>
          </a:ln>
        </p:spPr>
      </p:pic>
      <p:sp>
        <p:nvSpPr>
          <p:cNvPr id="765" name="PlaceHolder 2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Wireguard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pic>
        <p:nvPicPr>
          <p:cNvPr id="766" name="圖片 3" descr=""/>
          <p:cNvPicPr/>
          <p:nvPr/>
        </p:nvPicPr>
        <p:blipFill>
          <a:blip r:embed="rId2"/>
          <a:stretch/>
        </p:blipFill>
        <p:spPr>
          <a:xfrm>
            <a:off x="6766920" y="1365480"/>
            <a:ext cx="4724280" cy="4714200"/>
          </a:xfrm>
          <a:prstGeom prst="rect">
            <a:avLst/>
          </a:prstGeom>
          <a:ln w="0">
            <a:noFill/>
          </a:ln>
        </p:spPr>
      </p:pic>
      <p:pic>
        <p:nvPicPr>
          <p:cNvPr id="767" name="圖片 4" descr=""/>
          <p:cNvPicPr/>
          <p:nvPr/>
        </p:nvPicPr>
        <p:blipFill>
          <a:blip r:embed="rId3"/>
          <a:srcRect l="0" t="0" r="8921" b="0"/>
          <a:stretch/>
        </p:blipFill>
        <p:spPr>
          <a:xfrm>
            <a:off x="867240" y="2311560"/>
            <a:ext cx="5828040" cy="316080"/>
          </a:xfrm>
          <a:prstGeom prst="rect">
            <a:avLst/>
          </a:prstGeom>
          <a:ln w="0">
            <a:noFill/>
          </a:ln>
        </p:spPr>
      </p:pic>
      <p:pic>
        <p:nvPicPr>
          <p:cNvPr id="768" name="圖片 5" descr=""/>
          <p:cNvPicPr/>
          <p:nvPr/>
        </p:nvPicPr>
        <p:blipFill>
          <a:blip r:embed="rId4"/>
          <a:stretch/>
        </p:blipFill>
        <p:spPr>
          <a:xfrm>
            <a:off x="867240" y="3182040"/>
            <a:ext cx="5828040" cy="246600"/>
          </a:xfrm>
          <a:prstGeom prst="rect">
            <a:avLst/>
          </a:prstGeom>
          <a:ln w="0">
            <a:noFill/>
          </a:ln>
        </p:spPr>
      </p:pic>
      <p:pic>
        <p:nvPicPr>
          <p:cNvPr id="769" name="圖片 6" descr=""/>
          <p:cNvPicPr/>
          <p:nvPr/>
        </p:nvPicPr>
        <p:blipFill>
          <a:blip r:embed="rId5"/>
          <a:stretch/>
        </p:blipFill>
        <p:spPr>
          <a:xfrm>
            <a:off x="867240" y="3996000"/>
            <a:ext cx="5349240" cy="217440"/>
          </a:xfrm>
          <a:prstGeom prst="rect">
            <a:avLst/>
          </a:prstGeom>
          <a:ln w="0">
            <a:noFill/>
          </a:ln>
        </p:spPr>
      </p:pic>
      <p:pic>
        <p:nvPicPr>
          <p:cNvPr id="770" name="圖片 7" descr=""/>
          <p:cNvPicPr/>
          <p:nvPr/>
        </p:nvPicPr>
        <p:blipFill>
          <a:blip r:embed="rId6"/>
          <a:srcRect l="0" t="0" r="0" b="66093"/>
          <a:stretch/>
        </p:blipFill>
        <p:spPr>
          <a:xfrm>
            <a:off x="1438920" y="5046120"/>
            <a:ext cx="4684320" cy="476640"/>
          </a:xfrm>
          <a:prstGeom prst="rect">
            <a:avLst/>
          </a:prstGeom>
          <a:ln w="0">
            <a:noFill/>
          </a:ln>
        </p:spPr>
      </p:pic>
      <p:sp>
        <p:nvSpPr>
          <p:cNvPr id="771" name="矩形 8"/>
          <p:cNvSpPr/>
          <p:nvPr/>
        </p:nvSpPr>
        <p:spPr>
          <a:xfrm>
            <a:off x="4660560" y="5861160"/>
            <a:ext cx="280800" cy="244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2" name="矩形 9"/>
          <p:cNvSpPr/>
          <p:nvPr/>
        </p:nvSpPr>
        <p:spPr>
          <a:xfrm>
            <a:off x="8252280" y="4166280"/>
            <a:ext cx="178560" cy="187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3" name="文字方塊 10"/>
          <p:cNvSpPr/>
          <p:nvPr/>
        </p:nvSpPr>
        <p:spPr>
          <a:xfrm>
            <a:off x="8294400" y="4075560"/>
            <a:ext cx="2197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This is your ID (x)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4" name="矩形 12"/>
          <p:cNvSpPr/>
          <p:nvPr/>
        </p:nvSpPr>
        <p:spPr>
          <a:xfrm>
            <a:off x="3913560" y="5002200"/>
            <a:ext cx="1148040" cy="187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5" name="文字方塊 13"/>
          <p:cNvSpPr/>
          <p:nvPr/>
        </p:nvSpPr>
        <p:spPr>
          <a:xfrm>
            <a:off x="4784760" y="5793840"/>
            <a:ext cx="1700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This is your x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6" name="文字方塊 14"/>
          <p:cNvSpPr/>
          <p:nvPr/>
        </p:nvSpPr>
        <p:spPr>
          <a:xfrm>
            <a:off x="4027680" y="4676760"/>
            <a:ext cx="3102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This is Wireguard gateway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7" name="矩形 15"/>
          <p:cNvSpPr/>
          <p:nvPr/>
        </p:nvSpPr>
        <p:spPr>
          <a:xfrm>
            <a:off x="8502480" y="5492520"/>
            <a:ext cx="359640" cy="154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文字方塊 16"/>
          <p:cNvSpPr/>
          <p:nvPr/>
        </p:nvSpPr>
        <p:spPr>
          <a:xfrm>
            <a:off x="7059960" y="5032440"/>
            <a:ext cx="450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0000"/>
                </a:solidFill>
                <a:latin typeface="Calibri"/>
                <a:ea typeface="標楷體"/>
              </a:rPr>
              <a:t>Some wireguard version requires port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The largest size (in bytes) of a network packet that can be transmitted over a particular interface or network medium without fragmentation.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Default to 1500 Bytes.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What Happens if Packet Size Exceeds the MTU?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Fragmentation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Drop (Especially IPv6)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Suggested subtraction of MTU due to encapsulation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VXLAN: 50 Bytes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Wireguard: 80 Bytes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780" name="PlaceHolder 2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Maximum Transmission Unit (MTU)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Autonomous System (AS)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AS Types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grpSp>
        <p:nvGrpSpPr>
          <p:cNvPr id="783" name="群組 10"/>
          <p:cNvGrpSpPr/>
          <p:nvPr/>
        </p:nvGrpSpPr>
        <p:grpSpPr>
          <a:xfrm>
            <a:off x="3094920" y="2269800"/>
            <a:ext cx="1760400" cy="1092240"/>
            <a:chOff x="3094920" y="2269800"/>
            <a:chExt cx="1760400" cy="1092240"/>
          </a:xfrm>
        </p:grpSpPr>
        <p:sp>
          <p:nvSpPr>
            <p:cNvPr id="784" name="橢圓 5"/>
            <p:cNvSpPr/>
            <p:nvPr/>
          </p:nvSpPr>
          <p:spPr>
            <a:xfrm>
              <a:off x="3094920" y="2357640"/>
              <a:ext cx="495000" cy="495000"/>
            </a:xfrm>
            <a:prstGeom prst="ellipse">
              <a:avLst/>
            </a:prstGeom>
            <a:solidFill>
              <a:srgbClr val="3297f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橢圓 6"/>
            <p:cNvSpPr/>
            <p:nvPr/>
          </p:nvSpPr>
          <p:spPr>
            <a:xfrm>
              <a:off x="4185000" y="2269800"/>
              <a:ext cx="670320" cy="6703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直線接點 8"/>
            <p:cNvSpPr/>
            <p:nvPr/>
          </p:nvSpPr>
          <p:spPr>
            <a:xfrm>
              <a:off x="3589920" y="2604960"/>
              <a:ext cx="59472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文字方塊 9"/>
            <p:cNvSpPr/>
            <p:nvPr/>
          </p:nvSpPr>
          <p:spPr>
            <a:xfrm>
              <a:off x="3094920" y="2967480"/>
              <a:ext cx="1760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3297fc"/>
                  </a:solidFill>
                  <a:latin typeface="Calibri"/>
                  <a:ea typeface="標楷體"/>
                </a:rPr>
                <a:t>Stub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788" name="群組 11"/>
          <p:cNvGrpSpPr/>
          <p:nvPr/>
        </p:nvGrpSpPr>
        <p:grpSpPr>
          <a:xfrm>
            <a:off x="7669440" y="1657080"/>
            <a:ext cx="1760400" cy="2124000"/>
            <a:chOff x="7669440" y="1657080"/>
            <a:chExt cx="1760400" cy="2124000"/>
          </a:xfrm>
        </p:grpSpPr>
        <p:sp>
          <p:nvSpPr>
            <p:cNvPr id="789" name="橢圓 12"/>
            <p:cNvSpPr/>
            <p:nvPr/>
          </p:nvSpPr>
          <p:spPr>
            <a:xfrm>
              <a:off x="7669440" y="2136600"/>
              <a:ext cx="495000" cy="495000"/>
            </a:xfrm>
            <a:prstGeom prst="ellipse">
              <a:avLst/>
            </a:prstGeom>
            <a:solidFill>
              <a:srgbClr val="3297f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橢圓 13"/>
            <p:cNvSpPr/>
            <p:nvPr/>
          </p:nvSpPr>
          <p:spPr>
            <a:xfrm>
              <a:off x="8849880" y="2440800"/>
              <a:ext cx="579600" cy="5796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直線接點 14"/>
            <p:cNvSpPr/>
            <p:nvPr/>
          </p:nvSpPr>
          <p:spPr>
            <a:xfrm>
              <a:off x="8164440" y="2383920"/>
              <a:ext cx="685080" cy="3466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文字方塊 15"/>
            <p:cNvSpPr/>
            <p:nvPr/>
          </p:nvSpPr>
          <p:spPr>
            <a:xfrm>
              <a:off x="7669440" y="3081600"/>
              <a:ext cx="176040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3297fc"/>
                  </a:solidFill>
                  <a:latin typeface="Calibri"/>
                  <a:ea typeface="標楷體"/>
                </a:rPr>
                <a:t>Multi Homed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793" name="橢圓 18"/>
            <p:cNvSpPr/>
            <p:nvPr/>
          </p:nvSpPr>
          <p:spPr>
            <a:xfrm>
              <a:off x="8849880" y="1657080"/>
              <a:ext cx="579600" cy="5796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直線接點 19"/>
            <p:cNvSpPr/>
            <p:nvPr/>
          </p:nvSpPr>
          <p:spPr>
            <a:xfrm flipV="1">
              <a:off x="8164440" y="1946880"/>
              <a:ext cx="685080" cy="4370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95" name="群組 33"/>
          <p:cNvGrpSpPr/>
          <p:nvPr/>
        </p:nvGrpSpPr>
        <p:grpSpPr>
          <a:xfrm>
            <a:off x="2549520" y="4426920"/>
            <a:ext cx="3165120" cy="1213920"/>
            <a:chOff x="2549520" y="4426920"/>
            <a:chExt cx="3165120" cy="1213920"/>
          </a:xfrm>
        </p:grpSpPr>
        <p:grpSp>
          <p:nvGrpSpPr>
            <p:cNvPr id="796" name="群組 26"/>
            <p:cNvGrpSpPr/>
            <p:nvPr/>
          </p:nvGrpSpPr>
          <p:grpSpPr>
            <a:xfrm>
              <a:off x="2549520" y="4548960"/>
              <a:ext cx="2307240" cy="1091880"/>
              <a:chOff x="2549520" y="4548960"/>
              <a:chExt cx="2307240" cy="1091880"/>
            </a:xfrm>
          </p:grpSpPr>
          <p:sp>
            <p:nvSpPr>
              <p:cNvPr id="797" name="橢圓 27"/>
              <p:cNvSpPr/>
              <p:nvPr/>
            </p:nvSpPr>
            <p:spPr>
              <a:xfrm>
                <a:off x="2549520" y="4636440"/>
                <a:ext cx="495000" cy="495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98" name="橢圓 28"/>
              <p:cNvSpPr/>
              <p:nvPr/>
            </p:nvSpPr>
            <p:spPr>
              <a:xfrm>
                <a:off x="3639960" y="4548960"/>
                <a:ext cx="670320" cy="670320"/>
              </a:xfrm>
              <a:prstGeom prst="ellipse">
                <a:avLst/>
              </a:prstGeom>
              <a:solidFill>
                <a:srgbClr val="3297fc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99" name="直線接點 29"/>
              <p:cNvSpPr/>
              <p:nvPr/>
            </p:nvSpPr>
            <p:spPr>
              <a:xfrm>
                <a:off x="3044880" y="4883760"/>
                <a:ext cx="594720" cy="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0" name="文字方塊 30"/>
              <p:cNvSpPr/>
              <p:nvPr/>
            </p:nvSpPr>
            <p:spPr>
              <a:xfrm>
                <a:off x="3096360" y="5246280"/>
                <a:ext cx="176040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000" spc="-1" strike="noStrike">
                    <a:solidFill>
                      <a:srgbClr val="3297fc"/>
                    </a:solidFill>
                    <a:latin typeface="Calibri"/>
                    <a:ea typeface="標楷體"/>
                  </a:rPr>
                  <a:t>Transit</a:t>
                </a:r>
                <a:endParaRPr b="0" lang="en-US" sz="2000" spc="-1" strike="noStrike">
                  <a:latin typeface="Arial"/>
                </a:endParaRPr>
              </a:p>
            </p:txBody>
          </p:sp>
          <p:sp>
            <p:nvSpPr>
              <p:cNvPr id="801" name="直線接點 34"/>
              <p:cNvSpPr/>
              <p:nvPr/>
            </p:nvSpPr>
            <p:spPr>
              <a:xfrm>
                <a:off x="4310280" y="4883760"/>
                <a:ext cx="490320" cy="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802" name="圖形 32" descr="雲"/>
            <p:cNvPicPr/>
            <p:nvPr/>
          </p:nvPicPr>
          <p:blipFill>
            <a:blip r:embed="rId1"/>
            <a:stretch/>
          </p:blipFill>
          <p:spPr>
            <a:xfrm>
              <a:off x="4800600" y="4426920"/>
              <a:ext cx="914040" cy="9140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03" name="群組 38"/>
          <p:cNvGrpSpPr/>
          <p:nvPr/>
        </p:nvGrpSpPr>
        <p:grpSpPr>
          <a:xfrm>
            <a:off x="7176600" y="3710880"/>
            <a:ext cx="2746080" cy="2234880"/>
            <a:chOff x="7176600" y="3710880"/>
            <a:chExt cx="2746080" cy="2234880"/>
          </a:xfrm>
        </p:grpSpPr>
        <p:sp>
          <p:nvSpPr>
            <p:cNvPr id="804" name="橢圓 40"/>
            <p:cNvSpPr/>
            <p:nvPr/>
          </p:nvSpPr>
          <p:spPr>
            <a:xfrm>
              <a:off x="7176600" y="4636440"/>
              <a:ext cx="495000" cy="495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橢圓 41"/>
            <p:cNvSpPr/>
            <p:nvPr/>
          </p:nvSpPr>
          <p:spPr>
            <a:xfrm>
              <a:off x="8267040" y="4548960"/>
              <a:ext cx="670320" cy="670320"/>
            </a:xfrm>
            <a:prstGeom prst="ellipse">
              <a:avLst/>
            </a:prstGeom>
            <a:solidFill>
              <a:srgbClr val="3297f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直線接點 42"/>
            <p:cNvSpPr/>
            <p:nvPr/>
          </p:nvSpPr>
          <p:spPr>
            <a:xfrm>
              <a:off x="7671960" y="4883760"/>
              <a:ext cx="59472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文字方塊 43"/>
            <p:cNvSpPr/>
            <p:nvPr/>
          </p:nvSpPr>
          <p:spPr>
            <a:xfrm>
              <a:off x="7176600" y="5246280"/>
              <a:ext cx="274572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3297fc"/>
                  </a:solidFill>
                  <a:latin typeface="Calibri"/>
                  <a:ea typeface="標楷體"/>
                </a:rPr>
                <a:t>Internet Exchange Point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808" name="直線接點 44"/>
            <p:cNvSpPr/>
            <p:nvPr/>
          </p:nvSpPr>
          <p:spPr>
            <a:xfrm>
              <a:off x="8937360" y="4883760"/>
              <a:ext cx="49032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9" name="橢圓 45"/>
            <p:cNvSpPr/>
            <p:nvPr/>
          </p:nvSpPr>
          <p:spPr>
            <a:xfrm>
              <a:off x="9427680" y="4636440"/>
              <a:ext cx="495000" cy="495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0" name="橢圓 47"/>
            <p:cNvSpPr/>
            <p:nvPr/>
          </p:nvSpPr>
          <p:spPr>
            <a:xfrm>
              <a:off x="7613280" y="4014360"/>
              <a:ext cx="495000" cy="495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1" name="橢圓 48"/>
            <p:cNvSpPr/>
            <p:nvPr/>
          </p:nvSpPr>
          <p:spPr>
            <a:xfrm>
              <a:off x="8354520" y="3710880"/>
              <a:ext cx="495000" cy="495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2" name="橢圓 49"/>
            <p:cNvSpPr/>
            <p:nvPr/>
          </p:nvSpPr>
          <p:spPr>
            <a:xfrm>
              <a:off x="9080280" y="4016880"/>
              <a:ext cx="495000" cy="495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3" name="直線接點 50"/>
            <p:cNvSpPr/>
            <p:nvPr/>
          </p:nvSpPr>
          <p:spPr>
            <a:xfrm>
              <a:off x="8035920" y="4436640"/>
              <a:ext cx="329040" cy="210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直線接點 53"/>
            <p:cNvSpPr/>
            <p:nvPr/>
          </p:nvSpPr>
          <p:spPr>
            <a:xfrm>
              <a:off x="8602200" y="4206240"/>
              <a:ext cx="360" cy="342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5" name="直線接點 56"/>
            <p:cNvSpPr/>
            <p:nvPr/>
          </p:nvSpPr>
          <p:spPr>
            <a:xfrm flipH="1">
              <a:off x="8839080" y="4439520"/>
              <a:ext cx="313560" cy="207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16" name="橢圓 36"/>
          <p:cNvSpPr/>
          <p:nvPr/>
        </p:nvSpPr>
        <p:spPr>
          <a:xfrm>
            <a:off x="5133600" y="2272680"/>
            <a:ext cx="579600" cy="57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橢圓 37"/>
          <p:cNvSpPr/>
          <p:nvPr/>
        </p:nvSpPr>
        <p:spPr>
          <a:xfrm>
            <a:off x="4485240" y="1467360"/>
            <a:ext cx="579600" cy="57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advTm="160000" p14:dur="2000"/>
    </mc:Choice>
    <mc:Fallback>
      <p:transition spd="slow" advTm="160000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ISP Characteristic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Internet Service Provider (ISP)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 company or organization that provides individuals, enterprises, and other entities access to the internet.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Key Concepts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Internet Access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Internet Service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 Addresses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If you have been assigned an IP from NYCU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How does the Internet world routes packets to your IP’s location?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How does others know the way to find you in the Internet world?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Goal: A vrouter in a small ISP and that manages internet resources.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177000" p14:dur="2000"/>
    </mc:Choice>
    <mc:Fallback>
      <p:transition spd="slow" advTm="177000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ISP Service Requirements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Service requirements for customers.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Routers to exchange other AS’s route.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Layer 2 modification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Packet handling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Service requirements for other ISPs.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Packet handling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Quality of Service (QoS)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125000" p14:dur="2000"/>
    </mc:Choice>
    <mc:Fallback>
      <p:transition spd="slow" advTm="125000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Configuration Requirements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are running an AS65xx0 and announcing prefixes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172.16.x.0/24.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2a0b:4e07:c4:xx::/64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help to transit prefixes announced by AS65xx1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172.17.x.0/24.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2a0b:4e07:c4:1xx::/64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IXP is AS65000 at 192.168.70.253/24 and fd70::fe/64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have to announce the prefixes you know to the IXP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can connect the IXP via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192.168.70.x/24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fd70::x/64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BGP Password is winlab.nycu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97000" p14:dur="2000"/>
    </mc:Choice>
    <mc:Fallback>
      <p:transition spd="slow" advTm="97000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OVS and VXLAN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2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can consider OVS as a bridge.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can create veth pairs and connect your container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can create VXLAN Tunnel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Let’s see if we can create a tunnel using `ovs-vsctl` and `ip` commands.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sp>
        <p:nvSpPr>
          <p:cNvPr id="826" name="矩形 8"/>
          <p:cNvSpPr/>
          <p:nvPr/>
        </p:nvSpPr>
        <p:spPr>
          <a:xfrm>
            <a:off x="1544760" y="3694680"/>
            <a:ext cx="3291120" cy="66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Dummy NIC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27" name="矩形 9"/>
          <p:cNvSpPr/>
          <p:nvPr/>
        </p:nvSpPr>
        <p:spPr>
          <a:xfrm>
            <a:off x="4441320" y="3742200"/>
            <a:ext cx="671760" cy="569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97d"/>
                </a:solidFill>
                <a:latin typeface="Times New Roman"/>
                <a:ea typeface="標楷體"/>
              </a:rPr>
              <a:t>Veth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28" name="矩形 10"/>
          <p:cNvSpPr/>
          <p:nvPr/>
        </p:nvSpPr>
        <p:spPr>
          <a:xfrm>
            <a:off x="7133040" y="3694680"/>
            <a:ext cx="3291120" cy="664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29" name="矩形 11"/>
          <p:cNvSpPr/>
          <p:nvPr/>
        </p:nvSpPr>
        <p:spPr>
          <a:xfrm>
            <a:off x="6797160" y="3742200"/>
            <a:ext cx="671760" cy="569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97d"/>
                </a:solidFill>
                <a:latin typeface="Times New Roman"/>
                <a:ea typeface="標楷體"/>
              </a:rPr>
              <a:t>Veth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30" name="直線接點 12"/>
          <p:cNvSpPr/>
          <p:nvPr/>
        </p:nvSpPr>
        <p:spPr>
          <a:xfrm>
            <a:off x="5113080" y="4026960"/>
            <a:ext cx="1683720" cy="3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31" name="文字方塊 13"/>
          <p:cNvSpPr/>
          <p:nvPr/>
        </p:nvSpPr>
        <p:spPr>
          <a:xfrm>
            <a:off x="2854080" y="3344400"/>
            <a:ext cx="242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192.168.100.1/24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advTm="86000" p14:dur="2000"/>
    </mc:Choice>
    <mc:Fallback>
      <p:transition spd="slow" advTm="86000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OVS and VXLAN (cont.)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pic>
        <p:nvPicPr>
          <p:cNvPr id="833" name="圖片 3" descr=""/>
          <p:cNvPicPr/>
          <p:nvPr/>
        </p:nvPicPr>
        <p:blipFill>
          <a:blip r:embed="rId1"/>
          <a:stretch/>
        </p:blipFill>
        <p:spPr>
          <a:xfrm>
            <a:off x="700560" y="2171520"/>
            <a:ext cx="10507680" cy="2514600"/>
          </a:xfrm>
          <a:prstGeom prst="rect">
            <a:avLst/>
          </a:prstGeom>
          <a:ln w="0">
            <a:noFill/>
          </a:ln>
        </p:spPr>
      </p:pic>
      <p:sp>
        <p:nvSpPr>
          <p:cNvPr id="834" name="矩形 14"/>
          <p:cNvSpPr/>
          <p:nvPr/>
        </p:nvSpPr>
        <p:spPr>
          <a:xfrm>
            <a:off x="3827520" y="2171520"/>
            <a:ext cx="980280" cy="187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文字方塊 4"/>
          <p:cNvSpPr/>
          <p:nvPr/>
        </p:nvSpPr>
        <p:spPr>
          <a:xfrm>
            <a:off x="1203120" y="1496520"/>
            <a:ext cx="5140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Create a ovs switch named br-ta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36" name="直線單箭頭接點 6"/>
          <p:cNvSpPr/>
          <p:nvPr/>
        </p:nvSpPr>
        <p:spPr>
          <a:xfrm>
            <a:off x="3773160" y="1958040"/>
            <a:ext cx="544320" cy="213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文字方塊 15"/>
          <p:cNvSpPr/>
          <p:nvPr/>
        </p:nvSpPr>
        <p:spPr>
          <a:xfrm>
            <a:off x="5996880" y="1496520"/>
            <a:ext cx="2640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Set ovs protocol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38" name="矩形 16"/>
          <p:cNvSpPr/>
          <p:nvPr/>
        </p:nvSpPr>
        <p:spPr>
          <a:xfrm>
            <a:off x="6225120" y="2171520"/>
            <a:ext cx="1546920" cy="187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直線單箭頭接點 17"/>
          <p:cNvSpPr/>
          <p:nvPr/>
        </p:nvSpPr>
        <p:spPr>
          <a:xfrm flipH="1">
            <a:off x="6998040" y="1958040"/>
            <a:ext cx="318600" cy="213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0" name="矩形 20"/>
          <p:cNvSpPr/>
          <p:nvPr/>
        </p:nvSpPr>
        <p:spPr>
          <a:xfrm>
            <a:off x="9508320" y="2171520"/>
            <a:ext cx="1699920" cy="187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1" name="文字方塊 21"/>
          <p:cNvSpPr/>
          <p:nvPr/>
        </p:nvSpPr>
        <p:spPr>
          <a:xfrm>
            <a:off x="8919360" y="1496520"/>
            <a:ext cx="2852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Set ovs controller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42" name="直線單箭頭接點 22"/>
          <p:cNvSpPr/>
          <p:nvPr/>
        </p:nvSpPr>
        <p:spPr>
          <a:xfrm>
            <a:off x="10345680" y="1958040"/>
            <a:ext cx="12240" cy="213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3" name="矩形 25"/>
          <p:cNvSpPr/>
          <p:nvPr/>
        </p:nvSpPr>
        <p:spPr>
          <a:xfrm>
            <a:off x="3827520" y="2359800"/>
            <a:ext cx="1971000" cy="154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4" name="直線單箭頭接點 26"/>
          <p:cNvSpPr/>
          <p:nvPr/>
        </p:nvSpPr>
        <p:spPr>
          <a:xfrm flipH="1" flipV="1">
            <a:off x="5798880" y="2436120"/>
            <a:ext cx="604800" cy="89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5" name="文字方塊 34"/>
          <p:cNvSpPr/>
          <p:nvPr/>
        </p:nvSpPr>
        <p:spPr>
          <a:xfrm>
            <a:off x="4969800" y="3328200"/>
            <a:ext cx="28677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標楷體"/>
              </a:rPr>
              <a:t>Create a VXLAN port name TO_TA_VXLAN on ovs swtich br-ta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6" name="文字方塊 42"/>
          <p:cNvSpPr/>
          <p:nvPr/>
        </p:nvSpPr>
        <p:spPr>
          <a:xfrm>
            <a:off x="8016120" y="2789280"/>
            <a:ext cx="3120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標楷體"/>
              </a:rPr>
              <a:t>Set VXLAN connected to IP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7" name="矩形 43"/>
          <p:cNvSpPr/>
          <p:nvPr/>
        </p:nvSpPr>
        <p:spPr>
          <a:xfrm>
            <a:off x="9296280" y="2359800"/>
            <a:ext cx="1911960" cy="154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8" name="直線單箭頭接點 44"/>
          <p:cNvSpPr/>
          <p:nvPr/>
        </p:nvSpPr>
        <p:spPr>
          <a:xfrm flipV="1">
            <a:off x="9576720" y="2513520"/>
            <a:ext cx="675360" cy="27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OVS and VXLAN (cont.)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can use docker to create an onos controller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If you have finish lest step, you shall see two switches connected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851" name="圖片 3" descr=""/>
          <p:cNvPicPr/>
          <p:nvPr/>
        </p:nvPicPr>
        <p:blipFill>
          <a:blip r:embed="rId1"/>
          <a:stretch/>
        </p:blipFill>
        <p:spPr>
          <a:xfrm>
            <a:off x="1127520" y="1446480"/>
            <a:ext cx="10434960" cy="185040"/>
          </a:xfrm>
          <a:prstGeom prst="rect">
            <a:avLst/>
          </a:prstGeom>
          <a:ln w="0">
            <a:noFill/>
          </a:ln>
        </p:spPr>
      </p:pic>
      <p:pic>
        <p:nvPicPr>
          <p:cNvPr id="852" name="圖片 4" descr=""/>
          <p:cNvPicPr/>
          <p:nvPr/>
        </p:nvPicPr>
        <p:blipFill>
          <a:blip r:embed="rId2"/>
          <a:stretch/>
        </p:blipFill>
        <p:spPr>
          <a:xfrm>
            <a:off x="2552400" y="2367720"/>
            <a:ext cx="7230600" cy="382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63000" p14:dur="2000"/>
    </mc:Choice>
    <mc:Fallback>
      <p:transition spd="slow" advTm="63000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圖片 32" descr=""/>
          <p:cNvPicPr/>
          <p:nvPr/>
        </p:nvPicPr>
        <p:blipFill>
          <a:blip r:embed="rId1"/>
          <a:stretch/>
        </p:blipFill>
        <p:spPr>
          <a:xfrm>
            <a:off x="4698000" y="3451320"/>
            <a:ext cx="473760" cy="323280"/>
          </a:xfrm>
          <a:prstGeom prst="rect">
            <a:avLst/>
          </a:prstGeom>
          <a:ln w="0">
            <a:noFill/>
          </a:ln>
        </p:spPr>
      </p:pic>
      <p:pic>
        <p:nvPicPr>
          <p:cNvPr id="854" name="圖片 33" descr=""/>
          <p:cNvPicPr/>
          <p:nvPr/>
        </p:nvPicPr>
        <p:blipFill>
          <a:blip r:embed="rId2"/>
          <a:stretch/>
        </p:blipFill>
        <p:spPr>
          <a:xfrm>
            <a:off x="9530640" y="4011840"/>
            <a:ext cx="473760" cy="323280"/>
          </a:xfrm>
          <a:prstGeom prst="rect">
            <a:avLst/>
          </a:prstGeom>
          <a:ln w="0">
            <a:noFill/>
          </a:ln>
        </p:spPr>
      </p:pic>
      <p:pic>
        <p:nvPicPr>
          <p:cNvPr id="855" name="圖片 34" descr=""/>
          <p:cNvPicPr/>
          <p:nvPr/>
        </p:nvPicPr>
        <p:blipFill>
          <a:blip r:embed="rId3"/>
          <a:stretch/>
        </p:blipFill>
        <p:spPr>
          <a:xfrm>
            <a:off x="5055480" y="431028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856" name="矩形 7"/>
          <p:cNvSpPr/>
          <p:nvPr/>
        </p:nvSpPr>
        <p:spPr>
          <a:xfrm>
            <a:off x="4635000" y="1475280"/>
            <a:ext cx="5525640" cy="4637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7" name="文字方塊 12"/>
          <p:cNvSpPr/>
          <p:nvPr/>
        </p:nvSpPr>
        <p:spPr>
          <a:xfrm>
            <a:off x="4434480" y="1475280"/>
            <a:ext cx="169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AS65030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58" name="矩形 88"/>
          <p:cNvSpPr/>
          <p:nvPr/>
        </p:nvSpPr>
        <p:spPr>
          <a:xfrm>
            <a:off x="8658000" y="2845440"/>
            <a:ext cx="1242360" cy="416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ONOS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59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Topology Template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60" name="直線接點 31"/>
          <p:cNvSpPr/>
          <p:nvPr/>
        </p:nvSpPr>
        <p:spPr>
          <a:xfrm>
            <a:off x="3753720" y="3624840"/>
            <a:ext cx="1309680" cy="133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1" name="矩形 4"/>
          <p:cNvSpPr/>
          <p:nvPr/>
        </p:nvSpPr>
        <p:spPr>
          <a:xfrm>
            <a:off x="641160" y="3163680"/>
            <a:ext cx="2882160" cy="878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2" name="文字方塊 11"/>
          <p:cNvSpPr/>
          <p:nvPr/>
        </p:nvSpPr>
        <p:spPr>
          <a:xfrm>
            <a:off x="424080" y="3163320"/>
            <a:ext cx="1944360" cy="51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c0504d"/>
                </a:solidFill>
                <a:latin typeface="Calibri"/>
                <a:ea typeface="標楷體"/>
              </a:rPr>
              <a:t>AS65031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63" name="矩形 66"/>
          <p:cNvSpPr/>
          <p:nvPr/>
        </p:nvSpPr>
        <p:spPr>
          <a:xfrm>
            <a:off x="732960" y="3665160"/>
            <a:ext cx="1429200" cy="323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64" name="直線接點 69"/>
          <p:cNvSpPr/>
          <p:nvPr/>
        </p:nvSpPr>
        <p:spPr>
          <a:xfrm flipV="1">
            <a:off x="2162160" y="3624840"/>
            <a:ext cx="1117440" cy="202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5" name="文字方塊 2"/>
          <p:cNvSpPr/>
          <p:nvPr/>
        </p:nvSpPr>
        <p:spPr>
          <a:xfrm>
            <a:off x="557640" y="2355120"/>
            <a:ext cx="3209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172.17.xx.1/24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2a0b:4e07:c4:1xx::1/64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866" name="圖片 104" descr=""/>
          <p:cNvPicPr/>
          <p:nvPr/>
        </p:nvPicPr>
        <p:blipFill>
          <a:blip r:embed="rId4"/>
          <a:stretch/>
        </p:blipFill>
        <p:spPr>
          <a:xfrm>
            <a:off x="3279600" y="346320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867" name="文字方塊 105"/>
          <p:cNvSpPr/>
          <p:nvPr/>
        </p:nvSpPr>
        <p:spPr>
          <a:xfrm>
            <a:off x="59040" y="4030200"/>
            <a:ext cx="3209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172.17.xx.2/24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2a0b:4e07:c4:1xx::2/64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8" name="矩形 108"/>
          <p:cNvSpPr/>
          <p:nvPr/>
        </p:nvSpPr>
        <p:spPr>
          <a:xfrm>
            <a:off x="5063760" y="3532680"/>
            <a:ext cx="1515960" cy="4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69" name="矩形 109"/>
          <p:cNvSpPr/>
          <p:nvPr/>
        </p:nvSpPr>
        <p:spPr>
          <a:xfrm>
            <a:off x="5529600" y="5083200"/>
            <a:ext cx="1515960" cy="4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70" name="直線接點 111"/>
          <p:cNvSpPr/>
          <p:nvPr/>
        </p:nvSpPr>
        <p:spPr>
          <a:xfrm>
            <a:off x="5821560" y="3983760"/>
            <a:ext cx="466200" cy="1099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1" name="文字方塊 116"/>
          <p:cNvSpPr/>
          <p:nvPr/>
        </p:nvSpPr>
        <p:spPr>
          <a:xfrm>
            <a:off x="8289000" y="2474640"/>
            <a:ext cx="242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192.168.100.2/24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2" name="直線接點 117"/>
          <p:cNvSpPr/>
          <p:nvPr/>
        </p:nvSpPr>
        <p:spPr>
          <a:xfrm flipV="1">
            <a:off x="6579720" y="3261960"/>
            <a:ext cx="2699280" cy="496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3" name="直線接點 119"/>
          <p:cNvSpPr/>
          <p:nvPr/>
        </p:nvSpPr>
        <p:spPr>
          <a:xfrm flipV="1">
            <a:off x="7045920" y="3261960"/>
            <a:ext cx="2233080" cy="2046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4" name="矩形 148"/>
          <p:cNvSpPr/>
          <p:nvPr/>
        </p:nvSpPr>
        <p:spPr>
          <a:xfrm>
            <a:off x="6467040" y="2775960"/>
            <a:ext cx="1802520" cy="462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FRRouting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75" name="直線接點 149"/>
          <p:cNvSpPr/>
          <p:nvPr/>
        </p:nvSpPr>
        <p:spPr>
          <a:xfrm flipV="1">
            <a:off x="6579720" y="3238560"/>
            <a:ext cx="788760" cy="5194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6" name="直線單箭頭接點 123"/>
          <p:cNvSpPr/>
          <p:nvPr/>
        </p:nvSpPr>
        <p:spPr>
          <a:xfrm>
            <a:off x="2162520" y="3001320"/>
            <a:ext cx="1117080" cy="62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77" name="文字方塊 156"/>
          <p:cNvSpPr/>
          <p:nvPr/>
        </p:nvSpPr>
        <p:spPr>
          <a:xfrm>
            <a:off x="2871360" y="4214880"/>
            <a:ext cx="226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192.168.63.2/24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fd63::2/64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8" name="直線單箭頭接點 157"/>
          <p:cNvSpPr/>
          <p:nvPr/>
        </p:nvSpPr>
        <p:spPr>
          <a:xfrm flipH="1" flipV="1">
            <a:off x="3753000" y="3624480"/>
            <a:ext cx="250920" cy="589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79" name="文字方塊 197"/>
          <p:cNvSpPr/>
          <p:nvPr/>
        </p:nvSpPr>
        <p:spPr>
          <a:xfrm>
            <a:off x="2786760" y="5394240"/>
            <a:ext cx="305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172.16.xx.2/24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2a0b:4e07:c4:xx::2/64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0" name="矩形 198"/>
          <p:cNvSpPr/>
          <p:nvPr/>
        </p:nvSpPr>
        <p:spPr>
          <a:xfrm>
            <a:off x="3524040" y="5045400"/>
            <a:ext cx="1397160" cy="360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1" name="直線接點 199"/>
          <p:cNvSpPr/>
          <p:nvPr/>
        </p:nvSpPr>
        <p:spPr>
          <a:xfrm>
            <a:off x="4921560" y="5225760"/>
            <a:ext cx="607680" cy="82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2" name="文字方塊 18"/>
          <p:cNvSpPr/>
          <p:nvPr/>
        </p:nvSpPr>
        <p:spPr>
          <a:xfrm>
            <a:off x="5880600" y="1205640"/>
            <a:ext cx="5234040" cy="1313280"/>
          </a:xfrm>
          <a:prstGeom prst="rect">
            <a:avLst/>
          </a:prstGeom>
          <a:noFill/>
          <a:ln w="28575">
            <a:solidFill>
              <a:srgbClr val="f79646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2" spcCol="0"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192.168.63.1/24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192.168.70.xx/24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172.16.xx.1/24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192.168.100.3/24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fd63::1/64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fd70::xx/64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2a0b:4e07:c4:xx::1/64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883" name="直線單箭頭接點 68"/>
          <p:cNvSpPr/>
          <p:nvPr/>
        </p:nvSpPr>
        <p:spPr>
          <a:xfrm>
            <a:off x="7368840" y="2542320"/>
            <a:ext cx="360" cy="23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2857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84" name="矩形 23"/>
          <p:cNvSpPr/>
          <p:nvPr/>
        </p:nvSpPr>
        <p:spPr>
          <a:xfrm>
            <a:off x="4447080" y="3550320"/>
            <a:ext cx="368280" cy="29412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85" name="群組 58"/>
          <p:cNvGrpSpPr/>
          <p:nvPr/>
        </p:nvGrpSpPr>
        <p:grpSpPr>
          <a:xfrm>
            <a:off x="6131160" y="5534280"/>
            <a:ext cx="285120" cy="925200"/>
            <a:chOff x="6131160" y="5534280"/>
            <a:chExt cx="285120" cy="925200"/>
          </a:xfrm>
        </p:grpSpPr>
        <p:sp>
          <p:nvSpPr>
            <p:cNvPr id="886" name="直線接點 59"/>
            <p:cNvSpPr/>
            <p:nvPr/>
          </p:nvSpPr>
          <p:spPr>
            <a:xfrm flipV="1">
              <a:off x="6287760" y="5534280"/>
              <a:ext cx="360" cy="925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7" name="矩形 60"/>
            <p:cNvSpPr/>
            <p:nvPr/>
          </p:nvSpPr>
          <p:spPr>
            <a:xfrm rot="16200000">
              <a:off x="5860440" y="5898960"/>
              <a:ext cx="826200" cy="2851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VXLAN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888" name="矩形 61"/>
          <p:cNvSpPr/>
          <p:nvPr/>
        </p:nvSpPr>
        <p:spPr>
          <a:xfrm>
            <a:off x="3613320" y="2553480"/>
            <a:ext cx="1397160" cy="360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9" name="直線接點 62"/>
          <p:cNvSpPr/>
          <p:nvPr/>
        </p:nvSpPr>
        <p:spPr>
          <a:xfrm>
            <a:off x="5010840" y="2733840"/>
            <a:ext cx="810720" cy="798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0" name="文字方塊 64"/>
          <p:cNvSpPr/>
          <p:nvPr/>
        </p:nvSpPr>
        <p:spPr>
          <a:xfrm>
            <a:off x="2900160" y="1889640"/>
            <a:ext cx="305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172.16.xx.3/24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2a0b:4e07:c4:xx::3/64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advTm="226000" p14:dur="2000"/>
    </mc:Choice>
    <mc:Fallback>
      <p:transition spd="slow" advTm="226000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圖片 32" descr=""/>
          <p:cNvPicPr/>
          <p:nvPr/>
        </p:nvPicPr>
        <p:blipFill>
          <a:blip r:embed="rId1"/>
          <a:stretch/>
        </p:blipFill>
        <p:spPr>
          <a:xfrm>
            <a:off x="4698000" y="3451320"/>
            <a:ext cx="473760" cy="323280"/>
          </a:xfrm>
          <a:prstGeom prst="rect">
            <a:avLst/>
          </a:prstGeom>
          <a:ln w="0">
            <a:noFill/>
          </a:ln>
        </p:spPr>
      </p:pic>
      <p:pic>
        <p:nvPicPr>
          <p:cNvPr id="892" name="圖片 33" descr=""/>
          <p:cNvPicPr/>
          <p:nvPr/>
        </p:nvPicPr>
        <p:blipFill>
          <a:blip r:embed="rId2"/>
          <a:stretch/>
        </p:blipFill>
        <p:spPr>
          <a:xfrm>
            <a:off x="9530640" y="4011840"/>
            <a:ext cx="473760" cy="323280"/>
          </a:xfrm>
          <a:prstGeom prst="rect">
            <a:avLst/>
          </a:prstGeom>
          <a:ln w="0">
            <a:noFill/>
          </a:ln>
        </p:spPr>
      </p:pic>
      <p:pic>
        <p:nvPicPr>
          <p:cNvPr id="893" name="圖片 34" descr=""/>
          <p:cNvPicPr/>
          <p:nvPr/>
        </p:nvPicPr>
        <p:blipFill>
          <a:blip r:embed="rId3"/>
          <a:stretch/>
        </p:blipFill>
        <p:spPr>
          <a:xfrm>
            <a:off x="5055480" y="431028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894" name="矩形 7"/>
          <p:cNvSpPr/>
          <p:nvPr/>
        </p:nvSpPr>
        <p:spPr>
          <a:xfrm>
            <a:off x="4635000" y="1475280"/>
            <a:ext cx="5525640" cy="4637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5" name="文字方塊 12"/>
          <p:cNvSpPr/>
          <p:nvPr/>
        </p:nvSpPr>
        <p:spPr>
          <a:xfrm>
            <a:off x="4434480" y="1475280"/>
            <a:ext cx="169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AS65030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96" name="矩形 88"/>
          <p:cNvSpPr/>
          <p:nvPr/>
        </p:nvSpPr>
        <p:spPr>
          <a:xfrm>
            <a:off x="8658000" y="2845440"/>
            <a:ext cx="1242360" cy="416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ONOS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Sample Topology  (x=3)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898" name="直線接點 31"/>
          <p:cNvSpPr/>
          <p:nvPr/>
        </p:nvSpPr>
        <p:spPr>
          <a:xfrm>
            <a:off x="3753720" y="3624840"/>
            <a:ext cx="1309680" cy="133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9" name="矩形 4"/>
          <p:cNvSpPr/>
          <p:nvPr/>
        </p:nvSpPr>
        <p:spPr>
          <a:xfrm>
            <a:off x="641160" y="3163680"/>
            <a:ext cx="2882160" cy="878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0" name="文字方塊 11"/>
          <p:cNvSpPr/>
          <p:nvPr/>
        </p:nvSpPr>
        <p:spPr>
          <a:xfrm>
            <a:off x="424080" y="3163320"/>
            <a:ext cx="1944360" cy="51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c0504d"/>
                </a:solidFill>
                <a:latin typeface="Calibri"/>
                <a:ea typeface="標楷體"/>
              </a:rPr>
              <a:t>AS65031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1" name="矩形 66"/>
          <p:cNvSpPr/>
          <p:nvPr/>
        </p:nvSpPr>
        <p:spPr>
          <a:xfrm>
            <a:off x="732960" y="3665160"/>
            <a:ext cx="1429200" cy="323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2" name="直線接點 69"/>
          <p:cNvSpPr/>
          <p:nvPr/>
        </p:nvSpPr>
        <p:spPr>
          <a:xfrm flipV="1">
            <a:off x="2162160" y="3624840"/>
            <a:ext cx="1117440" cy="202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3" name="文字方塊 2"/>
          <p:cNvSpPr/>
          <p:nvPr/>
        </p:nvSpPr>
        <p:spPr>
          <a:xfrm>
            <a:off x="552600" y="2355120"/>
            <a:ext cx="3230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172.17.3.1/24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2a0b:4e07:c4:103::1/64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04" name="圖片 104" descr=""/>
          <p:cNvPicPr/>
          <p:nvPr/>
        </p:nvPicPr>
        <p:blipFill>
          <a:blip r:embed="rId4"/>
          <a:stretch/>
        </p:blipFill>
        <p:spPr>
          <a:xfrm>
            <a:off x="3279600" y="346320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905" name="文字方塊 105"/>
          <p:cNvSpPr/>
          <p:nvPr/>
        </p:nvSpPr>
        <p:spPr>
          <a:xfrm>
            <a:off x="48240" y="4030200"/>
            <a:ext cx="3230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172.17.3.2/24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2a0b:4e07:c4:103::2/64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6" name="矩形 108"/>
          <p:cNvSpPr/>
          <p:nvPr/>
        </p:nvSpPr>
        <p:spPr>
          <a:xfrm>
            <a:off x="5063760" y="3532680"/>
            <a:ext cx="1515960" cy="4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7" name="矩形 109"/>
          <p:cNvSpPr/>
          <p:nvPr/>
        </p:nvSpPr>
        <p:spPr>
          <a:xfrm>
            <a:off x="5529600" y="5083200"/>
            <a:ext cx="1515960" cy="4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8" name="直線接點 111"/>
          <p:cNvSpPr/>
          <p:nvPr/>
        </p:nvSpPr>
        <p:spPr>
          <a:xfrm>
            <a:off x="5821560" y="3983760"/>
            <a:ext cx="466200" cy="1099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9" name="文字方塊 116"/>
          <p:cNvSpPr/>
          <p:nvPr/>
        </p:nvSpPr>
        <p:spPr>
          <a:xfrm>
            <a:off x="8289000" y="2474640"/>
            <a:ext cx="242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192.168.100.2/24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0" name="直線接點 117"/>
          <p:cNvSpPr/>
          <p:nvPr/>
        </p:nvSpPr>
        <p:spPr>
          <a:xfrm flipV="1">
            <a:off x="6579720" y="3261960"/>
            <a:ext cx="2699280" cy="496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1" name="直線接點 119"/>
          <p:cNvSpPr/>
          <p:nvPr/>
        </p:nvSpPr>
        <p:spPr>
          <a:xfrm flipV="1">
            <a:off x="7045920" y="3261960"/>
            <a:ext cx="2233080" cy="2046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2" name="矩形 148"/>
          <p:cNvSpPr/>
          <p:nvPr/>
        </p:nvSpPr>
        <p:spPr>
          <a:xfrm>
            <a:off x="6467040" y="2775960"/>
            <a:ext cx="1802520" cy="462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FRRouting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13" name="直線接點 149"/>
          <p:cNvSpPr/>
          <p:nvPr/>
        </p:nvSpPr>
        <p:spPr>
          <a:xfrm flipV="1">
            <a:off x="6579720" y="3238560"/>
            <a:ext cx="788760" cy="5194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4" name="直線單箭頭接點 123"/>
          <p:cNvSpPr/>
          <p:nvPr/>
        </p:nvSpPr>
        <p:spPr>
          <a:xfrm>
            <a:off x="2167920" y="3001320"/>
            <a:ext cx="1111320" cy="62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5" name="文字方塊 156"/>
          <p:cNvSpPr/>
          <p:nvPr/>
        </p:nvSpPr>
        <p:spPr>
          <a:xfrm>
            <a:off x="2871360" y="4214880"/>
            <a:ext cx="226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192.168.63.2/24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fd63::2/64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6" name="直線單箭頭接點 157"/>
          <p:cNvSpPr/>
          <p:nvPr/>
        </p:nvSpPr>
        <p:spPr>
          <a:xfrm flipH="1" flipV="1">
            <a:off x="3753000" y="3624480"/>
            <a:ext cx="250920" cy="589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7" name="文字方塊 197"/>
          <p:cNvSpPr/>
          <p:nvPr/>
        </p:nvSpPr>
        <p:spPr>
          <a:xfrm>
            <a:off x="2808000" y="5394240"/>
            <a:ext cx="2913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172.16.3.2/24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2a0b:4e07:c4:3::2/64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8" name="矩形 198"/>
          <p:cNvSpPr/>
          <p:nvPr/>
        </p:nvSpPr>
        <p:spPr>
          <a:xfrm>
            <a:off x="3524040" y="5045400"/>
            <a:ext cx="1397160" cy="360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19" name="直線接點 199"/>
          <p:cNvSpPr/>
          <p:nvPr/>
        </p:nvSpPr>
        <p:spPr>
          <a:xfrm>
            <a:off x="4921560" y="5225760"/>
            <a:ext cx="607680" cy="82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0" name="文字方塊 18"/>
          <p:cNvSpPr/>
          <p:nvPr/>
        </p:nvSpPr>
        <p:spPr>
          <a:xfrm>
            <a:off x="5880600" y="1205640"/>
            <a:ext cx="5234040" cy="1313280"/>
          </a:xfrm>
          <a:prstGeom prst="rect">
            <a:avLst/>
          </a:prstGeom>
          <a:noFill/>
          <a:ln w="28575">
            <a:solidFill>
              <a:srgbClr val="f79646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2" spcCol="0"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192.168.63.1/24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192.168.70.3/24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172.16.3.1/24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192.168.100.3/24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fd63::1/64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fd70::3/64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2a0b:4e07:c4:3::1/64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921" name="直線單箭頭接點 68"/>
          <p:cNvSpPr/>
          <p:nvPr/>
        </p:nvSpPr>
        <p:spPr>
          <a:xfrm>
            <a:off x="7368840" y="2542320"/>
            <a:ext cx="360" cy="23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2857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矩形 23"/>
          <p:cNvSpPr/>
          <p:nvPr/>
        </p:nvSpPr>
        <p:spPr>
          <a:xfrm>
            <a:off x="4447080" y="3550320"/>
            <a:ext cx="368280" cy="29412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23" name="群組 58"/>
          <p:cNvGrpSpPr/>
          <p:nvPr/>
        </p:nvGrpSpPr>
        <p:grpSpPr>
          <a:xfrm>
            <a:off x="6131160" y="5534280"/>
            <a:ext cx="285120" cy="925200"/>
            <a:chOff x="6131160" y="5534280"/>
            <a:chExt cx="285120" cy="925200"/>
          </a:xfrm>
        </p:grpSpPr>
        <p:sp>
          <p:nvSpPr>
            <p:cNvPr id="924" name="直線接點 59"/>
            <p:cNvSpPr/>
            <p:nvPr/>
          </p:nvSpPr>
          <p:spPr>
            <a:xfrm flipV="1">
              <a:off x="6287760" y="5534280"/>
              <a:ext cx="360" cy="925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矩形 60"/>
            <p:cNvSpPr/>
            <p:nvPr/>
          </p:nvSpPr>
          <p:spPr>
            <a:xfrm rot="16200000">
              <a:off x="5860440" y="5898960"/>
              <a:ext cx="826200" cy="2851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VXLAN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926" name="矩形 61"/>
          <p:cNvSpPr/>
          <p:nvPr/>
        </p:nvSpPr>
        <p:spPr>
          <a:xfrm>
            <a:off x="3613320" y="2553480"/>
            <a:ext cx="1397160" cy="360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27" name="直線接點 62"/>
          <p:cNvSpPr/>
          <p:nvPr/>
        </p:nvSpPr>
        <p:spPr>
          <a:xfrm>
            <a:off x="5010840" y="2733840"/>
            <a:ext cx="810720" cy="798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8" name="文字方塊 64"/>
          <p:cNvSpPr/>
          <p:nvPr/>
        </p:nvSpPr>
        <p:spPr>
          <a:xfrm>
            <a:off x="2921400" y="1889640"/>
            <a:ext cx="2913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172.16.3.3/24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2a0b:4e07:c4:3::3/64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advTm="226000" p14:dur="2000"/>
    </mc:Choice>
    <mc:Fallback>
      <p:transition spd="slow" advTm="226000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p>
            <a:pPr marL="268200" indent="-268200" algn="just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To avoid misconfiguration, don’t use a-f as IP in your settings.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 algn="just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Use 25, instead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buNone/>
            </a:pP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930" name="圖片 32" descr=""/>
          <p:cNvPicPr/>
          <p:nvPr/>
        </p:nvPicPr>
        <p:blipFill>
          <a:blip r:embed="rId1"/>
          <a:stretch/>
        </p:blipFill>
        <p:spPr>
          <a:xfrm>
            <a:off x="4698000" y="3451320"/>
            <a:ext cx="473760" cy="323280"/>
          </a:xfrm>
          <a:prstGeom prst="rect">
            <a:avLst/>
          </a:prstGeom>
          <a:ln w="0">
            <a:noFill/>
          </a:ln>
        </p:spPr>
      </p:pic>
      <p:pic>
        <p:nvPicPr>
          <p:cNvPr id="931" name="圖片 33" descr=""/>
          <p:cNvPicPr/>
          <p:nvPr/>
        </p:nvPicPr>
        <p:blipFill>
          <a:blip r:embed="rId2"/>
          <a:stretch/>
        </p:blipFill>
        <p:spPr>
          <a:xfrm>
            <a:off x="9530640" y="4011840"/>
            <a:ext cx="473760" cy="323280"/>
          </a:xfrm>
          <a:prstGeom prst="rect">
            <a:avLst/>
          </a:prstGeom>
          <a:ln w="0">
            <a:noFill/>
          </a:ln>
        </p:spPr>
      </p:pic>
      <p:pic>
        <p:nvPicPr>
          <p:cNvPr id="932" name="圖片 34" descr=""/>
          <p:cNvPicPr/>
          <p:nvPr/>
        </p:nvPicPr>
        <p:blipFill>
          <a:blip r:embed="rId3"/>
          <a:stretch/>
        </p:blipFill>
        <p:spPr>
          <a:xfrm>
            <a:off x="5055480" y="431028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933" name="矩形 7"/>
          <p:cNvSpPr/>
          <p:nvPr/>
        </p:nvSpPr>
        <p:spPr>
          <a:xfrm>
            <a:off x="4635000" y="1475280"/>
            <a:ext cx="5525640" cy="4637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文字方塊 12"/>
          <p:cNvSpPr/>
          <p:nvPr/>
        </p:nvSpPr>
        <p:spPr>
          <a:xfrm>
            <a:off x="4434480" y="1475280"/>
            <a:ext cx="169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AS65250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5" name="矩形 88"/>
          <p:cNvSpPr/>
          <p:nvPr/>
        </p:nvSpPr>
        <p:spPr>
          <a:xfrm>
            <a:off x="8658000" y="2845440"/>
            <a:ext cx="1242360" cy="416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ONOS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Sample Topology  (x=25)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37" name="直線接點 31"/>
          <p:cNvSpPr/>
          <p:nvPr/>
        </p:nvSpPr>
        <p:spPr>
          <a:xfrm>
            <a:off x="3753720" y="3624840"/>
            <a:ext cx="1309680" cy="1332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8" name="矩形 4"/>
          <p:cNvSpPr/>
          <p:nvPr/>
        </p:nvSpPr>
        <p:spPr>
          <a:xfrm>
            <a:off x="641160" y="3163680"/>
            <a:ext cx="2882160" cy="878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9" name="文字方塊 11"/>
          <p:cNvSpPr/>
          <p:nvPr/>
        </p:nvSpPr>
        <p:spPr>
          <a:xfrm>
            <a:off x="424080" y="3163320"/>
            <a:ext cx="1944360" cy="516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c0504d"/>
                </a:solidFill>
                <a:latin typeface="Calibri"/>
                <a:ea typeface="標楷體"/>
              </a:rPr>
              <a:t>AS65251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40" name="矩形 66"/>
          <p:cNvSpPr/>
          <p:nvPr/>
        </p:nvSpPr>
        <p:spPr>
          <a:xfrm>
            <a:off x="732960" y="3665160"/>
            <a:ext cx="1429200" cy="323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41" name="直線接點 69"/>
          <p:cNvSpPr/>
          <p:nvPr/>
        </p:nvSpPr>
        <p:spPr>
          <a:xfrm flipV="1">
            <a:off x="2162160" y="3624840"/>
            <a:ext cx="1117440" cy="202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2" name="文字方塊 2"/>
          <p:cNvSpPr/>
          <p:nvPr/>
        </p:nvSpPr>
        <p:spPr>
          <a:xfrm>
            <a:off x="552600" y="2355120"/>
            <a:ext cx="3230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172.17.25.1/24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2a0b:4e07:c4:103::1/64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43" name="圖片 104" descr=""/>
          <p:cNvPicPr/>
          <p:nvPr/>
        </p:nvPicPr>
        <p:blipFill>
          <a:blip r:embed="rId4"/>
          <a:stretch/>
        </p:blipFill>
        <p:spPr>
          <a:xfrm>
            <a:off x="3279600" y="3463200"/>
            <a:ext cx="473760" cy="323280"/>
          </a:xfrm>
          <a:prstGeom prst="rect">
            <a:avLst/>
          </a:prstGeom>
          <a:ln w="0">
            <a:noFill/>
          </a:ln>
        </p:spPr>
      </p:pic>
      <p:sp>
        <p:nvSpPr>
          <p:cNvPr id="944" name="文字方塊 105"/>
          <p:cNvSpPr/>
          <p:nvPr/>
        </p:nvSpPr>
        <p:spPr>
          <a:xfrm>
            <a:off x="48240" y="4030200"/>
            <a:ext cx="3230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172.17.25.2/24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2a0b:4e07:c4:125::2/64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5" name="矩形 108"/>
          <p:cNvSpPr/>
          <p:nvPr/>
        </p:nvSpPr>
        <p:spPr>
          <a:xfrm>
            <a:off x="5063760" y="3532680"/>
            <a:ext cx="1515960" cy="4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46" name="矩形 109"/>
          <p:cNvSpPr/>
          <p:nvPr/>
        </p:nvSpPr>
        <p:spPr>
          <a:xfrm>
            <a:off x="5529600" y="5083200"/>
            <a:ext cx="1515960" cy="4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OVS2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47" name="直線接點 111"/>
          <p:cNvSpPr/>
          <p:nvPr/>
        </p:nvSpPr>
        <p:spPr>
          <a:xfrm>
            <a:off x="5821560" y="3983760"/>
            <a:ext cx="466200" cy="1099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8" name="文字方塊 116"/>
          <p:cNvSpPr/>
          <p:nvPr/>
        </p:nvSpPr>
        <p:spPr>
          <a:xfrm>
            <a:off x="9578160" y="2869560"/>
            <a:ext cx="242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192.168.100.2/24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9" name="直線接點 117"/>
          <p:cNvSpPr/>
          <p:nvPr/>
        </p:nvSpPr>
        <p:spPr>
          <a:xfrm flipV="1">
            <a:off x="6579720" y="3261960"/>
            <a:ext cx="2699280" cy="496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0" name="直線接點 119"/>
          <p:cNvSpPr/>
          <p:nvPr/>
        </p:nvSpPr>
        <p:spPr>
          <a:xfrm flipV="1">
            <a:off x="7045920" y="3261960"/>
            <a:ext cx="2233080" cy="2046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1" name="矩形 148"/>
          <p:cNvSpPr/>
          <p:nvPr/>
        </p:nvSpPr>
        <p:spPr>
          <a:xfrm>
            <a:off x="6467040" y="2775960"/>
            <a:ext cx="1802520" cy="462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FRRouting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52" name="直線接點 149"/>
          <p:cNvSpPr/>
          <p:nvPr/>
        </p:nvSpPr>
        <p:spPr>
          <a:xfrm flipV="1">
            <a:off x="6579720" y="3238560"/>
            <a:ext cx="788760" cy="5194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3" name="直線單箭頭接點 123"/>
          <p:cNvSpPr/>
          <p:nvPr/>
        </p:nvSpPr>
        <p:spPr>
          <a:xfrm>
            <a:off x="2167920" y="3001320"/>
            <a:ext cx="1111320" cy="62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54" name="文字方塊 156"/>
          <p:cNvSpPr/>
          <p:nvPr/>
        </p:nvSpPr>
        <p:spPr>
          <a:xfrm>
            <a:off x="2871360" y="4214880"/>
            <a:ext cx="226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192.168.63.2/24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fd63::2/64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5" name="直線單箭頭接點 157"/>
          <p:cNvSpPr/>
          <p:nvPr/>
        </p:nvSpPr>
        <p:spPr>
          <a:xfrm flipH="1" flipV="1">
            <a:off x="3753000" y="3624480"/>
            <a:ext cx="250920" cy="589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56" name="文字方塊 197"/>
          <p:cNvSpPr/>
          <p:nvPr/>
        </p:nvSpPr>
        <p:spPr>
          <a:xfrm>
            <a:off x="2787480" y="5394240"/>
            <a:ext cx="3072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172.16.25.2/24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2a0b:4e07:c4:25::2/64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7" name="矩形 198"/>
          <p:cNvSpPr/>
          <p:nvPr/>
        </p:nvSpPr>
        <p:spPr>
          <a:xfrm>
            <a:off x="3524040" y="5045400"/>
            <a:ext cx="1397160" cy="360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58" name="直線接點 199"/>
          <p:cNvSpPr/>
          <p:nvPr/>
        </p:nvSpPr>
        <p:spPr>
          <a:xfrm>
            <a:off x="4921560" y="5225760"/>
            <a:ext cx="607680" cy="82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9" name="文字方塊 18"/>
          <p:cNvSpPr/>
          <p:nvPr/>
        </p:nvSpPr>
        <p:spPr>
          <a:xfrm>
            <a:off x="6057000" y="1407600"/>
            <a:ext cx="5234040" cy="1313280"/>
          </a:xfrm>
          <a:prstGeom prst="rect">
            <a:avLst/>
          </a:prstGeom>
          <a:noFill/>
          <a:ln w="28575">
            <a:solidFill>
              <a:srgbClr val="f79646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2" spcCol="0" wrap="none"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192.168.63.1/24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192.168.70.25/24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172.16.25.1/24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192.168.100.3/24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fd63::1/64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fd70::25/64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2a0b:4e07:c4:25::1/64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960" name="矩形 23"/>
          <p:cNvSpPr/>
          <p:nvPr/>
        </p:nvSpPr>
        <p:spPr>
          <a:xfrm>
            <a:off x="4447080" y="3550320"/>
            <a:ext cx="368280" cy="29412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61" name="群組 58"/>
          <p:cNvGrpSpPr/>
          <p:nvPr/>
        </p:nvGrpSpPr>
        <p:grpSpPr>
          <a:xfrm>
            <a:off x="6131160" y="5534280"/>
            <a:ext cx="285120" cy="925200"/>
            <a:chOff x="6131160" y="5534280"/>
            <a:chExt cx="285120" cy="925200"/>
          </a:xfrm>
        </p:grpSpPr>
        <p:sp>
          <p:nvSpPr>
            <p:cNvPr id="962" name="直線接點 59"/>
            <p:cNvSpPr/>
            <p:nvPr/>
          </p:nvSpPr>
          <p:spPr>
            <a:xfrm flipV="1">
              <a:off x="6287760" y="5534280"/>
              <a:ext cx="360" cy="925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3" name="矩形 60"/>
            <p:cNvSpPr/>
            <p:nvPr/>
          </p:nvSpPr>
          <p:spPr>
            <a:xfrm rot="16200000">
              <a:off x="5860440" y="5898960"/>
              <a:ext cx="826200" cy="2851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1f497d"/>
                  </a:solidFill>
                  <a:latin typeface="Times New Roman"/>
                  <a:ea typeface="標楷體"/>
                </a:rPr>
                <a:t>VXLAN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964" name="矩形 61"/>
          <p:cNvSpPr/>
          <p:nvPr/>
        </p:nvSpPr>
        <p:spPr>
          <a:xfrm>
            <a:off x="3613320" y="2553480"/>
            <a:ext cx="1397160" cy="360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1f497d"/>
                </a:solidFill>
                <a:latin typeface="Times New Roman"/>
                <a:ea typeface="標楷體"/>
              </a:rPr>
              <a:t>Host 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65" name="直線接點 62"/>
          <p:cNvSpPr/>
          <p:nvPr/>
        </p:nvSpPr>
        <p:spPr>
          <a:xfrm>
            <a:off x="5010840" y="2733840"/>
            <a:ext cx="810720" cy="798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6" name="文字方塊 64"/>
          <p:cNvSpPr/>
          <p:nvPr/>
        </p:nvSpPr>
        <p:spPr>
          <a:xfrm>
            <a:off x="2900880" y="1889640"/>
            <a:ext cx="3072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172.16.25.3/24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c0504d"/>
                </a:solidFill>
                <a:latin typeface="Calibri"/>
                <a:ea typeface="標楷體"/>
              </a:rPr>
              <a:t>2a0b:4e07:c4:25::3/64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advTm="226000" p14:dur="2000"/>
    </mc:Choice>
    <mc:Fallback>
      <p:transition spd="slow" advTm="226000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矩形 93"/>
          <p:cNvSpPr/>
          <p:nvPr/>
        </p:nvSpPr>
        <p:spPr>
          <a:xfrm>
            <a:off x="7521480" y="3512160"/>
            <a:ext cx="3267360" cy="1440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8" name="矩形 92"/>
          <p:cNvSpPr/>
          <p:nvPr/>
        </p:nvSpPr>
        <p:spPr>
          <a:xfrm>
            <a:off x="1402560" y="3512160"/>
            <a:ext cx="3267360" cy="1440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9" name="矩形 90"/>
          <p:cNvSpPr/>
          <p:nvPr/>
        </p:nvSpPr>
        <p:spPr>
          <a:xfrm>
            <a:off x="4462200" y="1219320"/>
            <a:ext cx="3267360" cy="1440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Topology for 3 Students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grpSp>
        <p:nvGrpSpPr>
          <p:cNvPr id="971" name="群組 23"/>
          <p:cNvGrpSpPr/>
          <p:nvPr/>
        </p:nvGrpSpPr>
        <p:grpSpPr>
          <a:xfrm>
            <a:off x="4433400" y="2462040"/>
            <a:ext cx="3324960" cy="1933200"/>
            <a:chOff x="4433400" y="2462040"/>
            <a:chExt cx="3324960" cy="1933200"/>
          </a:xfrm>
        </p:grpSpPr>
        <p:pic>
          <p:nvPicPr>
            <p:cNvPr id="972" name="圖片 34" descr=""/>
            <p:cNvPicPr/>
            <p:nvPr/>
          </p:nvPicPr>
          <p:blipFill>
            <a:blip r:embed="rId1"/>
            <a:stretch/>
          </p:blipFill>
          <p:spPr>
            <a:xfrm>
              <a:off x="5859000" y="2462040"/>
              <a:ext cx="473760" cy="3232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973" name="群組 1072"/>
            <p:cNvGrpSpPr/>
            <p:nvPr/>
          </p:nvGrpSpPr>
          <p:grpSpPr>
            <a:xfrm>
              <a:off x="4670280" y="2785680"/>
              <a:ext cx="1425600" cy="1286280"/>
              <a:chOff x="4670280" y="2785680"/>
              <a:chExt cx="1425600" cy="1286280"/>
            </a:xfrm>
          </p:grpSpPr>
          <p:sp>
            <p:nvSpPr>
              <p:cNvPr id="974" name="直線接點 54"/>
              <p:cNvSpPr/>
              <p:nvPr/>
            </p:nvSpPr>
            <p:spPr>
              <a:xfrm flipV="1">
                <a:off x="4670280" y="2785680"/>
                <a:ext cx="1425600" cy="12862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5" name="矩形 74"/>
              <p:cNvSpPr/>
              <p:nvPr/>
            </p:nvSpPr>
            <p:spPr>
              <a:xfrm rot="19018200">
                <a:off x="5003280" y="3306240"/>
                <a:ext cx="758880" cy="24516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12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VXLAN</a:t>
                </a:r>
                <a:endParaRPr b="0" lang="en-US" sz="1200" spc="-1" strike="noStrike">
                  <a:latin typeface="Arial"/>
                </a:endParaRPr>
              </a:p>
            </p:txBody>
          </p:sp>
        </p:grpSp>
        <p:pic>
          <p:nvPicPr>
            <p:cNvPr id="976" name="圖片 47" descr=""/>
            <p:cNvPicPr/>
            <p:nvPr/>
          </p:nvPicPr>
          <p:blipFill>
            <a:blip r:embed="rId2"/>
            <a:stretch/>
          </p:blipFill>
          <p:spPr>
            <a:xfrm>
              <a:off x="4433400" y="4071960"/>
              <a:ext cx="473760" cy="323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77" name="圖片 72" descr=""/>
            <p:cNvPicPr/>
            <p:nvPr/>
          </p:nvPicPr>
          <p:blipFill>
            <a:blip r:embed="rId3"/>
            <a:stretch/>
          </p:blipFill>
          <p:spPr>
            <a:xfrm>
              <a:off x="7284600" y="4071960"/>
              <a:ext cx="473760" cy="3232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978" name="群組 78"/>
            <p:cNvGrpSpPr/>
            <p:nvPr/>
          </p:nvGrpSpPr>
          <p:grpSpPr>
            <a:xfrm>
              <a:off x="4907520" y="4107960"/>
              <a:ext cx="2376720" cy="251280"/>
              <a:chOff x="4907520" y="4107960"/>
              <a:chExt cx="2376720" cy="251280"/>
            </a:xfrm>
          </p:grpSpPr>
          <p:sp>
            <p:nvSpPr>
              <p:cNvPr id="979" name="直線接點 79"/>
              <p:cNvSpPr/>
              <p:nvPr/>
            </p:nvSpPr>
            <p:spPr>
              <a:xfrm>
                <a:off x="4907520" y="4233600"/>
                <a:ext cx="2376720" cy="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0" name="矩形 81"/>
              <p:cNvSpPr/>
              <p:nvPr/>
            </p:nvSpPr>
            <p:spPr>
              <a:xfrm rot="21573000">
                <a:off x="5686200" y="4110840"/>
                <a:ext cx="758880" cy="24516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12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VXLAN</a:t>
                </a:r>
                <a:endParaRPr b="0" lang="en-US" sz="1200" spc="-1" strike="noStrike">
                  <a:latin typeface="Arial"/>
                </a:endParaRPr>
              </a:p>
            </p:txBody>
          </p:sp>
        </p:grpSp>
        <p:grpSp>
          <p:nvGrpSpPr>
            <p:cNvPr id="981" name="群組 82"/>
            <p:cNvGrpSpPr/>
            <p:nvPr/>
          </p:nvGrpSpPr>
          <p:grpSpPr>
            <a:xfrm>
              <a:off x="6095880" y="2785680"/>
              <a:ext cx="1425600" cy="1286280"/>
              <a:chOff x="6095880" y="2785680"/>
              <a:chExt cx="1425600" cy="1286280"/>
            </a:xfrm>
          </p:grpSpPr>
          <p:sp>
            <p:nvSpPr>
              <p:cNvPr id="982" name="直線接點 85"/>
              <p:cNvSpPr/>
              <p:nvPr/>
            </p:nvSpPr>
            <p:spPr>
              <a:xfrm>
                <a:off x="6095880" y="2785680"/>
                <a:ext cx="1425600" cy="12862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3" name="矩形 86"/>
              <p:cNvSpPr/>
              <p:nvPr/>
            </p:nvSpPr>
            <p:spPr>
              <a:xfrm rot="2631600">
                <a:off x="6431760" y="3326760"/>
                <a:ext cx="758880" cy="24516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lang="en-US" sz="1200" spc="-1" strike="noStrike">
                    <a:solidFill>
                      <a:srgbClr val="1f497d"/>
                    </a:solidFill>
                    <a:latin typeface="Times New Roman"/>
                    <a:ea typeface="標楷體"/>
                  </a:rPr>
                  <a:t>VXLAN</a:t>
                </a:r>
                <a:endParaRPr b="0" lang="en-US" sz="1200" spc="-1" strike="noStrike">
                  <a:latin typeface="Arial"/>
                </a:endParaRPr>
              </a:p>
            </p:txBody>
          </p:sp>
        </p:grpSp>
      </p:grpSp>
      <p:sp>
        <p:nvSpPr>
          <p:cNvPr id="984" name="文字方塊 94"/>
          <p:cNvSpPr/>
          <p:nvPr/>
        </p:nvSpPr>
        <p:spPr>
          <a:xfrm>
            <a:off x="4318920" y="1234800"/>
            <a:ext cx="152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AS65xx0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5" name="文字方塊 95"/>
          <p:cNvSpPr/>
          <p:nvPr/>
        </p:nvSpPr>
        <p:spPr>
          <a:xfrm>
            <a:off x="1267200" y="3512160"/>
            <a:ext cx="152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AS65yy0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6" name="文字方塊 97"/>
          <p:cNvSpPr/>
          <p:nvPr/>
        </p:nvSpPr>
        <p:spPr>
          <a:xfrm>
            <a:off x="7471800" y="3512160"/>
            <a:ext cx="148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c0504d"/>
                </a:solidFill>
                <a:latin typeface="Calibri"/>
                <a:ea typeface="標楷體"/>
              </a:rPr>
              <a:t>AS65zz0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advTm="19000" p14:dur="2000"/>
    </mc:Choice>
    <mc:Fallback>
      <p:transition spd="slow" advTm="19000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88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12000" p14:dur="2000"/>
    </mc:Choice>
    <mc:Fallback>
      <p:transition spd="slow" advTm="12000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Helper Scripts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90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Hints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Remember to use your old project codes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ONOS might have bugs due to it has not been updated for 2 years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Use wireshark to make sure that the packet is exactly what you expected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Print debug is your best friend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Read the docs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use reactive forward to test your topologies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200000" p14:dur="2000"/>
    </mc:Choice>
    <mc:Fallback>
      <p:transition spd="slow" advTm="200000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TA</a:t>
            </a: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 Contacts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92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If you have any problem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Mail to me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Register demo time for help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Lab 6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Team Register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(should be done before 11/23, update at everyday noon)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880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1"/>
              </a:rPr>
              <a:t>https://docs.google.com/spreadsheets/d/18jBtdl7BgK_GIqJtgEI210icpPq_Et1tVk8eLnFe6Kk/edit?usp=sharing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Deadline: 11/26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145000" p14:dur="2000"/>
    </mc:Choice>
    <mc:Fallback>
      <p:transition spd="slow" advTm="145000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94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Supplements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96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A sample of frr config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can mount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./config/daemons to /etc/frr/daemons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./config/R1/frr.conf to /etc/frr/frr.conf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Docker images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For FRR-Routers use frrouting/frr-debian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2" marL="792000" indent="-2160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Or build from souce (More recommended 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1"/>
              </a:rPr>
              <a:t>frr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2"/>
              </a:rPr>
              <a:t>/docker at master · 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3"/>
              </a:rPr>
              <a:t>FRRouting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4"/>
              </a:rPr>
              <a:t>/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5"/>
              </a:rPr>
              <a:t>frr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For ONOS, the image is onosproject/onos:2.7-latest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For host containers, you can use nicolaka/netshoot:latest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  <p:pic>
        <p:nvPicPr>
          <p:cNvPr id="997" name="圖片 6" descr=""/>
          <p:cNvPicPr/>
          <p:nvPr/>
        </p:nvPicPr>
        <p:blipFill>
          <a:blip r:embed="rId6"/>
          <a:stretch/>
        </p:blipFill>
        <p:spPr>
          <a:xfrm>
            <a:off x="4627440" y="5268240"/>
            <a:ext cx="6934680" cy="98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145000" p14:dur="2000"/>
    </mc:Choice>
    <mc:Fallback>
      <p:transition spd="slow" advTm="145000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999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Deployment Requirements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01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DO NOT TRY TO ATTACK EITHER OTHER STUDENTS OR TA SERVERS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You are required to create a Makefile so that you are able to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Clear the entire project via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make clean 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command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Deploy the project via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make deploy</a:t>
            </a: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 command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0000"/>
                </a:solidFill>
                <a:latin typeface="Calibri"/>
                <a:ea typeface="標楷體"/>
              </a:rPr>
              <a:t>If not, you will be scored 0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113000" p14:dur="2000"/>
    </mc:Choice>
    <mc:Fallback>
      <p:transition spd="slow" advTm="113000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Scores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03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Intra-domain traffic (from both AS)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IPv4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(16 points)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IPv6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(4 points)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Inter-domain traffic (from both AS)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IPv4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(28 points)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IPv6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(12 points)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Transit traffic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IPv4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(28 points)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lvl="1" marL="504000" indent="-216000">
              <a:lnSpc>
                <a:spcPct val="100000"/>
              </a:lnSpc>
              <a:spcBef>
                <a:spcPts val="400"/>
              </a:spcBef>
              <a:buClr>
                <a:srgbClr val="0088ee"/>
              </a:buClr>
              <a:buFont typeface="Calibri"/>
              <a:buChar char="◦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IPv6 </a:t>
            </a:r>
            <a:r>
              <a:rPr b="1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(12 points)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61000" p14:dur="2000"/>
    </mc:Choice>
    <mc:Fallback>
      <p:transition spd="slow" advTm="61000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OUTLINE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05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Specification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ONOS App and Services in Use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Docker Introduction &amp; Usage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In Used App Configurations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Router Workflow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Lab Information and Installation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Supplement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b9cde5"/>
                </a:solidFill>
                <a:latin typeface="Calibri"/>
                <a:ea typeface="標楷體"/>
              </a:rPr>
              <a:t>Scoring Criteria 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297fc"/>
                </a:solidFill>
                <a:latin typeface="Calibri"/>
                <a:ea typeface="標楷體"/>
              </a:rPr>
              <a:t>Reference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2000" p14:dur="2000"/>
    </mc:Choice>
    <mc:Fallback>
      <p:transition spd="slow" advTm="2000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1127520" y="61200"/>
            <a:ext cx="10080720" cy="87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297fc"/>
                </a:solidFill>
                <a:latin typeface="Calibri"/>
                <a:ea typeface="標楷體"/>
              </a:rPr>
              <a:t>Reference</a:t>
            </a:r>
            <a:endParaRPr b="0" lang="en-US" sz="3600" spc="-1" strike="noStrike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07" name="PlaceHolder 2"/>
          <p:cNvSpPr>
            <a:spLocks noGrp="1"/>
          </p:cNvSpPr>
          <p:nvPr>
            <p:ph/>
          </p:nvPr>
        </p:nvSpPr>
        <p:spPr>
          <a:xfrm>
            <a:off x="700560" y="996840"/>
            <a:ext cx="10861560" cy="5451480"/>
          </a:xfrm>
          <a:prstGeom prst="rect">
            <a:avLst/>
          </a:prstGeom>
          <a:noFill/>
          <a:ln w="9360">
            <a:solidFill>
              <a:srgbClr val="9fe6ff"/>
            </a:solidFill>
            <a:miter/>
          </a:ln>
        </p:spPr>
        <p:txBody>
          <a:bodyPr numCol="1" spcCol="0" anchor="t">
            <a:noAutofit/>
          </a:bodyPr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pt-BR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1"/>
              </a:rPr>
              <a:t>ovs-vsctl(8) - Linux manual page</a:t>
            </a:r>
            <a:r>
              <a:rPr b="0" lang="pt-BR" sz="2400" spc="-1" strike="noStrike">
                <a:solidFill>
                  <a:srgbClr val="3297fc"/>
                </a:solidFill>
                <a:latin typeface="Calibri"/>
                <a:ea typeface="標楷體"/>
              </a:rPr>
              <a:t> (https://man7.org/linux/man-pages/man8/ovs-vsctl.8.html)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  <a:p>
            <a:pPr marL="268200" indent="-268200">
              <a:lnSpc>
                <a:spcPct val="100000"/>
              </a:lnSpc>
              <a:spcBef>
                <a:spcPts val="400"/>
              </a:spcBef>
              <a:buClr>
                <a:srgbClr val="3889f6"/>
              </a:buClr>
              <a:buSzPct val="80000"/>
              <a:buFont typeface="Wingdings" charset="2"/>
              <a:buChar char=""/>
            </a:pPr>
            <a:r>
              <a:rPr b="0" lang="fr-FR" sz="2400" spc="-1" strike="noStrike" u="sng">
                <a:solidFill>
                  <a:srgbClr val="0000ff"/>
                </a:solidFill>
                <a:uFillTx/>
                <a:latin typeface="Calibri"/>
                <a:ea typeface="標楷體"/>
                <a:hlinkClick r:id="rId2"/>
              </a:rPr>
              <a:t>ip(8) - Linux man page</a:t>
            </a:r>
            <a:r>
              <a:rPr b="0" lang="fr-FR" sz="2400" spc="-1" strike="noStrike">
                <a:solidFill>
                  <a:srgbClr val="3297fc"/>
                </a:solidFill>
                <a:latin typeface="Calibri"/>
                <a:ea typeface="標楷體"/>
              </a:rPr>
              <a:t> (https://linux.die.net/man/8/ip)</a:t>
            </a:r>
            <a:endParaRPr b="0" lang="en-US" sz="2400" spc="-1" strike="noStrike">
              <a:solidFill>
                <a:srgbClr val="3297fc"/>
              </a:solidFill>
              <a:latin typeface="Calibri"/>
            </a:endParaRPr>
          </a:p>
        </p:txBody>
      </p:sp>
    </p:spTree>
  </p:cSld>
  <mc:AlternateContent>
    <mc:Choice Requires="p14">
      <p:transition spd="slow" advTm="32000" p14:dur="2000"/>
    </mc:Choice>
    <mc:Fallback>
      <p:transition spd="slow" advTm="3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winlab</Template>
  <TotalTime>16919</TotalTime>
  <Application>LibreOffice/7.3.7.2$Linux_X86_64 LibreOffice_project/30$Build-2</Application>
  <AppVersion>15.0000</AppVersion>
  <Words>4583</Words>
  <Paragraphs>1036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2024-10-03T23:03:17Z</dcterms:created>
  <dc:creator>蔣汶儒</dc:creator>
  <dc:description/>
  <dc:language>en-US</dc:language>
  <cp:lastModifiedBy/>
  <dcterms:modified xsi:type="dcterms:W3CDTF">2025-11-24T22:28:56Z</dcterms:modified>
  <cp:revision>275</cp:revision>
  <dc:subject/>
  <dc:title>AX.25 Over Ethernet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25</vt:i4>
  </property>
  <property fmtid="{D5CDD505-2E9C-101B-9397-08002B2CF9AE}" pid="3" name="PresentationFormat">
    <vt:lpwstr>寬螢幕</vt:lpwstr>
  </property>
  <property fmtid="{D5CDD505-2E9C-101B-9397-08002B2CF9AE}" pid="4" name="Slides">
    <vt:i4>74</vt:i4>
  </property>
</Properties>
</file>